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73d6fa5a6141df" /><Relationship Type="http://schemas.openxmlformats.org/officeDocument/2006/relationships/extended-properties" Target="/docProps/app.xml" Id="R219f67dc4d65451e" /><Relationship Type="http://schemas.openxmlformats.org/officeDocument/2006/relationships/officeDocument" Target="/ppt/presentation.xml" Id="R7aa6a1c9c7f446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c63dd9287441ae"/>
  </p:sldMasterIdLst>
  <p:notesMasterIdLst>
    <p:notesMasterId xmlns:r="http://schemas.openxmlformats.org/officeDocument/2006/relationships" r:id="R1607bccd78784c98"/>
  </p:notesMasterIdLst>
  <p:sldIdLst>
    <p:sldId xmlns:r="http://schemas.openxmlformats.org/officeDocument/2006/relationships" id="256" r:id="R412513c13571416c"/>
    <p:sldId xmlns:r="http://schemas.openxmlformats.org/officeDocument/2006/relationships" id="257" r:id="R450ec9560d2b40cb"/>
    <p:sldId xmlns:r="http://schemas.openxmlformats.org/officeDocument/2006/relationships" id="258" r:id="R7a9c2a60c44644c0"/>
    <p:sldId xmlns:r="http://schemas.openxmlformats.org/officeDocument/2006/relationships" id="259" r:id="R96549a79dd6f4f18"/>
    <p:sldId xmlns:r="http://schemas.openxmlformats.org/officeDocument/2006/relationships" id="260" r:id="Rc943e7a24f914d29"/>
    <p:sldId xmlns:r="http://schemas.openxmlformats.org/officeDocument/2006/relationships" id="261" r:id="Rd49d23df9f8e47f5"/>
    <p:sldId xmlns:r="http://schemas.openxmlformats.org/officeDocument/2006/relationships" id="262" r:id="Rd6d84a18306240b5"/>
    <p:sldId xmlns:r="http://schemas.openxmlformats.org/officeDocument/2006/relationships" id="263" r:id="Rde2a374d0c564dd7"/>
    <p:sldId xmlns:r="http://schemas.openxmlformats.org/officeDocument/2006/relationships" id="264" r:id="R5e7dedffca724750"/>
    <p:sldId xmlns:r="http://schemas.openxmlformats.org/officeDocument/2006/relationships" id="265" r:id="Rce38d8473cda477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c9c9d8a7eb43d7" /><Relationship Type="http://schemas.openxmlformats.org/officeDocument/2006/relationships/slideMaster" Target="/ppt/slideMasters/slideMaster1.xml" Id="Rabc63dd9287441ae" /><Relationship Type="http://schemas.openxmlformats.org/officeDocument/2006/relationships/notesMaster" Target="/ppt/notesMasters/notesMaster1.xml" Id="R1607bccd78784c98" /><Relationship Type="http://schemas.openxmlformats.org/officeDocument/2006/relationships/presProps" Target="/ppt/presProps.xml" Id="Re6f83444082b4b32" /><Relationship Type="http://schemas.openxmlformats.org/officeDocument/2006/relationships/tableStyles" Target="/ppt/tableStyles.xml" Id="R542b62b4c4674b3a" /><Relationship Type="http://schemas.openxmlformats.org/officeDocument/2006/relationships/slide" Target="/ppt/slides/slide1.xml" Id="R412513c13571416c" /><Relationship Type="http://schemas.openxmlformats.org/officeDocument/2006/relationships/slide" Target="/ppt/slides/slide2.xml" Id="R450ec9560d2b40cb" /><Relationship Type="http://schemas.openxmlformats.org/officeDocument/2006/relationships/slide" Target="/ppt/slides/slide3.xml" Id="R7a9c2a60c44644c0" /><Relationship Type="http://schemas.openxmlformats.org/officeDocument/2006/relationships/slide" Target="/ppt/slides/slide4.xml" Id="R96549a79dd6f4f18" /><Relationship Type="http://schemas.openxmlformats.org/officeDocument/2006/relationships/slide" Target="/ppt/slides/slide5.xml" Id="Rc943e7a24f914d29" /><Relationship Type="http://schemas.openxmlformats.org/officeDocument/2006/relationships/slide" Target="/ppt/slides/slide6.xml" Id="Rd49d23df9f8e47f5" /><Relationship Type="http://schemas.openxmlformats.org/officeDocument/2006/relationships/slide" Target="/ppt/slides/slide7.xml" Id="Rd6d84a18306240b5" /><Relationship Type="http://schemas.openxmlformats.org/officeDocument/2006/relationships/slide" Target="/ppt/slides/slide8.xml" Id="Rde2a374d0c564dd7" /><Relationship Type="http://schemas.openxmlformats.org/officeDocument/2006/relationships/slide" Target="/ppt/slides/slide9.xml" Id="R5e7dedffca724750" /><Relationship Type="http://schemas.openxmlformats.org/officeDocument/2006/relationships/slide" Target="/ppt/slides/slide10.xml" Id="Rce38d8473cda47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4bb8c02af449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3f9c7825804a3a" /><Relationship Type="http://schemas.openxmlformats.org/officeDocument/2006/relationships/notesMaster" Target="/ppt/notesMasters/notesMaster1.xml" Id="R7ac58d2016ca4a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f1002f8138472c" /><Relationship Type="http://schemas.openxmlformats.org/officeDocument/2006/relationships/notesMaster" Target="/ppt/notesMasters/notesMaster1.xml" Id="R96f6d341bf4941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1c1ce4c5c74254" /><Relationship Type="http://schemas.openxmlformats.org/officeDocument/2006/relationships/notesMaster" Target="/ppt/notesMasters/notesMaster1.xml" Id="R92a87cc6b8cb45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cf38a44ece41ac" /><Relationship Type="http://schemas.openxmlformats.org/officeDocument/2006/relationships/notesMaster" Target="/ppt/notesMasters/notesMaster1.xml" Id="Rc03de3bda70b4a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c932103f5845b2" /><Relationship Type="http://schemas.openxmlformats.org/officeDocument/2006/relationships/notesMaster" Target="/ppt/notesMasters/notesMaster1.xml" Id="Rebbb91bc82e14f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a1ebb74aef415f" /><Relationship Type="http://schemas.openxmlformats.org/officeDocument/2006/relationships/notesMaster" Target="/ppt/notesMasters/notesMaster1.xml" Id="R3c559a0dbb7047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e5cef2dbe64ef1" /><Relationship Type="http://schemas.openxmlformats.org/officeDocument/2006/relationships/notesMaster" Target="/ppt/notesMasters/notesMaster1.xml" Id="Ree0f1b42136f4f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b266ecb0b34c68" /><Relationship Type="http://schemas.openxmlformats.org/officeDocument/2006/relationships/notesMaster" Target="/ppt/notesMasters/notesMaster1.xml" Id="Rfd8ba431a6864d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97a12e497e4552" /><Relationship Type="http://schemas.openxmlformats.org/officeDocument/2006/relationships/notesMaster" Target="/ppt/notesMasters/notesMaster1.xml" Id="Rf56e3fca287346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f9222e9d604864" /><Relationship Type="http://schemas.openxmlformats.org/officeDocument/2006/relationships/notesMaster" Target="/ppt/notesMasters/notesMaster1.xml" Id="R8da8f61a7a7041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设动机来自项目设计文档。静态存储期并不限制调用函数的执行上下文。这里的主循环/中断为常见裸机场景示意，不代表整个工具仅识别这两类入口。工具恢复调用关系、指针别名和上下文，输出变量台账、证据、候选与缺口；工程师仍需核查业务协议及必要的目标板行为。没有工时节省比例或准确率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codex_global_static_concurrency_design.md §22 与结语</a:t>
            </a:r>
          </a:p>
          <a:p xmlns:a="http://schemas.openxmlformats.org/drawingml/2006/main">
            <a:r>
              <a:t>stm32_baremetal_concurrency_tool_design_final.md §1 建设目标</a:t>
            </a:r>
          </a:p>
          <a:p xmlns:a="http://schemas.openxmlformats.org/drawingml/2006/main">
            <a:r>
              <a:t>docs/variable-investigation-guide.md §1、§2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用户配置提供当前工程、真实编译条件、变量归属和需要补充的入口/API 语义。cli.run 调用 compilation.prepare、独立 extract、analysis.analyze，跨文件指针与存储归一、执行上下文、保护和初始化等形成逐变量静态证据。report.generate 和 workflow.save_scan 在模型前保存事实、双报告底稿、input_manifest、scan_state 和 PENDING 队列。review.enabled:false 或 --no-review 跳过模型，静态事实与候选保留。开启复核时，review_all 选目标、生成 Packet、装配 Prompt 与案例导航、调用只读 OpenCode，解析/校验答复，逐项存档后汇总。工程背景和案例是待源码核实的资料，静态分类与模型判断独立保存。构建/关键求解失败会停止本轮；普通相关缺口保留；扫描输入变化拒绝复用。单元回归、CDC 基准和有限交错回放是独立验证支撑，不随客户 run 自动执行。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ecra/cli.py run</a:t>
            </a:r>
          </a:p>
          <a:p xmlns:a="http://schemas.openxmlformats.org/drawingml/2006/main">
            <a:r>
              <a:t>ecra/compilation.py prepare</a:t>
            </a:r>
          </a:p>
          <a:p xmlns:a="http://schemas.openxmlformats.org/drawingml/2006/main">
            <a:r>
              <a:t>ecra/extract.py</a:t>
            </a:r>
          </a:p>
          <a:p xmlns:a="http://schemas.openxmlformats.org/drawingml/2006/main">
            <a:r>
              <a:t>ecra/analysis.py analyze</a:t>
            </a:r>
          </a:p>
          <a:p xmlns:a="http://schemas.openxmlformats.org/drawingml/2006/main">
            <a:r>
              <a:t>ecra/evidence.py classify</a:t>
            </a:r>
          </a:p>
          <a:p xmlns:a="http://schemas.openxmlformats.org/drawingml/2006/main">
            <a:r>
              <a:t>ecra/workflow.py save_scan、saved_run</a:t>
            </a:r>
          </a:p>
          <a:p xmlns:a="http://schemas.openxmlformats.org/drawingml/2006/main">
            <a:r>
              <a:t>ecra/review.py review_all</a:t>
            </a:r>
          </a:p>
          <a:p xmlns:a="http://schemas.openxmlformats.org/drawingml/2006/main">
            <a:r>
              <a:t>ecra/report.py generate</a:t>
            </a:r>
          </a:p>
          <a:p xmlns:a="http://schemas.openxmlformats.org/drawingml/2006/main">
            <a:r>
              <a:t>scripts/validate_stm32_cdc.py</a:t>
            </a:r>
          </a:p>
          <a:p xmlns:a="http://schemas.openxmlformats.org/drawingml/2006/main">
            <a:r>
              <a:t>scripts/replay_stm32_interleavings.py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review_targets 返回 report.findings 及显式 review_safe_samples。常规静态分流依据当前四类实现，两个免常规复核类别仍保留在全量台账，显式抽样不改变其原分类。独立覆盖缺口和变量候选均有 finding_id，queue 由完整当前目标集生成并检查缺失/重复/多余 ID。build_variable_review_packet 保存 access_count、call_path_set_count、variable、finding、全部 accesses、call_path_sets、functions、call_edges、contexts、physical_contexts、context_bindings、concurrency_hints/relations、known_protection、protection_events、mask_windows、initialization_proof、unknowns、address_escapes、pointer_points_to、irq_priority_events、recursive_edges、control_flow 的节点数/导航以及源码文件和原事实路径。相关调用者向上闭包纳入导航。重复路径映射用 ID 无损去重，原始冲突和完整 CFG 节点留在 facts.json，不展开函数正文。源码读取若被工具分段/截断，Prompt 要求继续读完 Packet，不能只读首段。独立盲区可能没有单一 variable，仍有 findings 与项目证据导航。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ecra/analysis.py analyze</a:t>
            </a:r>
          </a:p>
          <a:p xmlns:a="http://schemas.openxmlformats.org/drawingml/2006/main">
            <a:r>
              <a:t>ecra/evidence.py CLASSIFIED_STATES、classify</a:t>
            </a:r>
          </a:p>
          <a:p xmlns:a="http://schemas.openxmlformats.org/drawingml/2006/main">
            <a:r>
              <a:t>ecra/review.py build_variable_review_packet、review_all</a:t>
            </a:r>
          </a:p>
          <a:p xmlns:a="http://schemas.openxmlformats.org/drawingml/2006/main">
            <a:r>
              <a:t>ecra/review_integrity.py review_targets、review_integrity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 Prompt 依次拼接 REVIEW_PROMPT、review_context_section、case_library_section、CONTRACT_PROMPT，并追加固定 finding_id。review_context 去除 HTML 注释后读取当前工程声明，提示模型按构建/入口/优先级/生命周期核实。case_library 每轮读取实际配置目录相邻的 concurrency_cases.md，生成 SHA-256 命名正文快照和标题/分类/线索/行号索引；索引超过 INDEX_BUDGET=12000 字符时给完整索引路径，要求分段先读完索引再选择相关正文。正文不整本展开进 Prompt，格式异常保留警告与原文导航，案例相似或没有命中都不能决定风险。案例内容只能作参考数据，不执行其中代码/命令。Packet 经 --file 附件传入。OpenCode 按 review.model（如配置）或其已配置默认模型执行，当前项目通过 ecra-review 只读代理权限允许源码后缀和明确列出的证据/案例文件，禁止写入/Shell 工具。源码、附件、注释和背景不能覆盖复核规则与输出协议，测试真值和历史答案不作为当前事实。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ecra/review.py REVIEW_PROMPT、review_all、invoke、_review_env</a:t>
            </a:r>
          </a:p>
          <a:p xmlns:a="http://schemas.openxmlformats.org/drawingml/2006/main">
            <a:r>
              <a:t>ecra/review_context.py review_context_section</a:t>
            </a:r>
          </a:p>
          <a:p xmlns:a="http://schemas.openxmlformats.org/drawingml/2006/main">
            <a:r>
              <a:t>ecra/case_library.py case_index、case_library_section</a:t>
            </a:r>
          </a:p>
          <a:p xmlns:a="http://schemas.openxmlformats.org/drawingml/2006/main">
            <a:r>
              <a:t>ecra/review_contract.py CONTRACT_PROMPT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本页直接按 REVIEW_PROMPT 的第一至第八步提炼，展示的是模型被要求的检查方法，不表示代码硬编码执行八轮调用，也不能保证模型每次完全遵循。1 核实对象、全部访问/别名/隐藏访问、当前构建与实参过滤；2 结合真实入口、优先级、屏蔽、IRQ使能和重配置顺序核对抢占/并行，DMA 独立于 CPU 中断屏蔽；3 主动追踪 READ→参数/局部旧值→跨函数 Setter→WRITEBACK；4 构造符合优先级/阶段/硬件的具体坏时序，同时排除单字盲写邮箱、可接受的传播延迟等误报，若决定性坏结果依赖非volatile重载而无生成代码证据须保留未知；5 核对关联变量、状态/数据/长度/所有权、生命周期、屏障与Cache适用条件，不能虚构业务不变式；6 检查完整 READ→传播→WRITEBACK 窗口、嵌套/提前退出/原屏蔽恢复、所有写者/硬件参与者；7 从相关案例机制和排除条件启发，检查库外模式；8 主动寻找同IRQ串行、完整临界区、不同实例、参数过滤、不可达等反证，安全对照按证据放行，静态提示和案例都不能直接决定结论。最终输出一个现有 Schema JSON，verification 仅是未执行的验证建议。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ecra/review.py REVIEW_PROMPT</a:t>
            </a:r>
          </a:p>
          <a:p xmlns:a="http://schemas.openxmlformats.org/drawingml/2006/main">
            <a:r>
              <a:t>ecra/review_contract.py CONTRACT_PROMPT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 ECRA 调度、校验和归档是同一 Python 工具内的逻辑职责，不是三个外部服务。process 生成时间戳 Packet/Prompt 并创建调用审计记录。invoke 的 argv 是 command + run --agent ecra-review --format json，ANALYZE 加 --file Packet，配置 review.model 时加 --model，cwd 为固件根目录。Prompt 超过12000字符时完整经 stdin 传入，命令行仅带短导航消息，避免 Windows 长度限制造成内容丢失。OpenCode 的 JSONL 包含工具/步骤/文本等事件，review_answer_text 识别提供商 error 事件并提取答案文本，parse_answer 解析最终 JSON，不能把提供商失败当格式修复或 NEED_MORE_CONTEXT。_review_env 以 deny 为默认，仅开放工程源码后缀与列出的 Packet/事实/静态报告/项目证据及案例文件 read，关闭写入、Shell 和分享；FORMAT_FIX 进一步禁用所有源码工具。主图略去第7页的条件重试回路。每项结果保存后更新 queue，回调可输出报告检查点，最终核对目标/队列/收据与归档完整性。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ecra/review.py invoke、_review_env、review_answer_text、parse_answer、completed</a:t>
            </a:r>
          </a:p>
          <a:p xmlns:a="http://schemas.openxmlformats.org/drawingml/2006/main">
            <a:r>
              <a:t>ecra/cli.py checkpoint</a:t>
            </a:r>
          </a:p>
          <a:p xmlns:a="http://schemas.openxmlformats.org/drawingml/2006/main">
            <a:r>
              <a:t>ecra/review_integrity.py assert_review_integrity、assert_review_archive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parse_answer 先解析答复，validate_minimal_answer 核对 finding_id 原样、五种 status 枚举、非空 reason、evidence 列表与工程内有效文件/行号。CONFIRMED/REVIEWED_SAFE/FALSE_POSITIVE 至少有一处有效引用，LIKELY/NEED_MORE_CONTEXT 至少列一个具体 missing_context；新答复引用 quote 不是必填。源码收据保存哈希，引用检查不自动证明其推理成立。三种独立处理：1 ANALYZE 调用按 settings.retries+1 有界尝试，可重试的 OS/调用/超时错误与提供商故障遵循代码异常分支，配置无效会直接失败；不能把执行错误送格式修复。2 ValueError 格式/契约失败触发 FORMAT_FIX，最多2次，仅给原答复、错误与输出协议，_review_env(format_only=True) 禁用读取源码与任何工具，不附 Packet，禁止补造分析；仍无效归 TECH_FAILED。3 Packet 有 READ_THEN_WRITEBACK 且安全/误报答复缺 applicable=true、blocked=true、理由和有效引用，或只用对齐/原子/单store等代替窗口阻断解释时，触发一次 STALE_WRITEBACK_CHALLENGE，聚焦已读旧值到写回窗口与竞争写者，允许源码核查；再次失败归 TECH_FAILED。该挑战是语义补核查，独立于格式修复计数，三种机制不能混为同一次无限重跑。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ecra/review.py process、invoke、format_fix_prompt、stale_writeback_challenge_prompt</a:t>
            </a:r>
          </a:p>
          <a:p xmlns:a="http://schemas.openxmlformats.org/drawingml/2006/main">
            <a:r>
              <a:t>ecra/review_contract.py validate_minimal_answer、validate_source_evidence、validate_stale_writeback_safety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review_integrity 对当前 review_targets 和 queue 检查 missing/extra/duplicate IDs、静态分类一致性及状态/答复一致性。PENDING 没有有效当前语义答复，关闭AI默认保留该状态；DONE 包含合法 status 与 answer；TECH_FAILED 包含错误且不携带有效当前语义答复。LIKELY 与 NEED_MORE_CONTEXT 虽为 DONE，整体仍作为语义未解决项。每个 process 创建不可覆盖的时间戳输入/调用记录，保留 Prompt、Packet、stdout JSONL、stderr、模型、时间、命令、输入方式、哈希、source_evidence 与 receipt；每项完成更新 queue，最终校验归档。run 开启复核时，只有旧 DONE 的 cache_key（扫描fingerprint、Packet、完整Prompt、command/model、review.py和review_contract.py实现摘要）相同且 verify_receipt 对当前源码/归档验证通过，才复用旧答复。背景改变、案例正文SHA改变、规则/模型改变都会影响键。review 强制重评当前静态SUSPECT/UNKNOWN，review-failed只重试TECH_FAILED。workers 范围1..8，max_items 是 batch_size 而不是目标总上限，所有 selected 目标按批循环执行；队列保存完整目标集而非只当前批。源码/静态输入变化需先通过新 run 形成有效扫描，不能用缓存跳过输入一致性校验。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ecra/review.py review_all、process、completed、verify_receipt</a:t>
            </a:r>
          </a:p>
          <a:p xmlns:a="http://schemas.openxmlformats.org/drawingml/2006/main">
            <a:r>
              <a:t>ecra/review_integrity.py</a:t>
            </a:r>
          </a:p>
          <a:p xmlns:a="http://schemas.openxmlformats.org/drawingml/2006/main">
            <a:r>
              <a:t>ecra/workflow.py checked_scan、saved_run</a:t>
            </a:r>
          </a:p>
          <a:p xmlns:a="http://schemas.openxmlformats.org/drawingml/2006/main">
            <a:r>
              <a:t>ecra/case_library.py case_library_section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沿用当前目录已有的 ECRA-Portable_培训配套.zip 作为 Windows 便携包。解压后让 ecra.cmd、config、runtime、tools 同级放在 D:/ECRA，固件另放 D:/firmware/MyBoard，两个路径均为教学示例。左侧是修改原配置相应字段的可解析 YAML 摘录，不是覆盖完整配置，不应新增重复 project/analysis/review 节。include_dirs 要加入全部自有业务代码，原 exclude_dirs/exclude_files 也按所有权核对。build/ecra 是专用构建目录，generator、build_type、toolchain_file、额外 args 必须保持真实固件构建选项；工程已经加载正确工具链时可删 toolchain_file。clean_before_configure:false 保留专用缓存以便增量运行。doctor 仅作环境与编译库准备诊断，不执行变量扫描或构建固件。--no-review 关闭本次模型复核，仍保存静态候选。报告在固件 .ecra 下。后续可自动打开或通过文件管理器打开 index.html。CMake 失败查看 .ecra/cmake-configure.log、cmake-build.log，覆盖失败按报告中的诊断处理。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config/semantics.yaml</a:t>
            </a:r>
          </a:p>
          <a:p xmlns:a="http://schemas.openxmlformats.org/drawingml/2006/main">
            <a:r>
              <a:t>ecra/cli.py run doctor_only 分支</a:t>
            </a:r>
          </a:p>
          <a:p xmlns:a="http://schemas.openxmlformats.org/drawingml/2006/main">
            <a:r>
              <a:t>ecra/compilation.py prepare</a:t>
            </a:r>
          </a:p>
          <a:p xmlns:a="http://schemas.openxmlformats.org/drawingml/2006/main">
            <a:r>
              <a:t>docs/one-command-tutorial.md</a:t>
            </a:r>
          </a:p>
          <a:p xmlns:a="http://schemas.openxmlformats.org/drawingml/2006/main">
            <a:r>
              <a:t>build_portable.ps1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沿用第9页示例工具目录 D:/ECRA 与固件 D:/firmware/MyBoard。维护实际 semantics.yaml 相邻的 review_context.md 与 concurrency_cases.md，切换工程同步更新；背景是待核声明，案例按模板追加，无需改程序或手工重建索引，每次 review 重读。review 子命令显式强制启用模型，因此在第9页 review.enabled:false 的首次静态扫描后也可直接执行；若普通 run 希望自动继续模型复核，再把现有 review.enabled 改 true。不要新增重复 review 节，command/model 继续使用当前已验证配置。OpenCode/模型账户不包含在便携包内，此页前提是已配置可用。固件 .ecra/opencode_review.html 保存语义判断、缺失事实与原始归档，index.html 保留全部变量和静态证据。review 重新复核当前全部静态SUSPECT/UNKNOWN，包括以前DONE；review-failed仅选TECH_FAILED，不重评已有NEED_MORE_CONTEXT；report只重建报告不调用模型。所有续跑先 checked_scan 校验静态输入有效，源码/头文件/编译库/分析配置或静态实现变化需先重扫。修复后重扫/复核与针对性业务或交错测试相结合，verification 字段是验证建议，不表示工具自动跑过目标板。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ecra/cli.py main</a:t>
            </a:r>
          </a:p>
          <a:p xmlns:a="http://schemas.openxmlformats.org/drawingml/2006/main">
            <a:r>
              <a:t>ecra/workflow.py checked_scan、saved_run</a:t>
            </a:r>
          </a:p>
          <a:p xmlns:a="http://schemas.openxmlformats.org/drawingml/2006/main">
            <a:r>
              <a:t>ecra/review.py review_all</a:t>
            </a:r>
          </a:p>
          <a:p xmlns:a="http://schemas.openxmlformats.org/drawingml/2006/main">
            <a:r>
              <a:t>ecra/review_context.py</a:t>
            </a:r>
          </a:p>
          <a:p xmlns:a="http://schemas.openxmlformats.org/drawingml/2006/main">
            <a:r>
              <a:t>ecra/case_library.py</a:t>
            </a:r>
          </a:p>
          <a:p xmlns:a="http://schemas.openxmlformats.org/drawingml/2006/main">
            <a:r>
              <a:t>docs/one-command-tutorial.md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ecaaf9b3b44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122c8cc0294eda" /><Relationship Type="http://schemas.openxmlformats.org/officeDocument/2006/relationships/slideLayout" Target="/ppt/slideLayouts/slideLayout1.xml" Id="R3d73fccaec9e4c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73fccaec9e4c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1728e1a6b49af" /><Relationship Type="http://schemas.openxmlformats.org/officeDocument/2006/relationships/notesSlide" Target="/ppt/notesSlides/notesSlide1.xml" Id="Raaf63de516594b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73482340e42ad" /><Relationship Type="http://schemas.openxmlformats.org/officeDocument/2006/relationships/notesSlide" Target="/ppt/notesSlides/notesSlide2.xml" Id="R77ca5d946a184d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4e1cf13dc4c5c" /><Relationship Type="http://schemas.openxmlformats.org/officeDocument/2006/relationships/notesSlide" Target="/ppt/notesSlides/notesSlide3.xml" Id="Rc572e2a8236d4b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1f054840f4217" /><Relationship Type="http://schemas.openxmlformats.org/officeDocument/2006/relationships/notesSlide" Target="/ppt/notesSlides/notesSlide4.xml" Id="R5b1c0e78730340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7cbc2425e40ed" /><Relationship Type="http://schemas.openxmlformats.org/officeDocument/2006/relationships/notesSlide" Target="/ppt/notesSlides/notesSlide5.xml" Id="R4fe18478f4334c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736418646417a" /><Relationship Type="http://schemas.openxmlformats.org/officeDocument/2006/relationships/notesSlide" Target="/ppt/notesSlides/notesSlide6.xml" Id="R293b65554ee04a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b3933781c413d" /><Relationship Type="http://schemas.openxmlformats.org/officeDocument/2006/relationships/notesSlide" Target="/ppt/notesSlides/notesSlide7.xml" Id="R096323e6b6f540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a342a95d24cbc" /><Relationship Type="http://schemas.openxmlformats.org/officeDocument/2006/relationships/notesSlide" Target="/ppt/notesSlides/notesSlide8.xml" Id="Ref39539abb8045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aec85155448af" /><Relationship Type="http://schemas.openxmlformats.org/officeDocument/2006/relationships/notesSlide" Target="/ppt/notesSlides/notesSlide9.xml" Id="R84eedc69301e4f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9a3a8a8714c2b" /><Relationship Type="http://schemas.openxmlformats.org/officeDocument/2006/relationships/notesSlide" Target="/ppt/notesSlides/notesSlide10.xml" Id="R6fe02adbccc44b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D661BC31-8CC7-42DA-937A-D0AAEFB1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E2E13A-AAA2-4C6D-8701-A483A667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为什么需要 ECRA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77B5C66-1188-47D8-B33D-3EEDED27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面向 STM32 工程的全局 / static 变量并发排查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F5BB6C-4300-45D3-8F9E-6BF8870E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motivation">
            <a:extLst xmlns:a="http://schemas.openxmlformats.org/drawingml/2006/main">
              <a:ext uri="{FF2B5EF4-FFF2-40B4-BE49-F238E27FC236}">
                <a16:creationId xmlns:a16="http://schemas.microsoft.com/office/drawing/2014/main" id="{6AF4CF14-46FC-4453-8969-99DDC4F0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13668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变量分散在文件中，实际读写者隐藏在调用链里</a:t>
            </a:r>
          </a:p>
        </p:txBody>
      </p:sp>
      <p:sp>
        <p:nvSpPr>
          <p:cNvPr id="6" name="foreground">
            <a:extLst xmlns:a="http://schemas.openxmlformats.org/drawingml/2006/main">
              <a:ext uri="{FF2B5EF4-FFF2-40B4-BE49-F238E27FC236}">
                <a16:creationId xmlns:a16="http://schemas.microsoft.com/office/drawing/2014/main" id="{6CAA56FD-BDDA-472D-BA92-87C57052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主循环</a:t>
            </a:r>
          </a:p>
        </p:txBody>
      </p:sp>
      <p:sp>
        <p:nvSpPr>
          <p:cNvPr id="7" name="irq-callback">
            <a:extLst xmlns:a="http://schemas.openxmlformats.org/drawingml/2006/main">
              <a:ext uri="{FF2B5EF4-FFF2-40B4-BE49-F238E27FC236}">
                <a16:creationId xmlns:a16="http://schemas.microsoft.com/office/drawing/2014/main" id="{A6677968-32DE-4018-BB3C-CAAC9625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中断 / 回调</a:t>
            </a:r>
          </a:p>
        </p:txBody>
      </p:sp>
      <p:sp>
        <p:nvSpPr>
          <p:cNvPr id="8" name="shared-object">
            <a:extLst xmlns:a="http://schemas.openxmlformats.org/drawingml/2006/main">
              <a:ext uri="{FF2B5EF4-FFF2-40B4-BE49-F238E27FC236}">
                <a16:creationId xmlns:a16="http://schemas.microsoft.com/office/drawing/2014/main" id="{AD346B5E-D59D-460B-9F2B-8E104F1E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24350"/>
            <a:ext cx="371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同一全局 / static 变量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29000" y="3981450"/>
            <a:ext cx="1857375" cy="838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429000" y="4819650"/>
            <a:ext cx="1857375" cy="838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B6483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manual-work">
            <a:extLst xmlns:a="http://schemas.openxmlformats.org/drawingml/2006/main">
              <a:ext uri="{FF2B5EF4-FFF2-40B4-BE49-F238E27FC236}">
                <a16:creationId xmlns:a16="http://schemas.microsoft.com/office/drawing/2014/main" id="{F5753F40-F37A-43BE-845D-EB84813E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2481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人工排查需要追踪全部路径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源码变化后还要重新核对</a:t>
            </a:r>
          </a:p>
        </p:txBody>
      </p:sp>
      <p:sp>
        <p:nvSpPr>
          <p:cNvPr id="12" name="risk-examples">
            <a:extLst xmlns:a="http://schemas.openxmlformats.org/drawingml/2006/main">
              <a:ext uri="{FF2B5EF4-FFF2-40B4-BE49-F238E27FC236}">
                <a16:creationId xmlns:a16="http://schemas.microsoft.com/office/drawing/2014/main" id="{7204BD1A-0CF0-498B-9310-7FDF2BB7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77025"/>
            <a:ext cx="13696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可能出现：丢事件、旧值覆盖、DMA 缓冲区复用冲突</a:t>
            </a:r>
          </a:p>
        </p:txBody>
      </p:sp>
      <p:sp>
        <p:nvSpPr>
          <p:cNvPr id="13" name="purpose">
            <a:extLst xmlns:a="http://schemas.openxmlformats.org/drawingml/2006/main">
              <a:ext uri="{FF2B5EF4-FFF2-40B4-BE49-F238E27FC236}">
                <a16:creationId xmlns:a16="http://schemas.microsoft.com/office/drawing/2014/main" id="{B1A8CBA8-C177-40AF-845F-80494840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86650"/>
            <a:ext cx="13696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自动生成逐变量证据与候选队列，工程师据此核查时序、验证修复</a:t>
            </a:r>
          </a:p>
        </p:txBody>
      </p:sp>
    </p:spTree>
    <p:extLst>
      <p:ext uri="{BB962C8B-B14F-4D97-AF65-F5344CB8AC3E}">
        <p14:creationId xmlns:p14="http://schemas.microsoft.com/office/powerpoint/2010/main" val="152148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89F12453-7BEC-4BE8-B2D6-53C89141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62B6CF-1CD9-47CC-AB9C-CD57FAF2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整体架构与执行流程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3C814CC-FC77-4050-A161-1F72E8DC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静态分析先保存事实和候选，OpenCode 按需回到当前源码核查，再汇总双报告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D9F3BB-2217-4717-984D-861CB359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firmware-input">
            <a:extLst xmlns:a="http://schemas.openxmlformats.org/drawingml/2006/main">
              <a:ext uri="{FF2B5EF4-FFF2-40B4-BE49-F238E27FC236}">
                <a16:creationId xmlns:a16="http://schemas.microsoft.com/office/drawing/2014/main" id="{71143B57-C848-4D46-84BE-479BCFD0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6667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固件工程</a:t>
            </a:r>
          </a:p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源码、头文件、真实构建配置</a:t>
            </a:r>
          </a:p>
        </p:txBody>
      </p:sp>
      <p:sp>
        <p:nvSpPr>
          <p:cNvPr id="6" name="semantic-input">
            <a:extLst xmlns:a="http://schemas.openxmlformats.org/drawingml/2006/main">
              <a:ext uri="{FF2B5EF4-FFF2-40B4-BE49-F238E27FC236}">
                <a16:creationId xmlns:a16="http://schemas.microsoft.com/office/drawing/2014/main" id="{ABDC1A0F-8B39-4C58-BCA7-6C6D9912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6191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semantics.yaml</a:t>
            </a:r>
          </a:p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构建、排查范围、执行入口与 API 语义</a:t>
            </a:r>
          </a:p>
        </p:txBody>
      </p:sp>
      <p:sp>
        <p:nvSpPr>
          <p:cNvPr id="7" name="static-engine">
            <a:extLst xmlns:a="http://schemas.openxmlformats.org/drawingml/2006/main">
              <a:ext uri="{FF2B5EF4-FFF2-40B4-BE49-F238E27FC236}">
                <a16:creationId xmlns:a16="http://schemas.microsoft.com/office/drawing/2014/main" id="{513EF477-5197-4F87-903A-F210375A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9B9C8"/>
            </a:solidFill>
          </a:ln>
        </p:spPr>
      </p:sp>
      <p:sp>
        <p:nvSpPr>
          <p:cNvPr id="8" name="engine-heading">
            <a:extLst xmlns:a="http://schemas.openxmlformats.org/drawingml/2006/main">
              <a:ext uri="{FF2B5EF4-FFF2-40B4-BE49-F238E27FC236}">
                <a16:creationId xmlns:a16="http://schemas.microsoft.com/office/drawing/2014/main" id="{022A1C0D-42FD-40B1-BC25-FFC4CA84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本地静态分析</a:t>
            </a:r>
          </a:p>
        </p:txBody>
      </p:sp>
      <p:sp>
        <p:nvSpPr>
          <p:cNvPr id="9" name="anchor-1">
            <a:extLst xmlns:a="http://schemas.openxmlformats.org/drawingml/2006/main">
              <a:ext uri="{FF2B5EF4-FFF2-40B4-BE49-F238E27FC236}">
                <a16:creationId xmlns:a16="http://schemas.microsoft.com/office/drawing/2014/main" id="{9BDAE7CF-BA65-4F8B-B1F7-65791DAF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228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anchor-2">
            <a:extLst xmlns:a="http://schemas.openxmlformats.org/drawingml/2006/main">
              <a:ext uri="{FF2B5EF4-FFF2-40B4-BE49-F238E27FC236}">
                <a16:creationId xmlns:a16="http://schemas.microsoft.com/office/drawing/2014/main" id="{D1C9CEE3-1390-4C90-B845-FDE21CBA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609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4095750" y="3248025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2" name="anchor-3">
            <a:extLst xmlns:a="http://schemas.openxmlformats.org/drawingml/2006/main">
              <a:ext uri="{FF2B5EF4-FFF2-40B4-BE49-F238E27FC236}">
                <a16:creationId xmlns:a16="http://schemas.microsoft.com/office/drawing/2014/main" id="{AC4F2D77-5594-40FF-9C87-152B7485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228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anchor-4">
            <a:extLst xmlns:a="http://schemas.openxmlformats.org/drawingml/2006/main">
              <a:ext uri="{FF2B5EF4-FFF2-40B4-BE49-F238E27FC236}">
                <a16:creationId xmlns:a16="http://schemas.microsoft.com/office/drawing/2014/main" id="{EA7B485F-580F-4B10-B302-6C4F2E7D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609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1382375" y="3248025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static-stage-0">
            <a:extLst xmlns:a="http://schemas.openxmlformats.org/drawingml/2006/main">
              <a:ext uri="{FF2B5EF4-FFF2-40B4-BE49-F238E27FC236}">
                <a16:creationId xmlns:a16="http://schemas.microsoft.com/office/drawing/2014/main" id="{E0B0F2A2-33F7-4950-8319-5A87A575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真实构建</a:t>
            </a:r>
          </a:p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文件、宏与包含路径</a:t>
            </a:r>
          </a:p>
        </p:txBody>
      </p:sp>
      <p:sp>
        <p:nvSpPr>
          <p:cNvPr id="16" name="static-stage-1">
            <a:extLst xmlns:a="http://schemas.openxmlformats.org/drawingml/2006/main">
              <a:ext uri="{FF2B5EF4-FFF2-40B4-BE49-F238E27FC236}">
                <a16:creationId xmlns:a16="http://schemas.microsoft.com/office/drawing/2014/main" id="{D8C025B2-C103-4574-A60C-22D7EC92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逐文件提取</a:t>
            </a:r>
          </a:p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变量、读写与调用</a:t>
            </a:r>
          </a:p>
        </p:txBody>
      </p:sp>
      <p:sp>
        <p:nvSpPr>
          <p:cNvPr id="17" name="static-stage-2">
            <a:extLst xmlns:a="http://schemas.openxmlformats.org/drawingml/2006/main">
              <a:ext uri="{FF2B5EF4-FFF2-40B4-BE49-F238E27FC236}">
                <a16:creationId xmlns:a16="http://schemas.microsoft.com/office/drawing/2014/main" id="{21FB858F-A1AD-4B7B-92F8-E3FA88B1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全工程关联</a:t>
            </a:r>
          </a:p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存储、执行者与保护</a:t>
            </a:r>
          </a:p>
        </p:txBody>
      </p:sp>
      <p:sp>
        <p:nvSpPr>
          <p:cNvPr id="18" name="static-stage-3">
            <a:extLst xmlns:a="http://schemas.openxmlformats.org/drawingml/2006/main">
              <a:ext uri="{FF2B5EF4-FFF2-40B4-BE49-F238E27FC236}">
                <a16:creationId xmlns:a16="http://schemas.microsoft.com/office/drawing/2014/main" id="{DCC904BD-3962-4967-AF0D-A3C8F87E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171950"/>
            <a:ext cx="276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逐变量判定</a:t>
            </a:r>
          </a:p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分类、缺口与依据</a:t>
            </a:r>
          </a:p>
        </p:txBody>
      </p:sp>
      <p:cxnSp>
        <p:nvCxnSpPr>
          <p:cNvPr id="63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810000" y="46482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334250" y="46482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0858500" y="46482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2" name="saved-scan">
            <a:extLst xmlns:a="http://schemas.openxmlformats.org/drawingml/2006/main">
              <a:ext uri="{FF2B5EF4-FFF2-40B4-BE49-F238E27FC236}">
                <a16:creationId xmlns:a16="http://schemas.microsoft.com/office/drawing/2014/main" id="{C4562011-6E13-4DAD-A075-72FBD5FB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静态事实 + 变量台账 + 覆盖缺口 + 扫描快照 + 复核队列</a:t>
            </a:r>
          </a:p>
        </p:txBody>
      </p:sp>
      <p:cxnSp>
        <p:nvCxnSpPr>
          <p:cNvPr id="67" name=""/>
          <p:cNvCxnSpPr>
            <a:stCxn xmlns:a="http://schemas.openxmlformats.org/drawingml/2006/main" id="7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7620000" y="53340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4" name="static-report">
            <a:extLst xmlns:a="http://schemas.openxmlformats.org/drawingml/2006/main">
              <a:ext uri="{FF2B5EF4-FFF2-40B4-BE49-F238E27FC236}">
                <a16:creationId xmlns:a16="http://schemas.microsoft.com/office/drawing/2014/main" id="{F0AF9771-DAAC-43B1-870F-6D35CF3C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0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全量静态报告</a:t>
            </a:r>
          </a:p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index.html</a:t>
            </a:r>
          </a:p>
        </p:txBody>
      </p:sp>
      <p:sp>
        <p:nvSpPr>
          <p:cNvPr id="25" name="review-supplements">
            <a:extLst xmlns:a="http://schemas.openxmlformats.org/drawingml/2006/main">
              <a:ext uri="{FF2B5EF4-FFF2-40B4-BE49-F238E27FC236}">
                <a16:creationId xmlns:a16="http://schemas.microsoft.com/office/drawing/2014/main" id="{6A02BB8F-4699-4EEB-AE19-120BC2C3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3415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工程背景 / 案例库 / 可用模型</a:t>
            </a:r>
          </a:p>
        </p:txBody>
      </p:sp>
      <p:sp>
        <p:nvSpPr>
          <p:cNvPr id="26" name="review-engine">
            <a:extLst xmlns:a="http://schemas.openxmlformats.org/drawingml/2006/main">
              <a:ext uri="{FF2B5EF4-FFF2-40B4-BE49-F238E27FC236}">
                <a16:creationId xmlns:a16="http://schemas.microsoft.com/office/drawing/2014/main" id="{EC8CF4F4-EBC6-4472-A14E-5257BF8D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14375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可选 OpenCode 复核</a:t>
            </a:r>
          </a:p>
          <a:p xmlns:a="http://schemas.openxmlformats.org/drawingml/2006/main">
            <a:pPr algn="ctr">
              <a:def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证据包、源码核查、校验与归档</a:t>
            </a:r>
          </a:p>
        </p:txBody>
      </p:sp>
      <p:sp>
        <p:nvSpPr>
          <p:cNvPr id="27" name="review-report">
            <a:extLst xmlns:a="http://schemas.openxmlformats.org/drawingml/2006/main">
              <a:ext uri="{FF2B5EF4-FFF2-40B4-BE49-F238E27FC236}">
                <a16:creationId xmlns:a16="http://schemas.microsoft.com/office/drawing/2014/main" id="{8D6F1A4E-EC6A-45E6-A702-29ED6E72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14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复核报告</a:t>
            </a:r>
          </a:p>
          <a:p xmlns:a="http://schemas.openxmlformats.org/drawingml/2006/main">
            <a:pPr algn="ctr">
              <a:defRPr sz="17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opencode_review.html</a:t>
            </a:r>
          </a:p>
        </p:txBody>
      </p:sp>
      <p:sp>
        <p:nvSpPr>
          <p:cNvPr id="28" name="anchor-5">
            <a:extLst xmlns:a="http://schemas.openxmlformats.org/drawingml/2006/main">
              <a:ext uri="{FF2B5EF4-FFF2-40B4-BE49-F238E27FC236}">
                <a16:creationId xmlns:a16="http://schemas.microsoft.com/office/drawing/2014/main" id="{EF96A96D-0851-466F-A470-6D171608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6324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anchor-6">
            <a:extLst xmlns:a="http://schemas.openxmlformats.org/drawingml/2006/main">
              <a:ext uri="{FF2B5EF4-FFF2-40B4-BE49-F238E27FC236}">
                <a16:creationId xmlns:a16="http://schemas.microsoft.com/office/drawing/2014/main" id="{48FBD0A8-353D-465D-99AC-6B0374BF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713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2667000" y="6343650"/>
            <a:ext cx="0" cy="7905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1" name="anchor-7">
            <a:extLst xmlns:a="http://schemas.openxmlformats.org/drawingml/2006/main">
              <a:ext uri="{FF2B5EF4-FFF2-40B4-BE49-F238E27FC236}">
                <a16:creationId xmlns:a16="http://schemas.microsoft.com/office/drawing/2014/main" id="{1D6E9D0A-92B3-4F0B-B5E8-40AA82D9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324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anchor-8">
            <a:extLst xmlns:a="http://schemas.openxmlformats.org/drawingml/2006/main">
              <a:ext uri="{FF2B5EF4-FFF2-40B4-BE49-F238E27FC236}">
                <a16:creationId xmlns:a16="http://schemas.microsoft.com/office/drawing/2014/main" id="{43727305-293A-4B2B-969C-C3A17B12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562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5238750" y="6343650"/>
            <a:ext cx="0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34" name="anchor-9">
            <a:extLst xmlns:a="http://schemas.openxmlformats.org/drawingml/2006/main">
              <a:ext uri="{FF2B5EF4-FFF2-40B4-BE49-F238E27FC236}">
                <a16:creationId xmlns:a16="http://schemas.microsoft.com/office/drawing/2014/main" id="{B91CE56B-F9C3-45C5-AEB3-47BFB162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562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anchor-10">
            <a:extLst xmlns:a="http://schemas.openxmlformats.org/drawingml/2006/main">
              <a:ext uri="{FF2B5EF4-FFF2-40B4-BE49-F238E27FC236}">
                <a16:creationId xmlns:a16="http://schemas.microsoft.com/office/drawing/2014/main" id="{0EE7A939-802F-4613-8ECB-519790CB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7562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5248275" y="75723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7" name="targets-label">
            <a:extLst xmlns:a="http://schemas.openxmlformats.org/drawingml/2006/main">
              <a:ext uri="{FF2B5EF4-FFF2-40B4-BE49-F238E27FC236}">
                <a16:creationId xmlns:a16="http://schemas.microsoft.com/office/drawing/2014/main" id="{A0EA678E-2DD6-4F5C-BE8D-32A5EB4B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562725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疑似 / 未知</a:t>
            </a:r>
          </a:p>
          <a:p xmlns:a="http://schemas.openxmlformats.org/drawingml/2006/main">
            <a:pPr algn="l">
              <a:defRPr sz="172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独立覆盖缺口</a:t>
            </a:r>
          </a:p>
        </p:txBody>
      </p:sp>
      <p:sp>
        <p:nvSpPr>
          <p:cNvPr id="38" name="anchor-11">
            <a:extLst xmlns:a="http://schemas.openxmlformats.org/drawingml/2006/main">
              <a:ext uri="{FF2B5EF4-FFF2-40B4-BE49-F238E27FC236}">
                <a16:creationId xmlns:a16="http://schemas.microsoft.com/office/drawing/2014/main" id="{728CE4B9-8E67-4564-8E3C-800B3DD4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70199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anchor-12">
            <a:extLst xmlns:a="http://schemas.openxmlformats.org/drawingml/2006/main">
              <a:ext uri="{FF2B5EF4-FFF2-40B4-BE49-F238E27FC236}">
                <a16:creationId xmlns:a16="http://schemas.microsoft.com/office/drawing/2014/main" id="{88167607-0382-48F9-87B0-E0EEE2EC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713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8096250" y="703897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1" name="anchor-13">
            <a:extLst xmlns:a="http://schemas.openxmlformats.org/drawingml/2006/main">
              <a:ext uri="{FF2B5EF4-FFF2-40B4-BE49-F238E27FC236}">
                <a16:creationId xmlns:a16="http://schemas.microsoft.com/office/drawing/2014/main" id="{0F0A7F5F-E0C2-4FD2-A81C-9654A051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6324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anchor-14">
            <a:extLst xmlns:a="http://schemas.openxmlformats.org/drawingml/2006/main">
              <a:ext uri="{FF2B5EF4-FFF2-40B4-BE49-F238E27FC236}">
                <a16:creationId xmlns:a16="http://schemas.microsoft.com/office/drawing/2014/main" id="{0E692183-4F15-4BF6-8060-8FBAE97B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713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" name=""/>
          <p:cNvCxnSpPr>
            <a:stCxn xmlns:a="http://schemas.openxmlformats.org/drawingml/2006/main" id="41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13049250" y="6343650"/>
            <a:ext cx="0" cy="7905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8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0477500" y="7572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5130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00467CB8-4D08-4C2E-91AF-DC454DE7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B2AB59-C659-4B43-80B7-06AAED34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复核目标与变量证据包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7CF20C1-DC13-47BA-95C4-2C674554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常规按变量聚合相关访问和冲突，覆盖盲区另列目标，队列保存每个目标 ID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BC66625-BD7C-4BD3-B167-D2D8B6D2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4" name=""/>
          <p:cNvGraphicFramePr/>
          <p:nvPr/>
        </p:nvGraphicFramePr>
        <p:xfrm>
          <a:off xmlns:a="http://schemas.openxmlformats.org/drawingml/2006/main" x="762000" y="295275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2286000"/>
              </a:tblGrid>
              <a:tr h="6286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静态结果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常规路径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</a:tr>
              <a:tr h="6286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SUSPECT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进入复核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UNKNOWN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进入复核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286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SAFE_PROVEN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保留安全证明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SHARED_NO_REVIEW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保留免复核门禁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variable-queue">
            <a:extLst xmlns:a="http://schemas.openxmlformats.org/drawingml/2006/main">
              <a:ext uri="{FF2B5EF4-FFF2-40B4-BE49-F238E27FC236}">
                <a16:creationId xmlns:a16="http://schemas.microsoft.com/office/drawing/2014/main" id="{00899003-B321-4427-89AA-87D77DEB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00425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逐变量复核队列</a:t>
            </a:r>
          </a:p>
          <a:p xmlns:a="http://schemas.openxmlformats.org/drawingml/2006/main">
            <a:pPr algn="ctr">
              <a:def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一个 finding_id 一项</a:t>
            </a:r>
          </a:p>
          <a:p xmlns:a="http://schemas.openxmlformats.org/drawingml/2006/main">
            <a:pPr algn="ctr">
              <a:def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聚合本变量全部访问</a:t>
            </a:r>
          </a:p>
        </p:txBody>
      </p:sp>
      <p:sp>
        <p:nvSpPr>
          <p:cNvPr id="7" name="anchor-15">
            <a:extLst xmlns:a="http://schemas.openxmlformats.org/drawingml/2006/main">
              <a:ext uri="{FF2B5EF4-FFF2-40B4-BE49-F238E27FC236}">
                <a16:creationId xmlns:a16="http://schemas.microsoft.com/office/drawing/2014/main" id="{0E8BDB23-8B1D-4147-B41E-5EC6F124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86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anchor-16">
            <a:extLst xmlns:a="http://schemas.openxmlformats.org/drawingml/2006/main">
              <a:ext uri="{FF2B5EF4-FFF2-40B4-BE49-F238E27FC236}">
                <a16:creationId xmlns:a16="http://schemas.microsoft.com/office/drawing/2014/main" id="{F8DAFA1F-8050-4F8D-910E-03225040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886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105525" y="38957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10" name="anchor-17">
            <a:extLst xmlns:a="http://schemas.openxmlformats.org/drawingml/2006/main">
              <a:ext uri="{FF2B5EF4-FFF2-40B4-BE49-F238E27FC236}">
                <a16:creationId xmlns:a16="http://schemas.microsoft.com/office/drawing/2014/main" id="{1B2CA861-B072-4C33-AC22-DC5E7225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886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anchor-18">
            <a:extLst xmlns:a="http://schemas.openxmlformats.org/drawingml/2006/main">
              <a:ext uri="{FF2B5EF4-FFF2-40B4-BE49-F238E27FC236}">
                <a16:creationId xmlns:a16="http://schemas.microsoft.com/office/drawing/2014/main" id="{00FA19FC-DEA4-4DAF-89B9-5796732D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514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477000" y="3905250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13" name="anchor-19">
            <a:extLst xmlns:a="http://schemas.openxmlformats.org/drawingml/2006/main">
              <a:ext uri="{FF2B5EF4-FFF2-40B4-BE49-F238E27FC236}">
                <a16:creationId xmlns:a16="http://schemas.microsoft.com/office/drawing/2014/main" id="{6996ED42-B97A-48BD-BDF9-1335DF0C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14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anchor-20">
            <a:extLst xmlns:a="http://schemas.openxmlformats.org/drawingml/2006/main">
              <a:ext uri="{FF2B5EF4-FFF2-40B4-BE49-F238E27FC236}">
                <a16:creationId xmlns:a16="http://schemas.microsoft.com/office/drawing/2014/main" id="{0CA10BCD-6811-4F77-A062-442C0A75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514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105525" y="45243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16" name="anchor-21">
            <a:extLst xmlns:a="http://schemas.openxmlformats.org/drawingml/2006/main">
              <a:ext uri="{FF2B5EF4-FFF2-40B4-BE49-F238E27FC236}">
                <a16:creationId xmlns:a16="http://schemas.microsoft.com/office/drawing/2014/main" id="{D125EE01-7936-4FA0-9589-A2F4515B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005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22">
            <a:extLst xmlns:a="http://schemas.openxmlformats.org/drawingml/2006/main">
              <a:ext uri="{FF2B5EF4-FFF2-40B4-BE49-F238E27FC236}">
                <a16:creationId xmlns:a16="http://schemas.microsoft.com/office/drawing/2014/main" id="{46A053B8-85A6-44B4-A0F5-B689F1B0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005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486525" y="42100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packet-boundary">
            <a:extLst xmlns:a="http://schemas.openxmlformats.org/drawingml/2006/main">
              <a:ext uri="{FF2B5EF4-FFF2-40B4-BE49-F238E27FC236}">
                <a16:creationId xmlns:a16="http://schemas.microsoft.com/office/drawing/2014/main" id="{C32DC116-4783-4C59-B81F-C8D2D4DE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14625"/>
            <a:ext cx="3810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3335">
            <a:solidFill>
              <a:srgbClr val="A9B9C8"/>
            </a:solidFill>
          </a:ln>
        </p:spPr>
      </p:sp>
      <p:sp>
        <p:nvSpPr>
          <p:cNvPr id="20" name="packet-heading">
            <a:extLst xmlns:a="http://schemas.openxmlformats.org/drawingml/2006/main">
              <a:ext uri="{FF2B5EF4-FFF2-40B4-BE49-F238E27FC236}">
                <a16:creationId xmlns:a16="http://schemas.microsoft.com/office/drawing/2014/main" id="{BAD6FEAD-1CD3-4CEE-962F-06F922C8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956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变量 Packet</a:t>
            </a:r>
          </a:p>
        </p:txBody>
      </p:sp>
      <p:sp>
        <p:nvSpPr>
          <p:cNvPr id="21" name="packet-fields">
            <a:extLst xmlns:a="http://schemas.openxmlformats.org/drawingml/2006/main">
              <a:ext uri="{FF2B5EF4-FFF2-40B4-BE49-F238E27FC236}">
                <a16:creationId xmlns:a16="http://schemas.microsoft.com/office/drawing/2014/main" id="{BFD42821-92D6-4A28-91EF-64CC39D8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562350"/>
            <a:ext cx="3381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对象标识与静态结果</a:t>
            </a:r>
          </a:p>
          <a:p xmlns:a="http://schemas.openxmlformats.org/drawingml/2006/main">
            <a:pPr algn="l">
              <a:defRPr sz="19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全部读、写、读改写</a:t>
            </a:r>
          </a:p>
          <a:p xmlns:a="http://schemas.openxmlformats.org/drawingml/2006/main">
            <a:pPr algn="l">
              <a:defRPr sz="19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执行者与完整已恢复路径</a:t>
            </a:r>
          </a:p>
          <a:p xmlns:a="http://schemas.openxmlformats.org/drawingml/2006/main">
            <a:pPr algn="l">
              <a:defRPr sz="19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保护、初始化、相关缺口</a:t>
            </a:r>
          </a:p>
          <a:p xmlns:a="http://schemas.openxmlformats.org/drawingml/2006/main">
            <a:pPr algn="l">
              <a:defRPr sz="19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源码位置与原始事实导航</a:t>
            </a:r>
          </a:p>
        </p:txBody>
      </p:sp>
      <p:sp>
        <p:nvSpPr>
          <p:cNvPr id="22" name="anchor-23">
            <a:extLst xmlns:a="http://schemas.openxmlformats.org/drawingml/2006/main">
              <a:ext uri="{FF2B5EF4-FFF2-40B4-BE49-F238E27FC236}">
                <a16:creationId xmlns:a16="http://schemas.microsoft.com/office/drawing/2014/main" id="{70963786-CE24-409D-A6F0-A674D3B6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2005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anchor-24">
            <a:extLst xmlns:a="http://schemas.openxmlformats.org/drawingml/2006/main">
              <a:ext uri="{FF2B5EF4-FFF2-40B4-BE49-F238E27FC236}">
                <a16:creationId xmlns:a16="http://schemas.microsoft.com/office/drawing/2014/main" id="{B051B7DA-049F-4125-8784-06AAC46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2005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725025" y="4210050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" name="standalone-gap">
            <a:extLst xmlns:a="http://schemas.openxmlformats.org/drawingml/2006/main">
              <a:ext uri="{FF2B5EF4-FFF2-40B4-BE49-F238E27FC236}">
                <a16:creationId xmlns:a16="http://schemas.microsoft.com/office/drawing/2014/main" id="{3DEF19C2-21A2-47B0-B326-B72B9C65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5334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独立覆盖缺口</a:t>
            </a:r>
          </a:p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未归到单一变量的盲区仍保留</a:t>
            </a:r>
          </a:p>
        </p:txBody>
      </p:sp>
      <p:sp>
        <p:nvSpPr>
          <p:cNvPr id="26" name="anchor-25">
            <a:extLst xmlns:a="http://schemas.openxmlformats.org/drawingml/2006/main">
              <a:ext uri="{FF2B5EF4-FFF2-40B4-BE49-F238E27FC236}">
                <a16:creationId xmlns:a16="http://schemas.microsoft.com/office/drawing/2014/main" id="{9B41652C-955A-4737-8E37-0A25F3CA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7015163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anchor-26">
            <a:extLst xmlns:a="http://schemas.openxmlformats.org/drawingml/2006/main">
              <a:ext uri="{FF2B5EF4-FFF2-40B4-BE49-F238E27FC236}">
                <a16:creationId xmlns:a16="http://schemas.microsoft.com/office/drawing/2014/main" id="{55BD6381-2357-44C0-A00D-6D01F35B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7015163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105525" y="702468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29" name="anchor-27">
            <a:extLst xmlns:a="http://schemas.openxmlformats.org/drawingml/2006/main">
              <a:ext uri="{FF2B5EF4-FFF2-40B4-BE49-F238E27FC236}">
                <a16:creationId xmlns:a16="http://schemas.microsoft.com/office/drawing/2014/main" id="{48DE155C-3FCC-4AF3-B6E5-2F25D33B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7015163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28">
            <a:extLst xmlns:a="http://schemas.openxmlformats.org/drawingml/2006/main">
              <a:ext uri="{FF2B5EF4-FFF2-40B4-BE49-F238E27FC236}">
                <a16:creationId xmlns:a16="http://schemas.microsoft.com/office/drawing/2014/main" id="{A7D7042A-FC10-4E71-A58C-1C42C3C2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514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" name=""/>
          <p:cNvCxnSpPr>
            <a:stCxn xmlns:a="http://schemas.openxmlformats.org/drawingml/2006/main" id="29" idx="0"/>
            <a:endCxn xmlns:a="http://schemas.openxmlformats.org/drawingml/2006/main" id="30" idx="2"/>
          </p:cNvCxnSpPr>
          <p:nvPr/>
        </p:nvCxnSpPr>
        <p:spPr>
          <a:xfrm xmlns:a="http://schemas.openxmlformats.org/drawingml/2006/main" flipV="1">
            <a:off x="6572250" y="5534025"/>
            <a:ext cx="0" cy="1481138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32" name="anchor-29">
            <a:extLst xmlns:a="http://schemas.openxmlformats.org/drawingml/2006/main">
              <a:ext uri="{FF2B5EF4-FFF2-40B4-BE49-F238E27FC236}">
                <a16:creationId xmlns:a16="http://schemas.microsoft.com/office/drawing/2014/main" id="{E8C61AE0-CDEC-47D6-8837-6C2AF2FD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514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anchor-30">
            <a:extLst xmlns:a="http://schemas.openxmlformats.org/drawingml/2006/main">
              <a:ext uri="{FF2B5EF4-FFF2-40B4-BE49-F238E27FC236}">
                <a16:creationId xmlns:a16="http://schemas.microsoft.com/office/drawing/2014/main" id="{55FB69F9-7249-4D2C-903F-A8154AD4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663" y="5514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6581775" y="5524500"/>
            <a:ext cx="1766888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35" name="anchor-31">
            <a:extLst xmlns:a="http://schemas.openxmlformats.org/drawingml/2006/main">
              <a:ext uri="{FF2B5EF4-FFF2-40B4-BE49-F238E27FC236}">
                <a16:creationId xmlns:a16="http://schemas.microsoft.com/office/drawing/2014/main" id="{48D96D15-32AC-4266-8FF3-D560063E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663" y="5514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anchor-32">
            <a:extLst xmlns:a="http://schemas.openxmlformats.org/drawingml/2006/main">
              <a:ext uri="{FF2B5EF4-FFF2-40B4-BE49-F238E27FC236}">
                <a16:creationId xmlns:a16="http://schemas.microsoft.com/office/drawing/2014/main" id="{3A4EE4AD-8615-4159-AD34-8A06FDC0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663" y="5010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" name=""/>
          <p:cNvCxnSpPr>
            <a:stCxn xmlns:a="http://schemas.openxmlformats.org/drawingml/2006/main" id="35" idx="0"/>
            <a:endCxn xmlns:a="http://schemas.openxmlformats.org/drawingml/2006/main" id="36" idx="2"/>
          </p:cNvCxnSpPr>
          <p:nvPr/>
        </p:nvCxnSpPr>
        <p:spPr>
          <a:xfrm xmlns:a="http://schemas.openxmlformats.org/drawingml/2006/main" flipV="1">
            <a:off x="8358188" y="5029200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8" name="packet-completeness">
            <a:extLst xmlns:a="http://schemas.openxmlformats.org/drawingml/2006/main">
              <a:ext uri="{FF2B5EF4-FFF2-40B4-BE49-F238E27FC236}">
                <a16:creationId xmlns:a16="http://schemas.microsoft.com/office/drawing/2014/main" id="{78BDE122-AB6F-4B75-A775-E8B606D2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53350"/>
            <a:ext cx="1295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Packet 不附完整源码正文。全部访问和已恢复路径保留，重复路径只做无损去重。</a:t>
            </a:r>
          </a:p>
        </p:txBody>
      </p:sp>
      <p:sp>
        <p:nvSpPr>
          <p:cNvPr id="39" name="packet-read-rule">
            <a:extLst xmlns:a="http://schemas.openxmlformats.org/drawingml/2006/main">
              <a:ext uri="{FF2B5EF4-FFF2-40B4-BE49-F238E27FC236}">
                <a16:creationId xmlns:a16="http://schemas.microsoft.com/office/drawing/2014/main" id="{EA919BAA-8D16-41C1-AAA8-86BF009D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153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模型按位置读源码；read 提示截断时，须继续读取到文件末尾。</a:t>
            </a:r>
          </a:p>
        </p:txBody>
      </p:sp>
    </p:spTree>
    <p:extLst>
      <p:ext uri="{BB962C8B-B14F-4D97-AF65-F5344CB8AC3E}">
        <p14:creationId xmlns:p14="http://schemas.microsoft.com/office/powerpoint/2010/main" val="1953212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8817C2AE-BB44-4A11-9F59-9260A426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6DB81B-D441-4BA1-A855-7A1BEAAD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提示词与资料如何进入 OpenCode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A29A007-B41F-4E34-986D-0C937E2E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Prompt 规定怎样复核，Packet 提供本项事实，源码与案例由只读工具按位置读取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587F474-D400-48CB-B823-59E1F22E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base-prompt">
            <a:extLst xmlns:a="http://schemas.openxmlformats.org/drawingml/2006/main">
              <a:ext uri="{FF2B5EF4-FFF2-40B4-BE49-F238E27FC236}">
                <a16:creationId xmlns:a16="http://schemas.microsoft.com/office/drawing/2014/main" id="{77E46E8F-9DA1-46CA-B99A-0717E555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191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固定复核规则</a:t>
            </a:r>
          </a:p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八步检查 + 结论门槛</a:t>
            </a:r>
          </a:p>
        </p:txBody>
      </p:sp>
      <p:sp>
        <p:nvSpPr>
          <p:cNvPr id="6" name="project-context">
            <a:extLst xmlns:a="http://schemas.openxmlformats.org/drawingml/2006/main">
              <a:ext uri="{FF2B5EF4-FFF2-40B4-BE49-F238E27FC236}">
                <a16:creationId xmlns:a16="http://schemas.microsoft.com/office/drawing/2014/main" id="{2246BA97-4B05-4D83-A469-025241F7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191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工程背景</a:t>
            </a:r>
          </a:p>
          <a:p xmlns:a="http://schemas.openxmlformats.org/drawingml/2006/main">
            <a:pPr algn="ctr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config/review_context.md</a:t>
            </a:r>
          </a:p>
        </p:txBody>
      </p:sp>
      <p:sp>
        <p:nvSpPr>
          <p:cNvPr id="7" name="case-library">
            <a:extLst xmlns:a="http://schemas.openxmlformats.org/drawingml/2006/main">
              <a:ext uri="{FF2B5EF4-FFF2-40B4-BE49-F238E27FC236}">
                <a16:creationId xmlns:a16="http://schemas.microsoft.com/office/drawing/2014/main" id="{98E67CDB-252B-4AB8-BBBF-D22DF433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419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案例索引与只读快照</a:t>
            </a:r>
          </a:p>
          <a:p xmlns:a="http://schemas.openxmlformats.org/drawingml/2006/main">
            <a:pPr algn="ctr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config/concurrency_cases.md</a:t>
            </a:r>
          </a:p>
        </p:txBody>
      </p:sp>
      <p:sp>
        <p:nvSpPr>
          <p:cNvPr id="8" name="json-contract">
            <a:extLst xmlns:a="http://schemas.openxmlformats.org/drawingml/2006/main">
              <a:ext uri="{FF2B5EF4-FFF2-40B4-BE49-F238E27FC236}">
                <a16:creationId xmlns:a16="http://schemas.microsoft.com/office/drawing/2014/main" id="{55D225E5-9DCF-47D6-92CC-E761765E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19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JSON 输出协议</a:t>
            </a:r>
          </a:p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状态、证据、缺口与固定 ID</a:t>
            </a:r>
          </a:p>
        </p:txBody>
      </p:sp>
      <p:sp>
        <p:nvSpPr>
          <p:cNvPr id="9" name="assembled-prompt">
            <a:extLst xmlns:a="http://schemas.openxmlformats.org/drawingml/2006/main">
              <a:ext uri="{FF2B5EF4-FFF2-40B4-BE49-F238E27FC236}">
                <a16:creationId xmlns:a16="http://schemas.microsoft.com/office/drawing/2014/main" id="{7F922904-5450-4A51-9088-81C5418A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38500"/>
            <a:ext cx="3429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9"/>
          </a:solidFill>
          <a:ln xmlns:a="http://schemas.openxmlformats.org/drawingml/2006/main" w="0">
            <a:noFill/>
          </a:ln>
        </p:spPr>
      </p:sp>
      <p:sp>
        <p:nvSpPr>
          <p:cNvPr id="10" name="prompt-heading">
            <a:extLst xmlns:a="http://schemas.openxmlformats.org/drawingml/2006/main">
              <a:ext uri="{FF2B5EF4-FFF2-40B4-BE49-F238E27FC236}">
                <a16:creationId xmlns:a16="http://schemas.microsoft.com/office/drawing/2014/main" id="{DF6DD4F2-A3B3-4707-AB9A-81091ADD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290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本次完整 Prompt</a:t>
            </a:r>
          </a:p>
        </p:txBody>
      </p:sp>
      <p:sp>
        <p:nvSpPr>
          <p:cNvPr id="11" name="prompt-parts">
            <a:extLst xmlns:a="http://schemas.openxmlformats.org/drawingml/2006/main">
              <a:ext uri="{FF2B5EF4-FFF2-40B4-BE49-F238E27FC236}">
                <a16:creationId xmlns:a16="http://schemas.microsoft.com/office/drawing/2014/main" id="{CBF9F0E9-6890-41D1-8A72-70F667B9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43375"/>
            <a:ext cx="304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八步规则 + 工程背景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案例导航 + 输出协议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 finding_id</a:t>
            </a:r>
          </a:p>
        </p:txBody>
      </p:sp>
      <p:sp>
        <p:nvSpPr>
          <p:cNvPr id="12" name="anchor-33">
            <a:extLst xmlns:a="http://schemas.openxmlformats.org/drawingml/2006/main">
              <a:ext uri="{FF2B5EF4-FFF2-40B4-BE49-F238E27FC236}">
                <a16:creationId xmlns:a16="http://schemas.microsoft.com/office/drawing/2014/main" id="{80F9922F-30D9-4E6C-A4EB-6EFF58FB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990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anchor-34">
            <a:extLst xmlns:a="http://schemas.openxmlformats.org/drawingml/2006/main">
              <a:ext uri="{FF2B5EF4-FFF2-40B4-BE49-F238E27FC236}">
                <a16:creationId xmlns:a16="http://schemas.microsoft.com/office/drawing/2014/main" id="{4907AF13-FF83-4647-BADB-BFB6F725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990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62525" y="30003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15" name="anchor-35">
            <a:extLst xmlns:a="http://schemas.openxmlformats.org/drawingml/2006/main">
              <a:ext uri="{FF2B5EF4-FFF2-40B4-BE49-F238E27FC236}">
                <a16:creationId xmlns:a16="http://schemas.microsoft.com/office/drawing/2014/main" id="{EA0440B9-AA0A-4922-9CA5-4BACA8E9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229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anchor-36">
            <a:extLst xmlns:a="http://schemas.openxmlformats.org/drawingml/2006/main">
              <a:ext uri="{FF2B5EF4-FFF2-40B4-BE49-F238E27FC236}">
                <a16:creationId xmlns:a16="http://schemas.microsoft.com/office/drawing/2014/main" id="{EB2ED61A-1EE2-490D-B9CE-354270E7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962525" y="42386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18" name="anchor-37">
            <a:extLst xmlns:a="http://schemas.openxmlformats.org/drawingml/2006/main">
              <a:ext uri="{FF2B5EF4-FFF2-40B4-BE49-F238E27FC236}">
                <a16:creationId xmlns:a16="http://schemas.microsoft.com/office/drawing/2014/main" id="{A8F945A7-FA50-4638-8B9A-15992001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514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anchor-38">
            <a:extLst xmlns:a="http://schemas.openxmlformats.org/drawingml/2006/main">
              <a:ext uri="{FF2B5EF4-FFF2-40B4-BE49-F238E27FC236}">
                <a16:creationId xmlns:a16="http://schemas.microsoft.com/office/drawing/2014/main" id="{A1AAEF79-DEDE-4E0E-8226-5BE36DEA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514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962525" y="552450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21" name="anchor-39">
            <a:extLst xmlns:a="http://schemas.openxmlformats.org/drawingml/2006/main">
              <a:ext uri="{FF2B5EF4-FFF2-40B4-BE49-F238E27FC236}">
                <a16:creationId xmlns:a16="http://schemas.microsoft.com/office/drawing/2014/main" id="{D4D5A7A3-DAAC-4EC9-8867-ACF43123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848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40">
            <a:extLst xmlns:a="http://schemas.openxmlformats.org/drawingml/2006/main">
              <a:ext uri="{FF2B5EF4-FFF2-40B4-BE49-F238E27FC236}">
                <a16:creationId xmlns:a16="http://schemas.microsoft.com/office/drawing/2014/main" id="{93C2375E-47D0-41C4-86DB-18D7F158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848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62525" y="685800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24" name="anchor-41">
            <a:extLst xmlns:a="http://schemas.openxmlformats.org/drawingml/2006/main">
              <a:ext uri="{FF2B5EF4-FFF2-40B4-BE49-F238E27FC236}">
                <a16:creationId xmlns:a16="http://schemas.microsoft.com/office/drawing/2014/main" id="{9B0A5E59-ACF6-4A50-B4E2-1C128E59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990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anchor-42">
            <a:extLst xmlns:a="http://schemas.openxmlformats.org/drawingml/2006/main">
              <a:ext uri="{FF2B5EF4-FFF2-40B4-BE49-F238E27FC236}">
                <a16:creationId xmlns:a16="http://schemas.microsoft.com/office/drawing/2014/main" id="{ADF3268C-1A9C-4173-BCDD-4DA90B53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848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5619750" y="3009900"/>
            <a:ext cx="0" cy="38385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27" name="anchor-43">
            <a:extLst xmlns:a="http://schemas.openxmlformats.org/drawingml/2006/main">
              <a:ext uri="{FF2B5EF4-FFF2-40B4-BE49-F238E27FC236}">
                <a16:creationId xmlns:a16="http://schemas.microsoft.com/office/drawing/2014/main" id="{0E8FA8DE-6A24-4667-AD77-930C7A4E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467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anchor-44">
            <a:extLst xmlns:a="http://schemas.openxmlformats.org/drawingml/2006/main">
              <a:ext uri="{FF2B5EF4-FFF2-40B4-BE49-F238E27FC236}">
                <a16:creationId xmlns:a16="http://schemas.microsoft.com/office/drawing/2014/main" id="{E027BFF9-A880-4FD0-9C62-A528D060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629275" y="4476750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0" name="opencode-agent">
            <a:extLst xmlns:a="http://schemas.openxmlformats.org/drawingml/2006/main">
              <a:ext uri="{FF2B5EF4-FFF2-40B4-BE49-F238E27FC236}">
                <a16:creationId xmlns:a16="http://schemas.microsoft.com/office/drawing/2014/main" id="{00133326-C751-4BC5-B522-1ED1E962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67125"/>
            <a:ext cx="3905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OpenCode 只读复核</a:t>
            </a:r>
          </a:p>
          <a:p xmlns:a="http://schemas.openxmlformats.org/drawingml/2006/main">
            <a:pPr algn="ctr">
              <a:def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按配置调用模型</a:t>
            </a:r>
          </a:p>
          <a:p xmlns:a="http://schemas.openxmlformats.org/drawingml/2006/main">
            <a:pPr algn="ctr">
              <a:def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通过 Read 工具读取资料</a:t>
            </a:r>
          </a:p>
          <a:p xmlns:a="http://schemas.openxmlformats.org/drawingml/2006/main">
            <a:pPr algn="ctr">
              <a:def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返回变量级 JSON</a:t>
            </a:r>
          </a:p>
        </p:txBody>
      </p:sp>
      <p:sp>
        <p:nvSpPr>
          <p:cNvPr id="31" name="anchor-45">
            <a:extLst xmlns:a="http://schemas.openxmlformats.org/drawingml/2006/main">
              <a:ext uri="{FF2B5EF4-FFF2-40B4-BE49-F238E27FC236}">
                <a16:creationId xmlns:a16="http://schemas.microsoft.com/office/drawing/2014/main" id="{FD96CC92-D74D-44AF-B876-DA67250D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467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anchor-46">
            <a:extLst xmlns:a="http://schemas.openxmlformats.org/drawingml/2006/main">
              <a:ext uri="{FF2B5EF4-FFF2-40B4-BE49-F238E27FC236}">
                <a16:creationId xmlns:a16="http://schemas.microsoft.com/office/drawing/2014/main" id="{0694E911-E60D-4980-898C-0483D51F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4467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9772650" y="4476750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4" name="packet-attachment">
            <a:extLst xmlns:a="http://schemas.openxmlformats.org/drawingml/2006/main">
              <a:ext uri="{FF2B5EF4-FFF2-40B4-BE49-F238E27FC236}">
                <a16:creationId xmlns:a16="http://schemas.microsoft.com/office/drawing/2014/main" id="{00B01562-B446-4ECC-832B-25A24522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429375"/>
            <a:ext cx="3429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变量 Packet 文件</a:t>
            </a:r>
          </a:p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作为 --file 附件</a:t>
            </a:r>
          </a:p>
        </p:txBody>
      </p:sp>
      <p:sp>
        <p:nvSpPr>
          <p:cNvPr id="35" name="anchor-47">
            <a:extLst xmlns:a="http://schemas.openxmlformats.org/drawingml/2006/main">
              <a:ext uri="{FF2B5EF4-FFF2-40B4-BE49-F238E27FC236}">
                <a16:creationId xmlns:a16="http://schemas.microsoft.com/office/drawing/2014/main" id="{2492CB16-3B0D-4E33-8C4D-B6C86FCF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872288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anchor-48">
            <a:extLst xmlns:a="http://schemas.openxmlformats.org/drawingml/2006/main">
              <a:ext uri="{FF2B5EF4-FFF2-40B4-BE49-F238E27FC236}">
                <a16:creationId xmlns:a16="http://schemas.microsoft.com/office/drawing/2014/main" id="{7559A3A7-0913-40DA-AF94-D51FAC8B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6872288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9772650" y="688181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38" name="anchor-49">
            <a:extLst xmlns:a="http://schemas.openxmlformats.org/drawingml/2006/main">
              <a:ext uri="{FF2B5EF4-FFF2-40B4-BE49-F238E27FC236}">
                <a16:creationId xmlns:a16="http://schemas.microsoft.com/office/drawing/2014/main" id="{6C73AD07-A71E-442B-B124-BBB6C7C3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6872288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anchor-50">
            <a:extLst xmlns:a="http://schemas.openxmlformats.org/drawingml/2006/main">
              <a:ext uri="{FF2B5EF4-FFF2-40B4-BE49-F238E27FC236}">
                <a16:creationId xmlns:a16="http://schemas.microsoft.com/office/drawing/2014/main" id="{4217C894-DB68-4315-A409-D6B4A28C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229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38" idx="0"/>
            <a:endCxn xmlns:a="http://schemas.openxmlformats.org/drawingml/2006/main" id="39" idx="2"/>
          </p:cNvCxnSpPr>
          <p:nvPr/>
        </p:nvCxnSpPr>
        <p:spPr>
          <a:xfrm xmlns:a="http://schemas.openxmlformats.org/drawingml/2006/main" flipV="1">
            <a:off x="10239375" y="5248275"/>
            <a:ext cx="0" cy="1624013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41" name="anchor-51">
            <a:extLst xmlns:a="http://schemas.openxmlformats.org/drawingml/2006/main">
              <a:ext uri="{FF2B5EF4-FFF2-40B4-BE49-F238E27FC236}">
                <a16:creationId xmlns:a16="http://schemas.microsoft.com/office/drawing/2014/main" id="{2B0E7EC8-5B23-4FD4-A9C3-1EA26E59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229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anchor-52">
            <a:extLst xmlns:a="http://schemas.openxmlformats.org/drawingml/2006/main">
              <a:ext uri="{FF2B5EF4-FFF2-40B4-BE49-F238E27FC236}">
                <a16:creationId xmlns:a16="http://schemas.microsoft.com/office/drawing/2014/main" id="{1E9E2B73-140F-405C-A186-98A042E6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5229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0248900" y="52387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4" name="case-navigation">
            <a:extLst xmlns:a="http://schemas.openxmlformats.org/drawingml/2006/main">
              <a:ext uri="{FF2B5EF4-FFF2-40B4-BE49-F238E27FC236}">
                <a16:creationId xmlns:a16="http://schemas.microsoft.com/office/drawing/2014/main" id="{2E934D7B-91FD-43AE-8EA6-448EEAD6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53350"/>
            <a:ext cx="1295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案例正文按索引行号读取，长索引须先完整读完；每轮保存内容哈希与只读快照。</a:t>
            </a:r>
          </a:p>
        </p:txBody>
      </p:sp>
      <p:sp>
        <p:nvSpPr>
          <p:cNvPr id="45" name="reference-role">
            <a:extLst xmlns:a="http://schemas.openxmlformats.org/drawingml/2006/main">
              <a:ext uri="{FF2B5EF4-FFF2-40B4-BE49-F238E27FC236}">
                <a16:creationId xmlns:a16="http://schemas.microsoft.com/office/drawing/2014/main" id="{CC159F62-B01A-4A22-8BD6-884288E1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153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背景与案例提供待核条件，最终判断需由当前源码与运行约束支撑。</a:t>
            </a:r>
          </a:p>
        </p:txBody>
      </p:sp>
    </p:spTree>
    <p:extLst>
      <p:ext uri="{BB962C8B-B14F-4D97-AF65-F5344CB8AC3E}">
        <p14:creationId xmlns:p14="http://schemas.microsoft.com/office/powerpoint/2010/main" val="179284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6C101471-E1A7-42EA-869E-EBF85035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96A3B1-A82B-462F-8E5D-E09DB6DC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提示词要求的八步源码复核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3D3153-C69E-46B1-A090-CC085224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八步属于同一次变量复核的检查顺序，最终只提交一个变量级 JSON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6B73C0-69E7-46C2-84A9-BDC6DE31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review-step-1">
            <a:extLst xmlns:a="http://schemas.openxmlformats.org/drawingml/2006/main">
              <a:ext uri="{FF2B5EF4-FFF2-40B4-BE49-F238E27FC236}">
                <a16:creationId xmlns:a16="http://schemas.microsoft.com/office/drawing/2014/main" id="{90225858-228C-4237-BDDD-A25C1752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714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D05D27A9-B0D7-4AE0-A3E7-E0DDF52F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step-heading-1">
            <a:extLst xmlns:a="http://schemas.openxmlformats.org/drawingml/2006/main">
              <a:ext uri="{FF2B5EF4-FFF2-40B4-BE49-F238E27FC236}">
                <a16:creationId xmlns:a16="http://schemas.microsoft.com/office/drawing/2014/main" id="{5621FAE6-01A7-4EC9-9CB2-FEF617CD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2895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确认共享对象</a:t>
            </a:r>
          </a:p>
        </p:txBody>
      </p:sp>
      <p:sp>
        <p:nvSpPr>
          <p:cNvPr id="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6C73B37-E56C-4B9B-B477-148A7532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590925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声明、全部读写</a:t>
            </a:r>
          </a:p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别名、宏与实例</a:t>
            </a:r>
          </a:p>
        </p:txBody>
      </p:sp>
      <p:sp>
        <p:nvSpPr>
          <p:cNvPr id="9" name="review-step-2">
            <a:extLst xmlns:a="http://schemas.openxmlformats.org/drawingml/2006/main">
              <a:ext uri="{FF2B5EF4-FFF2-40B4-BE49-F238E27FC236}">
                <a16:creationId xmlns:a16="http://schemas.microsoft.com/office/drawing/2014/main" id="{1C503E01-648F-4062-8BC5-84F28B5E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2714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10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A6BDD784-678B-4138-B636-B02769F3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9908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step-heading-2">
            <a:extLst xmlns:a="http://schemas.openxmlformats.org/drawingml/2006/main">
              <a:ext uri="{FF2B5EF4-FFF2-40B4-BE49-F238E27FC236}">
                <a16:creationId xmlns:a16="http://schemas.microsoft.com/office/drawing/2014/main" id="{20FBF3DA-31E2-42A3-8EE5-CBAAA7AE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02895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恢复真实执行者</a:t>
            </a:r>
          </a:p>
        </p:txBody>
      </p:sp>
      <p:sp>
        <p:nvSpPr>
          <p:cNvPr id="1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414FC2C2-015F-4B83-A407-37A9E85E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90925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任务、IRQ、DMA</a:t>
            </a:r>
          </a:p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初始化与运行阶段</a:t>
            </a:r>
          </a:p>
        </p:txBody>
      </p:sp>
      <p:sp>
        <p:nvSpPr>
          <p:cNvPr id="13" name="review-step-3">
            <a:extLst xmlns:a="http://schemas.openxmlformats.org/drawingml/2006/main">
              <a:ext uri="{FF2B5EF4-FFF2-40B4-BE49-F238E27FC236}">
                <a16:creationId xmlns:a16="http://schemas.microsoft.com/office/drawing/2014/main" id="{6F5EF322-75AA-467D-94A2-9FEFF635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714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1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0710DC73-337C-48E2-BAB5-1885EF0B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908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step-heading-3">
            <a:extLst xmlns:a="http://schemas.openxmlformats.org/drawingml/2006/main">
              <a:ext uri="{FF2B5EF4-FFF2-40B4-BE49-F238E27FC236}">
                <a16:creationId xmlns:a16="http://schemas.microsoft.com/office/drawing/2014/main" id="{3030E888-8288-4823-AD39-33EC324D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2895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追踪旧值传播</a:t>
            </a:r>
          </a:p>
        </p:txBody>
      </p:sp>
      <p:sp>
        <p:nvSpPr>
          <p:cNvPr id="1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B32A5449-E7CB-44D4-9ABA-579AAC16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90925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旧值跨函数传递</a:t>
            </a:r>
          </a:p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隐式读改写与写回</a:t>
            </a:r>
          </a:p>
        </p:txBody>
      </p:sp>
      <p:sp>
        <p:nvSpPr>
          <p:cNvPr id="17" name="review-step-4">
            <a:extLst xmlns:a="http://schemas.openxmlformats.org/drawingml/2006/main">
              <a:ext uri="{FF2B5EF4-FFF2-40B4-BE49-F238E27FC236}">
                <a16:creationId xmlns:a16="http://schemas.microsoft.com/office/drawing/2014/main" id="{A5ABAF44-9BE8-4A50-8DA6-368CD8C8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2857500"/>
            <a:ext cx="2714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</p:sp>
      <p:sp>
        <p:nvSpPr>
          <p:cNvPr id="18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0201F6C0-FEB3-4691-BB61-EF5FCB85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9908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step-heading-4">
            <a:extLst xmlns:a="http://schemas.openxmlformats.org/drawingml/2006/main">
              <a:ext uri="{FF2B5EF4-FFF2-40B4-BE49-F238E27FC236}">
                <a16:creationId xmlns:a16="http://schemas.microsoft.com/office/drawing/2014/main" id="{FAEFBFB9-A28F-4BB7-B92E-62EED69A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75" y="302895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构造危险交错</a:t>
            </a:r>
          </a:p>
        </p:txBody>
      </p:sp>
      <p:sp>
        <p:nvSpPr>
          <p:cNvPr id="20" name="step-body-4">
            <a:extLst xmlns:a="http://schemas.openxmlformats.org/drawingml/2006/main">
              <a:ext uri="{FF2B5EF4-FFF2-40B4-BE49-F238E27FC236}">
                <a16:creationId xmlns:a16="http://schemas.microsoft.com/office/drawing/2014/main" id="{88B4602E-4D37-4D1C-830F-4CC65B14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3590925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核实抢占与硬件条件</a:t>
            </a:r>
          </a:p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说明具体错误结果</a:t>
            </a:r>
          </a:p>
        </p:txBody>
      </p:sp>
      <p:sp>
        <p:nvSpPr>
          <p:cNvPr id="21" name="review-step-5">
            <a:extLst xmlns:a="http://schemas.openxmlformats.org/drawingml/2006/main">
              <a:ext uri="{FF2B5EF4-FFF2-40B4-BE49-F238E27FC236}">
                <a16:creationId xmlns:a16="http://schemas.microsoft.com/office/drawing/2014/main" id="{C9271BA7-F794-4A08-B054-55EB2119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619750"/>
            <a:ext cx="2714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</p:sp>
      <p:sp>
        <p:nvSpPr>
          <p:cNvPr id="22" name="step-number-5">
            <a:extLst xmlns:a="http://schemas.openxmlformats.org/drawingml/2006/main">
              <a:ext uri="{FF2B5EF4-FFF2-40B4-BE49-F238E27FC236}">
                <a16:creationId xmlns:a16="http://schemas.microsoft.com/office/drawing/2014/main" id="{6C571A50-F56A-4A9F-91BF-EFF8A273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75310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step-heading-5">
            <a:extLst xmlns:a="http://schemas.openxmlformats.org/drawingml/2006/main">
              <a:ext uri="{FF2B5EF4-FFF2-40B4-BE49-F238E27FC236}">
                <a16:creationId xmlns:a16="http://schemas.microsoft.com/office/drawing/2014/main" id="{5ECB330D-0DE4-4188-A3A1-FB6E9174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75" y="579120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核查业务协议</a:t>
            </a:r>
          </a:p>
        </p:txBody>
      </p:sp>
      <p:sp>
        <p:nvSpPr>
          <p:cNvPr id="24" name="step-body-5">
            <a:extLst xmlns:a="http://schemas.openxmlformats.org/drawingml/2006/main">
              <a:ext uri="{FF2B5EF4-FFF2-40B4-BE49-F238E27FC236}">
                <a16:creationId xmlns:a16="http://schemas.microsoft.com/office/drawing/2014/main" id="{5B46C491-6E52-470E-89F7-A9479122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353175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关联状态与数据</a:t>
            </a:r>
          </a:p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生命周期与所有权</a:t>
            </a:r>
          </a:p>
        </p:txBody>
      </p:sp>
      <p:sp>
        <p:nvSpPr>
          <p:cNvPr id="25" name="review-step-6">
            <a:extLst xmlns:a="http://schemas.openxmlformats.org/drawingml/2006/main">
              <a:ext uri="{FF2B5EF4-FFF2-40B4-BE49-F238E27FC236}">
                <a16:creationId xmlns:a16="http://schemas.microsoft.com/office/drawing/2014/main" id="{910ED694-114E-4834-9638-70FCD9A1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19750"/>
            <a:ext cx="2714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</p:sp>
      <p:sp>
        <p:nvSpPr>
          <p:cNvPr id="26" name="step-number-6">
            <a:extLst xmlns:a="http://schemas.openxmlformats.org/drawingml/2006/main">
              <a:ext uri="{FF2B5EF4-FFF2-40B4-BE49-F238E27FC236}">
                <a16:creationId xmlns:a16="http://schemas.microsoft.com/office/drawing/2014/main" id="{1A3D0697-D846-49BC-B929-C2730F23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5310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step-heading-6">
            <a:extLst xmlns:a="http://schemas.openxmlformats.org/drawingml/2006/main">
              <a:ext uri="{FF2B5EF4-FFF2-40B4-BE49-F238E27FC236}">
                <a16:creationId xmlns:a16="http://schemas.microsoft.com/office/drawing/2014/main" id="{F0F85508-6DAB-4797-8D29-664867A4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79120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核查完整保护</a:t>
            </a:r>
          </a:p>
        </p:txBody>
      </p:sp>
      <p:sp>
        <p:nvSpPr>
          <p:cNvPr id="28" name="step-body-6">
            <a:extLst xmlns:a="http://schemas.openxmlformats.org/drawingml/2006/main">
              <a:ext uri="{FF2B5EF4-FFF2-40B4-BE49-F238E27FC236}">
                <a16:creationId xmlns:a16="http://schemas.microsoft.com/office/drawing/2014/main" id="{B14A8A68-37C0-48C8-B3E2-94F7C3DB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353175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覆盖读到写回全窗口</a:t>
            </a:r>
          </a:p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核对所有真实参与者</a:t>
            </a:r>
          </a:p>
        </p:txBody>
      </p:sp>
      <p:sp>
        <p:nvSpPr>
          <p:cNvPr id="29" name="review-step-7">
            <a:extLst xmlns:a="http://schemas.openxmlformats.org/drawingml/2006/main">
              <a:ext uri="{FF2B5EF4-FFF2-40B4-BE49-F238E27FC236}">
                <a16:creationId xmlns:a16="http://schemas.microsoft.com/office/drawing/2014/main" id="{9E629E1A-F496-4389-8B8E-02E9E8C8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619750"/>
            <a:ext cx="2714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</p:sp>
      <p:sp>
        <p:nvSpPr>
          <p:cNvPr id="30" name="step-number-7">
            <a:extLst xmlns:a="http://schemas.openxmlformats.org/drawingml/2006/main">
              <a:ext uri="{FF2B5EF4-FFF2-40B4-BE49-F238E27FC236}">
                <a16:creationId xmlns:a16="http://schemas.microsoft.com/office/drawing/2014/main" id="{CA47FFAB-4590-43D7-A6F5-86FE7F2A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75310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1" name="step-heading-7">
            <a:extLst xmlns:a="http://schemas.openxmlformats.org/drawingml/2006/main">
              <a:ext uri="{FF2B5EF4-FFF2-40B4-BE49-F238E27FC236}">
                <a16:creationId xmlns:a16="http://schemas.microsoft.com/office/drawing/2014/main" id="{CD2B9CBD-0916-4B8E-B5C5-72FF70CA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79120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应用案例启发</a:t>
            </a:r>
          </a:p>
        </p:txBody>
      </p:sp>
      <p:sp>
        <p:nvSpPr>
          <p:cNvPr id="32" name="step-body-7">
            <a:extLst xmlns:a="http://schemas.openxmlformats.org/drawingml/2006/main">
              <a:ext uri="{FF2B5EF4-FFF2-40B4-BE49-F238E27FC236}">
                <a16:creationId xmlns:a16="http://schemas.microsoft.com/office/drawing/2014/main" id="{5DFE53CA-129A-42F0-97B1-8E0E641C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353175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案例机制与误判陷阱</a:t>
            </a:r>
          </a:p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同时寻找库外模式</a:t>
            </a:r>
          </a:p>
        </p:txBody>
      </p:sp>
      <p:sp>
        <p:nvSpPr>
          <p:cNvPr id="33" name="review-step-8">
            <a:extLst xmlns:a="http://schemas.openxmlformats.org/drawingml/2006/main">
              <a:ext uri="{FF2B5EF4-FFF2-40B4-BE49-F238E27FC236}">
                <a16:creationId xmlns:a16="http://schemas.microsoft.com/office/drawing/2014/main" id="{60F6F5AD-21EF-4898-BDF1-B87FE4A0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2714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</p:sp>
      <p:sp>
        <p:nvSpPr>
          <p:cNvPr id="34" name="step-number-8">
            <a:extLst xmlns:a="http://schemas.openxmlformats.org/drawingml/2006/main">
              <a:ext uri="{FF2B5EF4-FFF2-40B4-BE49-F238E27FC236}">
                <a16:creationId xmlns:a16="http://schemas.microsoft.com/office/drawing/2014/main" id="{A2658B71-61D9-4892-9456-53FA5758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5" name="step-heading-8">
            <a:extLst xmlns:a="http://schemas.openxmlformats.org/drawingml/2006/main">
              <a:ext uri="{FF2B5EF4-FFF2-40B4-BE49-F238E27FC236}">
                <a16:creationId xmlns:a16="http://schemas.microsoft.com/office/drawing/2014/main" id="{7A75B123-3CAC-41ED-A1E5-AE2E8620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91200"/>
            <a:ext cx="1952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反向验证结论</a:t>
            </a:r>
          </a:p>
        </p:txBody>
      </p:sp>
      <p:sp>
        <p:nvSpPr>
          <p:cNvPr id="36" name="step-body-8">
            <a:extLst xmlns:a="http://schemas.openxmlformats.org/drawingml/2006/main">
              <a:ext uri="{FF2B5EF4-FFF2-40B4-BE49-F238E27FC236}">
                <a16:creationId xmlns:a16="http://schemas.microsoft.com/office/drawing/2014/main" id="{13B93BCB-7A20-4F53-B503-C3AEBC46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353175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查找不可达、互斥</a:t>
            </a:r>
          </a:p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关键事实未知则补证</a:t>
            </a:r>
          </a:p>
        </p:txBody>
      </p:sp>
      <p:cxnSp>
        <p:nvCxnSpPr>
          <p:cNvPr id="83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76625" y="359568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143750" y="359568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810875" y="359568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1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3120688" y="4333875"/>
            <a:ext cx="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7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21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10810875" y="635793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8" name=""/>
          <p:cNvCxnSpPr>
            <a:stCxn xmlns:a="http://schemas.openxmlformats.org/drawingml/2006/main" id="25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7143750" y="635793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29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3476625" y="635793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4" name="critical-window">
            <a:extLst xmlns:a="http://schemas.openxmlformats.org/drawingml/2006/main">
              <a:ext uri="{FF2B5EF4-FFF2-40B4-BE49-F238E27FC236}">
                <a16:creationId xmlns:a16="http://schemas.microsoft.com/office/drawing/2014/main" id="{BB7F088A-568A-479C-8990-E9B470A4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重点核查旧值读取到写回的整个窗口，以及真正能介入的写者</a:t>
            </a:r>
          </a:p>
        </p:txBody>
      </p:sp>
      <p:sp>
        <p:nvSpPr>
          <p:cNvPr id="45" name="confirmation-threshold">
            <a:extLst xmlns:a="http://schemas.openxmlformats.org/drawingml/2006/main">
              <a:ext uri="{FF2B5EF4-FFF2-40B4-BE49-F238E27FC236}">
                <a16:creationId xmlns:a16="http://schemas.microsoft.com/office/drawing/2014/main" id="{8E2553B2-D2E1-4E16-AE1B-1CCF6174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81900"/>
            <a:ext cx="1295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确认风险需要真实参与者、可行交错、保护不足及源码支持的具体错误结果。</a:t>
            </a:r>
          </a:p>
        </p:txBody>
      </p:sp>
      <p:sp>
        <p:nvSpPr>
          <p:cNvPr id="46" name="missing-threshold">
            <a:extLst xmlns:a="http://schemas.openxmlformats.org/drawingml/2006/main">
              <a:ext uri="{FF2B5EF4-FFF2-40B4-BE49-F238E27FC236}">
                <a16:creationId xmlns:a16="http://schemas.microsoft.com/office/drawing/2014/main" id="{39A52FEF-B2B2-4135-BE10-2CBE2CB8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81950"/>
            <a:ext cx="1295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决定性实现或运行条件未知时，保留 LIKELY / NEED_MORE_CONTEXT 并说明缺口。</a:t>
            </a:r>
          </a:p>
        </p:txBody>
      </p:sp>
    </p:spTree>
    <p:extLst>
      <p:ext uri="{BB962C8B-B14F-4D97-AF65-F5344CB8AC3E}">
        <p14:creationId xmlns:p14="http://schemas.microsoft.com/office/powerpoint/2010/main" val="1590923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5E63359F-C80F-4D82-B841-5CFA1454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935CED-7549-419B-88BA-9BA299FA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一次 OpenCode 调用的时序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317BDBA-8A71-487A-8243-A72C25B8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此图展示正常答复路径，校验失败和补核查分支在下一页展开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68C7CA-FACC-48B1-B6B1-F5BEF4C8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participant-ECRA 调度">
            <a:extLst xmlns:a="http://schemas.openxmlformats.org/drawingml/2006/main">
              <a:ext uri="{FF2B5EF4-FFF2-40B4-BE49-F238E27FC236}">
                <a16:creationId xmlns:a16="http://schemas.microsoft.com/office/drawing/2014/main" id="{27981140-8197-4424-BFF2-CB839C01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3362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ECRA 调度</a:t>
            </a:r>
          </a:p>
        </p:txBody>
      </p:sp>
      <p:sp>
        <p:nvSpPr>
          <p:cNvPr id="6" name="anchor-53">
            <a:extLst xmlns:a="http://schemas.openxmlformats.org/drawingml/2006/main">
              <a:ext uri="{FF2B5EF4-FFF2-40B4-BE49-F238E27FC236}">
                <a16:creationId xmlns:a16="http://schemas.microsoft.com/office/drawing/2014/main" id="{B2923403-AC28-49E5-B129-A1C42ED4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81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anchor-54">
            <a:extLst xmlns:a="http://schemas.openxmlformats.org/drawingml/2006/main">
              <a:ext uri="{FF2B5EF4-FFF2-40B4-BE49-F238E27FC236}">
                <a16:creationId xmlns:a16="http://schemas.microsoft.com/office/drawing/2014/main" id="{2F4CCCA8-93F9-4409-B678-A1DC9EC5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7610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524000" y="3200400"/>
            <a:ext cx="0" cy="4410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9" name="participant-OpenCode&#10;运行器">
            <a:extLst xmlns:a="http://schemas.openxmlformats.org/drawingml/2006/main">
              <a:ext uri="{FF2B5EF4-FFF2-40B4-BE49-F238E27FC236}">
                <a16:creationId xmlns:a16="http://schemas.microsoft.com/office/drawing/2014/main" id="{E943F99E-3B84-413F-BB2B-FB753E34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33625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OpenCode</a:t>
            </a:r>
          </a:p>
          <a:p xmlns:a="http://schemas.openxmlformats.org/drawingml/2006/main">
            <a:pPr algn="ctr">
              <a:def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运行器</a:t>
            </a:r>
          </a:p>
        </p:txBody>
      </p:sp>
      <p:sp>
        <p:nvSpPr>
          <p:cNvPr id="10" name="anchor-55">
            <a:extLst xmlns:a="http://schemas.openxmlformats.org/drawingml/2006/main">
              <a:ext uri="{FF2B5EF4-FFF2-40B4-BE49-F238E27FC236}">
                <a16:creationId xmlns:a16="http://schemas.microsoft.com/office/drawing/2014/main" id="{B2129089-0ADE-43BC-B8C3-1085E826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81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anchor-56">
            <a:extLst xmlns:a="http://schemas.openxmlformats.org/drawingml/2006/main">
              <a:ext uri="{FF2B5EF4-FFF2-40B4-BE49-F238E27FC236}">
                <a16:creationId xmlns:a16="http://schemas.microsoft.com/office/drawing/2014/main" id="{3B60AAD9-4288-4DC1-ADE6-7C3DAEC5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610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476750" y="3200400"/>
            <a:ext cx="0" cy="4410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13" name="participant-源码与资料">
            <a:extLst xmlns:a="http://schemas.openxmlformats.org/drawingml/2006/main">
              <a:ext uri="{FF2B5EF4-FFF2-40B4-BE49-F238E27FC236}">
                <a16:creationId xmlns:a16="http://schemas.microsoft.com/office/drawing/2014/main" id="{8171A85D-42AD-483C-82D2-DA8C5A63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源码与资料</a:t>
            </a:r>
          </a:p>
        </p:txBody>
      </p:sp>
      <p:sp>
        <p:nvSpPr>
          <p:cNvPr id="14" name="anchor-57">
            <a:extLst xmlns:a="http://schemas.openxmlformats.org/drawingml/2006/main">
              <a:ext uri="{FF2B5EF4-FFF2-40B4-BE49-F238E27FC236}">
                <a16:creationId xmlns:a16="http://schemas.microsoft.com/office/drawing/2014/main" id="{1B1C0CCC-3076-4FE8-B8FF-2FC5AB59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81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anchor-58">
            <a:extLst xmlns:a="http://schemas.openxmlformats.org/drawingml/2006/main">
              <a:ext uri="{FF2B5EF4-FFF2-40B4-BE49-F238E27FC236}">
                <a16:creationId xmlns:a16="http://schemas.microsoft.com/office/drawing/2014/main" id="{A9EB0A61-6B3D-4CAD-B49B-D6FAD2E8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7610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7429500" y="3200400"/>
            <a:ext cx="0" cy="4410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17" name="participant-答案校验">
            <a:extLst xmlns:a="http://schemas.openxmlformats.org/drawingml/2006/main">
              <a:ext uri="{FF2B5EF4-FFF2-40B4-BE49-F238E27FC236}">
                <a16:creationId xmlns:a16="http://schemas.microsoft.com/office/drawing/2014/main" id="{CACAE9FB-106F-490F-8C8F-737AD53D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33625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答案校验</a:t>
            </a:r>
          </a:p>
        </p:txBody>
      </p:sp>
      <p:sp>
        <p:nvSpPr>
          <p:cNvPr id="18" name="anchor-59">
            <a:extLst xmlns:a="http://schemas.openxmlformats.org/drawingml/2006/main">
              <a:ext uri="{FF2B5EF4-FFF2-40B4-BE49-F238E27FC236}">
                <a16:creationId xmlns:a16="http://schemas.microsoft.com/office/drawing/2014/main" id="{E5D712F0-4E49-4FBD-96C9-3B500E98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181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anchor-60">
            <a:extLst xmlns:a="http://schemas.openxmlformats.org/drawingml/2006/main">
              <a:ext uri="{FF2B5EF4-FFF2-40B4-BE49-F238E27FC236}">
                <a16:creationId xmlns:a16="http://schemas.microsoft.com/office/drawing/2014/main" id="{FE2F4D2C-6F30-408E-8AFB-6C91E782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7610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0382250" y="3200400"/>
            <a:ext cx="0" cy="4410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21" name="participant-队列与归档">
            <a:extLst xmlns:a="http://schemas.openxmlformats.org/drawingml/2006/main">
              <a:ext uri="{FF2B5EF4-FFF2-40B4-BE49-F238E27FC236}">
                <a16:creationId xmlns:a16="http://schemas.microsoft.com/office/drawing/2014/main" id="{DC657ECD-42B3-4DB8-A8EA-810A56BF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33362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队列与归档</a:t>
            </a:r>
          </a:p>
        </p:txBody>
      </p:sp>
      <p:sp>
        <p:nvSpPr>
          <p:cNvPr id="22" name="anchor-61">
            <a:extLst xmlns:a="http://schemas.openxmlformats.org/drawingml/2006/main">
              <a:ext uri="{FF2B5EF4-FFF2-40B4-BE49-F238E27FC236}">
                <a16:creationId xmlns:a16="http://schemas.microsoft.com/office/drawing/2014/main" id="{6ACDBE3A-00C1-43BF-90CE-0C659757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3181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anchor-62">
            <a:extLst xmlns:a="http://schemas.openxmlformats.org/drawingml/2006/main">
              <a:ext uri="{FF2B5EF4-FFF2-40B4-BE49-F238E27FC236}">
                <a16:creationId xmlns:a16="http://schemas.microsoft.com/office/drawing/2014/main" id="{37CD71B5-37B3-4715-812A-41C52D53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7610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3335000" y="3200400"/>
            <a:ext cx="0" cy="4410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25" name="anchor-63">
            <a:extLst xmlns:a="http://schemas.openxmlformats.org/drawingml/2006/main">
              <a:ext uri="{FF2B5EF4-FFF2-40B4-BE49-F238E27FC236}">
                <a16:creationId xmlns:a16="http://schemas.microsoft.com/office/drawing/2014/main" id="{42BB086D-9A93-4325-B34F-C047749B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705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anchor-64">
            <a:extLst xmlns:a="http://schemas.openxmlformats.org/drawingml/2006/main">
              <a:ext uri="{FF2B5EF4-FFF2-40B4-BE49-F238E27FC236}">
                <a16:creationId xmlns:a16="http://schemas.microsoft.com/office/drawing/2014/main" id="{03AC0D97-F2BD-47DE-AC27-2C20DCBD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705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533525" y="3714750"/>
            <a:ext cx="2933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8" name="message-65">
            <a:extLst xmlns:a="http://schemas.openxmlformats.org/drawingml/2006/main">
              <a:ext uri="{FF2B5EF4-FFF2-40B4-BE49-F238E27FC236}">
                <a16:creationId xmlns:a16="http://schemas.microsoft.com/office/drawing/2014/main" id="{260A9026-7F66-41E5-A0BB-FCCEDA3F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62325"/>
            <a:ext cx="2724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1 提交提示词和附件</a:t>
            </a:r>
          </a:p>
        </p:txBody>
      </p:sp>
      <p:sp>
        <p:nvSpPr>
          <p:cNvPr id="29" name="anchor-66">
            <a:extLst xmlns:a="http://schemas.openxmlformats.org/drawingml/2006/main">
              <a:ext uri="{FF2B5EF4-FFF2-40B4-BE49-F238E27FC236}">
                <a16:creationId xmlns:a16="http://schemas.microsoft.com/office/drawing/2014/main" id="{5DA25223-E6DD-445D-BCC8-FE0E0A64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67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67">
            <a:extLst xmlns:a="http://schemas.openxmlformats.org/drawingml/2006/main">
              <a:ext uri="{FF2B5EF4-FFF2-40B4-BE49-F238E27FC236}">
                <a16:creationId xmlns:a16="http://schemas.microsoft.com/office/drawing/2014/main" id="{6AEADB48-6B2E-4789-82D5-31153028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467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4486275" y="4476750"/>
            <a:ext cx="2933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2" name="message-68">
            <a:extLst xmlns:a="http://schemas.openxmlformats.org/drawingml/2006/main">
              <a:ext uri="{FF2B5EF4-FFF2-40B4-BE49-F238E27FC236}">
                <a16:creationId xmlns:a16="http://schemas.microsoft.com/office/drawing/2014/main" id="{FA53E4C7-FD7C-4E0C-AE8D-ADA1EF1A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243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2 分段读取并核对证据</a:t>
            </a:r>
          </a:p>
        </p:txBody>
      </p:sp>
      <p:sp>
        <p:nvSpPr>
          <p:cNvPr id="33" name="anchor-69">
            <a:extLst xmlns:a="http://schemas.openxmlformats.org/drawingml/2006/main">
              <a:ext uri="{FF2B5EF4-FFF2-40B4-BE49-F238E27FC236}">
                <a16:creationId xmlns:a16="http://schemas.microsoft.com/office/drawing/2014/main" id="{77C46F14-1416-4391-9B1A-FE30C12D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086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anchor-70">
            <a:extLst xmlns:a="http://schemas.openxmlformats.org/drawingml/2006/main">
              <a:ext uri="{FF2B5EF4-FFF2-40B4-BE49-F238E27FC236}">
                <a16:creationId xmlns:a16="http://schemas.microsoft.com/office/drawing/2014/main" id="{844A94CC-46BD-4CAF-9A0D-2A695069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086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33" idx="1"/>
            <a:endCxn xmlns:a="http://schemas.openxmlformats.org/drawingml/2006/main" id="34" idx="3"/>
          </p:cNvCxnSpPr>
          <p:nvPr/>
        </p:nvCxnSpPr>
        <p:spPr>
          <a:xfrm xmlns:a="http://schemas.openxmlformats.org/drawingml/2006/main" flipH="1">
            <a:off x="4486275" y="5095875"/>
            <a:ext cx="2933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36" name="message-71">
            <a:extLst xmlns:a="http://schemas.openxmlformats.org/drawingml/2006/main">
              <a:ext uri="{FF2B5EF4-FFF2-40B4-BE49-F238E27FC236}">
                <a16:creationId xmlns:a16="http://schemas.microsoft.com/office/drawing/2014/main" id="{E04DC6F9-AA38-4F34-BB6A-E593AF84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43450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源码、背景、案例正文</a:t>
            </a:r>
          </a:p>
        </p:txBody>
      </p:sp>
      <p:sp>
        <p:nvSpPr>
          <p:cNvPr id="37" name="anchor-72">
            <a:extLst xmlns:a="http://schemas.openxmlformats.org/drawingml/2006/main">
              <a:ext uri="{FF2B5EF4-FFF2-40B4-BE49-F238E27FC236}">
                <a16:creationId xmlns:a16="http://schemas.microsoft.com/office/drawing/2014/main" id="{66456D51-CD5D-442D-8740-931B2B6D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753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anchor-73">
            <a:extLst xmlns:a="http://schemas.openxmlformats.org/drawingml/2006/main">
              <a:ext uri="{FF2B5EF4-FFF2-40B4-BE49-F238E27FC236}">
                <a16:creationId xmlns:a16="http://schemas.microsoft.com/office/drawing/2014/main" id="{E41DCA99-29D6-464C-860C-FF380E12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753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486275" y="5762625"/>
            <a:ext cx="5886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0" name="message-74">
            <a:extLst xmlns:a="http://schemas.openxmlformats.org/drawingml/2006/main">
              <a:ext uri="{FF2B5EF4-FFF2-40B4-BE49-F238E27FC236}">
                <a16:creationId xmlns:a16="http://schemas.microsoft.com/office/drawing/2014/main" id="{77DE3A52-B089-48E8-8BCA-6588CE8B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10200"/>
            <a:ext cx="5810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3 解析 JSONL，提取并校验最终 JSON</a:t>
            </a:r>
          </a:p>
        </p:txBody>
      </p:sp>
      <p:sp>
        <p:nvSpPr>
          <p:cNvPr id="41" name="anchor-75">
            <a:extLst xmlns:a="http://schemas.openxmlformats.org/drawingml/2006/main">
              <a:ext uri="{FF2B5EF4-FFF2-40B4-BE49-F238E27FC236}">
                <a16:creationId xmlns:a16="http://schemas.microsoft.com/office/drawing/2014/main" id="{05A4219F-F6B1-4B74-B485-913D3059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6515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anchor-76">
            <a:extLst xmlns:a="http://schemas.openxmlformats.org/drawingml/2006/main">
              <a:ext uri="{FF2B5EF4-FFF2-40B4-BE49-F238E27FC236}">
                <a16:creationId xmlns:a16="http://schemas.microsoft.com/office/drawing/2014/main" id="{8B5632EF-E5EC-4A6F-BB88-F8549A56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6515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0391775" y="6524625"/>
            <a:ext cx="2933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4" name="message-77">
            <a:extLst xmlns:a="http://schemas.openxmlformats.org/drawingml/2006/main">
              <a:ext uri="{FF2B5EF4-FFF2-40B4-BE49-F238E27FC236}">
                <a16:creationId xmlns:a16="http://schemas.microsoft.com/office/drawing/2014/main" id="{BFD3BC19-A1B6-4B01-9469-948DE7B0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172200"/>
            <a:ext cx="2714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4 校验后落盘</a:t>
            </a:r>
          </a:p>
        </p:txBody>
      </p:sp>
      <p:sp>
        <p:nvSpPr>
          <p:cNvPr id="45" name="anchor-78">
            <a:extLst xmlns:a="http://schemas.openxmlformats.org/drawingml/2006/main">
              <a:ext uri="{FF2B5EF4-FFF2-40B4-BE49-F238E27FC236}">
                <a16:creationId xmlns:a16="http://schemas.microsoft.com/office/drawing/2014/main" id="{562AE9AE-8745-4A4B-840F-80A67CFB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7324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anchor-79">
            <a:extLst xmlns:a="http://schemas.openxmlformats.org/drawingml/2006/main">
              <a:ext uri="{FF2B5EF4-FFF2-40B4-BE49-F238E27FC236}">
                <a16:creationId xmlns:a16="http://schemas.microsoft.com/office/drawing/2014/main" id="{36C49131-8258-46E3-945E-37AE4E00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7324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45" idx="1"/>
            <a:endCxn xmlns:a="http://schemas.openxmlformats.org/drawingml/2006/main" id="46" idx="3"/>
          </p:cNvCxnSpPr>
          <p:nvPr/>
        </p:nvCxnSpPr>
        <p:spPr>
          <a:xfrm xmlns:a="http://schemas.openxmlformats.org/drawingml/2006/main" flipH="1">
            <a:off x="1533525" y="7334250"/>
            <a:ext cx="117919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48" name="message-80">
            <a:extLst xmlns:a="http://schemas.openxmlformats.org/drawingml/2006/main">
              <a:ext uri="{FF2B5EF4-FFF2-40B4-BE49-F238E27FC236}">
                <a16:creationId xmlns:a16="http://schemas.microsoft.com/office/drawing/2014/main" id="{B96B0601-76D0-4F39-996B-9C6419F1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981825"/>
            <a:ext cx="8953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5 队列按项更新，汇总报告并保留原始调用记录</a:t>
            </a:r>
          </a:p>
        </p:txBody>
      </p:sp>
      <p:sp>
        <p:nvSpPr>
          <p:cNvPr id="49" name="analyze-command">
            <a:extLst xmlns:a="http://schemas.openxmlformats.org/drawingml/2006/main">
              <a:ext uri="{FF2B5EF4-FFF2-40B4-BE49-F238E27FC236}">
                <a16:creationId xmlns:a16="http://schemas.microsoft.com/office/drawing/2014/main" id="{37F74EF8-BFFC-4358-88EE-5DD89367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0"/>
            <a:ext cx="12954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738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D7388"/>
                </a:solidFill>
                <a:latin typeface="Consolas"/>
                <a:ea typeface="Consolas"/>
                <a:cs typeface="Consolas"/>
              </a:rPr>
              <a:t>分析调用：opencode run --agent ecra-review --format json --file &lt;Packet&gt;</a:t>
            </a:r>
          </a:p>
        </p:txBody>
      </p:sp>
      <p:sp>
        <p:nvSpPr>
          <p:cNvPr id="50" name="permissions-and-stdin">
            <a:extLst xmlns:a="http://schemas.openxmlformats.org/drawingml/2006/main">
              <a:ext uri="{FF2B5EF4-FFF2-40B4-BE49-F238E27FC236}">
                <a16:creationId xmlns:a16="http://schemas.microsoft.com/office/drawing/2014/main" id="{973DDB6A-0119-4BCE-BFE1-00A06698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72450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源码按权限只读，写入与 Shell 关闭。长 Prompt 通过标准输入完整传入。</a:t>
            </a:r>
          </a:p>
        </p:txBody>
      </p:sp>
    </p:spTree>
    <p:extLst>
      <p:ext uri="{BB962C8B-B14F-4D97-AF65-F5344CB8AC3E}">
        <p14:creationId xmlns:p14="http://schemas.microsoft.com/office/powerpoint/2010/main" val="20318889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6A658F4B-CF12-4E69-BCAA-F2D0E898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4351B8-7937-4291-B821-29E4D056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答案校验与三类重试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3BD2F59-EFB4-46AB-9B12-0E4FBFA0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执行故障、输出格式故障和特定安全疑点分别处理，失败原因保留在归档中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EEBB5CD-2BA7-4BB4-91E9-79B69CC5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validation-0">
            <a:extLst xmlns:a="http://schemas.openxmlformats.org/drawingml/2006/main">
              <a:ext uri="{FF2B5EF4-FFF2-40B4-BE49-F238E27FC236}">
                <a16:creationId xmlns:a16="http://schemas.microsoft.com/office/drawing/2014/main" id="{338C70B8-D05C-40F3-B7BF-B2C368DC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714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解析最终 JSON</a:t>
            </a:r>
          </a:p>
          <a:p xmlns:a="http://schemas.openxmlformats.org/drawingml/2006/main">
            <a:pPr algn="ctr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识别错误事件与答复</a:t>
            </a:r>
          </a:p>
        </p:txBody>
      </p:sp>
      <p:sp>
        <p:nvSpPr>
          <p:cNvPr id="6" name="validation-1">
            <a:extLst xmlns:a="http://schemas.openxmlformats.org/drawingml/2006/main">
              <a:ext uri="{FF2B5EF4-FFF2-40B4-BE49-F238E27FC236}">
                <a16:creationId xmlns:a16="http://schemas.microsoft.com/office/drawing/2014/main" id="{8052DD18-EF99-478A-BF3B-D6FE130D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2714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核对输出协议</a:t>
            </a:r>
          </a:p>
          <a:p xmlns:a="http://schemas.openxmlformats.org/drawingml/2006/main">
            <a:pPr algn="ctr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ID、状态、理由与缺口</a:t>
            </a:r>
          </a:p>
        </p:txBody>
      </p:sp>
      <p:sp>
        <p:nvSpPr>
          <p:cNvPr id="7" name="validation-2">
            <a:extLst xmlns:a="http://schemas.openxmlformats.org/drawingml/2006/main">
              <a:ext uri="{FF2B5EF4-FFF2-40B4-BE49-F238E27FC236}">
                <a16:creationId xmlns:a16="http://schemas.microsoft.com/office/drawing/2014/main" id="{D4FC5C6F-3803-40F5-B957-7D6F8118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714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核对源码引用</a:t>
            </a:r>
          </a:p>
          <a:p xmlns:a="http://schemas.openxmlformats.org/drawingml/2006/main">
            <a:pPr algn="ctr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文件、行号与必要依据</a:t>
            </a:r>
          </a:p>
        </p:txBody>
      </p:sp>
      <p:sp>
        <p:nvSpPr>
          <p:cNvPr id="8" name="validation-3">
            <a:extLst xmlns:a="http://schemas.openxmlformats.org/drawingml/2006/main">
              <a:ext uri="{FF2B5EF4-FFF2-40B4-BE49-F238E27FC236}">
                <a16:creationId xmlns:a16="http://schemas.microsoft.com/office/drawing/2014/main" id="{66F0CBED-EE8C-40A4-A5DA-7029CC9C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2571750"/>
            <a:ext cx="2714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条件性安全检查</a:t>
            </a:r>
          </a:p>
          <a:p xmlns:a="http://schemas.openxmlformats.org/drawingml/2006/main">
            <a:pPr algn="ctr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安全答复的窗口依据</a:t>
            </a:r>
          </a:p>
        </p:txBody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76625" y="30956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43750" y="30956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10875" y="30956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graphicFrame>
        <p:nvGraphicFramePr>
          <p:cNvPr id="26" name=""/>
          <p:cNvGraphicFramePr/>
          <p:nvPr/>
        </p:nvGraphicFramePr>
        <p:xfrm>
          <a:off xmlns:a="http://schemas.openxmlformats.org/drawingml/2006/main" x="762000" y="4143375"/>
          <a:ext xmlns:a="http://schemas.openxmlformats.org/drawingml/2006/main" cx="1371600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4762500"/>
                <a:gridCol w="5429250"/>
              </a:tblGrid>
              <a:tr h="8572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问题来源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处理方式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边界与最终状态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</a:tr>
              <a:tr h="8572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执行或提供商故障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retries 设置进行有界重试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仍失败为 TECH_FAILED</a:t>
                      </a:r>
                    </a:p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保留原始错误与日志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JSON / 协议 / 引用错误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最多 2 次格式修复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仅整理原答复，源码工具关闭</a:t>
                      </a:r>
                    </a:p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仍失败为 TECH_FAILED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8572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旧值写回安全答复</a:t>
                      </a:r>
                    </a:p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缺完整窗口依据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最多 1 次聚焦安全复核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允许聚焦源码核查窗口</a:t>
                      </a:r>
                    </a:p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仍失败为 TECH_FAILED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alidation-limits">
            <a:extLst xmlns:a="http://schemas.openxmlformats.org/drawingml/2006/main">
              <a:ext uri="{FF2B5EF4-FFF2-40B4-BE49-F238E27FC236}">
                <a16:creationId xmlns:a16="http://schemas.microsoft.com/office/drawing/2014/main" id="{B8D52C04-6C57-4AB6-B32F-72C4E162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81925"/>
            <a:ext cx="1295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通过校验才进入 DONE；格式与引用检查不能替代对并发语义的核实。</a:t>
            </a:r>
          </a:p>
        </p:txBody>
      </p:sp>
      <p:sp>
        <p:nvSpPr>
          <p:cNvPr id="14" name="required-missing-context">
            <a:extLst xmlns:a="http://schemas.openxmlformats.org/drawingml/2006/main">
              <a:ext uri="{FF2B5EF4-FFF2-40B4-BE49-F238E27FC236}">
                <a16:creationId xmlns:a16="http://schemas.microsoft.com/office/drawing/2014/main" id="{44EAAADA-6C75-422D-AC65-67D494C1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72450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LIKELY / NEED_MORE_CONTEXT 必须列出具体 missing_context。</a:t>
            </a:r>
          </a:p>
        </p:txBody>
      </p:sp>
    </p:spTree>
    <p:extLst>
      <p:ext uri="{BB962C8B-B14F-4D97-AF65-F5344CB8AC3E}">
        <p14:creationId xmlns:p14="http://schemas.microsoft.com/office/powerpoint/2010/main" val="1874652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96C9FBC3-6EAA-4876-B95A-773B0755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F94C1E-692B-4007-B816-15BAEF9D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队列、缓存与可追溯结果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4F1001D-831E-4A94-B171-7D5A81BA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执行状态说明任务是否完成，五种语义结论说明风险判断，二者分别保存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DEA4B3-741C-46E3-8825-FAC66BE6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pending">
            <a:extLst xmlns:a="http://schemas.openxmlformats.org/drawingml/2006/main">
              <a:ext uri="{FF2B5EF4-FFF2-40B4-BE49-F238E27FC236}">
                <a16:creationId xmlns:a16="http://schemas.microsoft.com/office/drawing/2014/main" id="{0B606CCA-656D-4C41-9217-B2482C10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762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待执行 / AI 关闭</a:t>
            </a:r>
          </a:p>
        </p:txBody>
      </p:sp>
      <p:sp>
        <p:nvSpPr>
          <p:cNvPr id="6" name="done">
            <a:extLst xmlns:a="http://schemas.openxmlformats.org/drawingml/2006/main">
              <a:ext uri="{FF2B5EF4-FFF2-40B4-BE49-F238E27FC236}">
                <a16:creationId xmlns:a16="http://schemas.microsoft.com/office/drawing/2014/main" id="{A5CF319E-3DAA-41DB-B71D-D6F67CEC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5048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DONE：获得合法答复</a:t>
            </a:r>
          </a:p>
          <a:p xmlns:a="http://schemas.openxmlformats.org/drawingml/2006/main">
            <a:pPr algn="ctr">
              <a:def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执行完成，语义结论独立</a:t>
            </a:r>
          </a:p>
        </p:txBody>
      </p:sp>
      <p:sp>
        <p:nvSpPr>
          <p:cNvPr id="7" name="tech-failed">
            <a:extLst xmlns:a="http://schemas.openxmlformats.org/drawingml/2006/main">
              <a:ext uri="{FF2B5EF4-FFF2-40B4-BE49-F238E27FC236}">
                <a16:creationId xmlns:a16="http://schemas.microsoft.com/office/drawing/2014/main" id="{209E655F-07E9-41DB-89F4-7913BC11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2762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TECH_FAILED</a:t>
            </a:r>
          </a:p>
          <a:p xmlns:a="http://schemas.openxmlformats.org/drawingml/2006/main">
            <a:pPr algn="ctr">
              <a:defRPr sz="195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保留错误，可重试</a:t>
            </a:r>
          </a:p>
        </p:txBody>
      </p: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524250" y="335756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9" name="done-transition">
            <a:extLst xmlns:a="http://schemas.openxmlformats.org/drawingml/2006/main">
              <a:ext uri="{FF2B5EF4-FFF2-40B4-BE49-F238E27FC236}">
                <a16:creationId xmlns:a16="http://schemas.microsoft.com/office/drawing/2014/main" id="{6808B2B8-DCD0-4F1C-91B3-2ED51FFF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95600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cxnSp>
        <p:nvCxnSpPr>
          <p:cNvPr id="29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143125" y="3857625"/>
            <a:ext cx="0" cy="16668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6483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failed-transition">
            <a:extLst xmlns:a="http://schemas.openxmlformats.org/drawingml/2006/main">
              <a:ext uri="{FF2B5EF4-FFF2-40B4-BE49-F238E27FC236}">
                <a16:creationId xmlns:a16="http://schemas.microsoft.com/office/drawing/2014/main" id="{AAB5E36B-F82B-4B94-B77E-A6D3CCC4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调用或校验</a:t>
            </a:r>
          </a:p>
          <a:p xmlns:a="http://schemas.openxmlformats.org/drawingml/2006/main">
            <a:pPr algn="l">
              <a:defRPr sz="1800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未能完成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4429125" y="4333875"/>
          <a:ext xmlns:a="http://schemas.openxmlformats.org/drawingml/2006/main" cx="504825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09875"/>
                <a:gridCol w="2238375"/>
              </a:tblGrid>
              <a:tr h="4762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语义结论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</a:tr>
              <a:tr h="4762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CONFIRMED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确认风险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LIKELY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倾向有风险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4762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REVIEWED_SAFE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有依据可排除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FALSE_POSITIVE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疑点已证伪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4762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NEED_MORE_CONTEXT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需补决定性事实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done-not-safe">
            <a:extLst xmlns:a="http://schemas.openxmlformats.org/drawingml/2006/main">
              <a:ext uri="{FF2B5EF4-FFF2-40B4-BE49-F238E27FC236}">
                <a16:creationId xmlns:a16="http://schemas.microsoft.com/office/drawing/2014/main" id="{E801C5E1-3A0C-4E7C-B330-92A47A98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735330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DONE + NEED_MORE_CONTEXT 仍是未解决项</a:t>
            </a:r>
          </a:p>
        </p:txBody>
      </p:sp>
      <p:sp>
        <p:nvSpPr>
          <p:cNvPr id="14" name="archive-heading">
            <a:extLst xmlns:a="http://schemas.openxmlformats.org/drawingml/2006/main">
              <a:ext uri="{FF2B5EF4-FFF2-40B4-BE49-F238E27FC236}">
                <a16:creationId xmlns:a16="http://schemas.microsoft.com/office/drawing/2014/main" id="{0645AF05-C5B3-4B65-8678-A6105AFB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146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每项都可追溯</a:t>
            </a:r>
          </a:p>
        </p:txBody>
      </p:sp>
      <p:sp>
        <p:nvSpPr>
          <p:cNvPr id="15" name="archive-fields">
            <a:extLst xmlns:a="http://schemas.openxmlformats.org/drawingml/2006/main">
              <a:ext uri="{FF2B5EF4-FFF2-40B4-BE49-F238E27FC236}">
                <a16:creationId xmlns:a16="http://schemas.microsoft.com/office/drawing/2014/main" id="{B75D8422-0398-4A8B-B352-C1E64FBD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33750"/>
            <a:ext cx="3905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Packet、Prompt、原始 JSONL</a:t>
            </a:r>
          </a:p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错误日志、模型与调用时间</a:t>
            </a:r>
          </a:p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文件 / 源码 SHA-256 与收据</a:t>
            </a:r>
          </a:p>
        </p:txBody>
      </p:sp>
      <p:sp>
        <p:nvSpPr>
          <p:cNvPr id="16" name="cache-heading">
            <a:extLst xmlns:a="http://schemas.openxmlformats.org/drawingml/2006/main">
              <a:ext uri="{FF2B5EF4-FFF2-40B4-BE49-F238E27FC236}">
                <a16:creationId xmlns:a16="http://schemas.microsoft.com/office/drawing/2014/main" id="{F2CAC6EC-E4D5-4B62-96F2-89954A5A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2387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何时可复用？</a:t>
            </a:r>
          </a:p>
        </p:txBody>
      </p:sp>
      <p:sp>
        <p:nvSpPr>
          <p:cNvPr id="17" name="cache-key">
            <a:extLst xmlns:a="http://schemas.openxmlformats.org/drawingml/2006/main">
              <a:ext uri="{FF2B5EF4-FFF2-40B4-BE49-F238E27FC236}">
                <a16:creationId xmlns:a16="http://schemas.microsoft.com/office/drawing/2014/main" id="{375A3465-2F47-4ED4-B457-02892F6B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0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run 开启复核时可按键复用</a:t>
            </a:r>
          </a:p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扫描、Packet、Prompt、模型</a:t>
            </a:r>
          </a:p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复核实现均一致，且收据有效</a:t>
            </a:r>
          </a:p>
        </p:txBody>
      </p:sp>
      <p:sp>
        <p:nvSpPr>
          <p:cNvPr id="18" name="queue-completeness">
            <a:extLst xmlns:a="http://schemas.openxmlformats.org/drawingml/2006/main">
              <a:ext uri="{FF2B5EF4-FFF2-40B4-BE49-F238E27FC236}">
                <a16:creationId xmlns:a16="http://schemas.microsoft.com/office/drawing/2014/main" id="{1BEFF2C8-9AB6-4B53-B500-2B71C32E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0"/>
            <a:ext cx="1295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队列与目标 ID 一一对应，每项完成即落盘。workers 支持 1–8 个并行任务。</a:t>
            </a:r>
          </a:p>
        </p:txBody>
      </p:sp>
      <p:sp>
        <p:nvSpPr>
          <p:cNvPr id="19" name="batch-completeness">
            <a:extLst xmlns:a="http://schemas.openxmlformats.org/drawingml/2006/main">
              <a:ext uri="{FF2B5EF4-FFF2-40B4-BE49-F238E27FC236}">
                <a16:creationId xmlns:a16="http://schemas.microsoft.com/office/drawing/2014/main" id="{584DC49E-7E8A-4872-8919-20B86347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72450"/>
            <a:ext cx="1295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max_items 控制批大小，完成一批继续下一批，完整目标集仍全部处理。</a:t>
            </a:r>
          </a:p>
        </p:txBody>
      </p:sp>
    </p:spTree>
    <p:extLst>
      <p:ext uri="{BB962C8B-B14F-4D97-AF65-F5344CB8AC3E}">
        <p14:creationId xmlns:p14="http://schemas.microsoft.com/office/powerpoint/2010/main" val="1666985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1074A313-50E2-4AFD-81CD-73F72DB6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363B16-CC20-41C9-B6D4-80F6ECD2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首次运行：配置与静态扫描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7CD0A69-3921-483F-BAA7-241DE5F5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示例：便携包解压到 D:\ECRA，固件位于 D:\firmware\MyBoard，并已能正常构建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0335BD-BA08-46B3-85C9-4361964B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config-caption">
            <a:extLst xmlns:a="http://schemas.openxmlformats.org/drawingml/2006/main">
              <a:ext uri="{FF2B5EF4-FFF2-40B4-BE49-F238E27FC236}">
                <a16:creationId xmlns:a16="http://schemas.microsoft.com/office/drawing/2014/main" id="{FF5B5C9E-D91D-4841-AB62-4F0B94E2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修改 config/semantics.yaml 的对应字段</a:t>
            </a:r>
          </a:p>
        </p:txBody>
      </p:sp>
      <p:sp>
        <p:nvSpPr>
          <p:cNvPr id="6" name="first-run-yaml-0">
            <a:extLst xmlns:a="http://schemas.openxmlformats.org/drawingml/2006/main">
              <a:ext uri="{FF2B5EF4-FFF2-40B4-BE49-F238E27FC236}">
                <a16:creationId xmlns:a16="http://schemas.microsoft.com/office/drawing/2014/main" id="{B4801551-F964-42D5-86A0-995AEC44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project:</a:t>
            </a:r>
          </a:p>
        </p:txBody>
      </p:sp>
      <p:sp>
        <p:nvSpPr>
          <p:cNvPr id="7" name="first-run-yaml-1">
            <a:extLst xmlns:a="http://schemas.openxmlformats.org/drawingml/2006/main">
              <a:ext uri="{FF2B5EF4-FFF2-40B4-BE49-F238E27FC236}">
                <a16:creationId xmlns:a16="http://schemas.microsoft.com/office/drawing/2014/main" id="{68F77D68-2964-47C0-909E-D51799E8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root: D:/firmware/MyBoard</a:t>
            </a:r>
          </a:p>
        </p:txBody>
      </p:sp>
      <p:sp>
        <p:nvSpPr>
          <p:cNvPr id="8" name="first-run-yaml-2">
            <a:extLst xmlns:a="http://schemas.openxmlformats.org/drawingml/2006/main">
              <a:ext uri="{FF2B5EF4-FFF2-40B4-BE49-F238E27FC236}">
                <a16:creationId xmlns:a16="http://schemas.microsoft.com/office/drawing/2014/main" id="{D601DF21-59F7-4110-86DF-24C54C54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analysis:</a:t>
            </a:r>
          </a:p>
        </p:txBody>
      </p:sp>
      <p:sp>
        <p:nvSpPr>
          <p:cNvPr id="9" name="first-run-yaml-3">
            <a:extLst xmlns:a="http://schemas.openxmlformats.org/drawingml/2006/main">
              <a:ext uri="{FF2B5EF4-FFF2-40B4-BE49-F238E27FC236}">
                <a16:creationId xmlns:a16="http://schemas.microsoft.com/office/drawing/2014/main" id="{439837A6-A3C8-4CE7-8890-B7D82C15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include_dirs: [Core/Src, Core/Inc]</a:t>
            </a:r>
          </a:p>
        </p:txBody>
      </p:sp>
      <p:sp>
        <p:nvSpPr>
          <p:cNvPr id="10" name="first-run-yaml-4">
            <a:extLst xmlns:a="http://schemas.openxmlformats.org/drawingml/2006/main">
              <a:ext uri="{FF2B5EF4-FFF2-40B4-BE49-F238E27FC236}">
                <a16:creationId xmlns:a16="http://schemas.microsoft.com/office/drawing/2014/main" id="{26659B91-9EBE-41B4-ADFD-C074A73E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output_dir: .ecra</a:t>
            </a:r>
          </a:p>
        </p:txBody>
      </p:sp>
      <p:sp>
        <p:nvSpPr>
          <p:cNvPr id="11" name="first-run-yaml-5">
            <a:extLst xmlns:a="http://schemas.openxmlformats.org/drawingml/2006/main">
              <a:ext uri="{FF2B5EF4-FFF2-40B4-BE49-F238E27FC236}">
                <a16:creationId xmlns:a16="http://schemas.microsoft.com/office/drawing/2014/main" id="{A4D86BFC-224E-4A84-B3E6-D8D30386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cmake:</a:t>
            </a:r>
          </a:p>
        </p:txBody>
      </p:sp>
      <p:sp>
        <p:nvSpPr>
          <p:cNvPr id="12" name="first-run-yaml-6">
            <a:extLst xmlns:a="http://schemas.openxmlformats.org/drawingml/2006/main">
              <a:ext uri="{FF2B5EF4-FFF2-40B4-BE49-F238E27FC236}">
                <a16:creationId xmlns:a16="http://schemas.microsoft.com/office/drawing/2014/main" id="{BACB123B-3515-4A26-9369-89A32EAB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build_dir: build/ecra</a:t>
            </a:r>
          </a:p>
        </p:txBody>
      </p:sp>
      <p:sp>
        <p:nvSpPr>
          <p:cNvPr id="13" name="first-run-yaml-7">
            <a:extLst xmlns:a="http://schemas.openxmlformats.org/drawingml/2006/main">
              <a:ext uri="{FF2B5EF4-FFF2-40B4-BE49-F238E27FC236}">
                <a16:creationId xmlns:a16="http://schemas.microsoft.com/office/drawing/2014/main" id="{57F9BB2D-3C23-480E-AA89-80DE93A5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generator: Ninja</a:t>
            </a:r>
          </a:p>
        </p:txBody>
      </p:sp>
      <p:sp>
        <p:nvSpPr>
          <p:cNvPr id="14" name="first-run-yaml-8">
            <a:extLst xmlns:a="http://schemas.openxmlformats.org/drawingml/2006/main">
              <a:ext uri="{FF2B5EF4-FFF2-40B4-BE49-F238E27FC236}">
                <a16:creationId xmlns:a16="http://schemas.microsoft.com/office/drawing/2014/main" id="{F4CD9D6F-324D-40C5-B01F-82ED52BB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4832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build_type: Debug</a:t>
            </a:r>
          </a:p>
        </p:txBody>
      </p:sp>
      <p:sp>
        <p:nvSpPr>
          <p:cNvPr id="15" name="first-run-yaml-9">
            <a:extLst xmlns:a="http://schemas.openxmlformats.org/drawingml/2006/main">
              <a:ext uri="{FF2B5EF4-FFF2-40B4-BE49-F238E27FC236}">
                <a16:creationId xmlns:a16="http://schemas.microsoft.com/office/drawing/2014/main" id="{B6CEC2F7-14D8-4773-8312-FD5F57D7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toolchain_file: cmake/arm-none-eabi.cmake</a:t>
            </a:r>
          </a:p>
        </p:txBody>
      </p:sp>
      <p:sp>
        <p:nvSpPr>
          <p:cNvPr id="16" name="first-run-yaml-10">
            <a:extLst xmlns:a="http://schemas.openxmlformats.org/drawingml/2006/main">
              <a:ext uri="{FF2B5EF4-FFF2-40B4-BE49-F238E27FC236}">
                <a16:creationId xmlns:a16="http://schemas.microsoft.com/office/drawing/2014/main" id="{828A6E71-B44B-43B7-A983-55B8109F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7697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clean_before_configure: false</a:t>
            </a:r>
          </a:p>
        </p:txBody>
      </p:sp>
      <p:sp>
        <p:nvSpPr>
          <p:cNvPr id="17" name="first-run-yaml-11">
            <a:extLst xmlns:a="http://schemas.openxmlformats.org/drawingml/2006/main">
              <a:ext uri="{FF2B5EF4-FFF2-40B4-BE49-F238E27FC236}">
                <a16:creationId xmlns:a16="http://schemas.microsoft.com/office/drawing/2014/main" id="{7D4C025C-D52C-4371-9790-B7C9E2D1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9130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build: true</a:t>
            </a:r>
          </a:p>
        </p:txBody>
      </p:sp>
      <p:sp>
        <p:nvSpPr>
          <p:cNvPr id="18" name="first-run-yaml-12">
            <a:extLst xmlns:a="http://schemas.openxmlformats.org/drawingml/2006/main">
              <a:ext uri="{FF2B5EF4-FFF2-40B4-BE49-F238E27FC236}">
                <a16:creationId xmlns:a16="http://schemas.microsoft.com/office/drawing/2014/main" id="{749D4D01-508D-4027-A5E7-8D125F31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0562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review:</a:t>
            </a:r>
          </a:p>
        </p:txBody>
      </p:sp>
      <p:sp>
        <p:nvSpPr>
          <p:cNvPr id="19" name="first-run-yaml-13">
            <a:extLst xmlns:a="http://schemas.openxmlformats.org/drawingml/2006/main">
              <a:ext uri="{FF2B5EF4-FFF2-40B4-BE49-F238E27FC236}">
                <a16:creationId xmlns:a16="http://schemas.microsoft.com/office/drawing/2014/main" id="{76B17D8F-ABDA-45CB-8C44-C0206BE3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enabled: false</a:t>
            </a:r>
          </a:p>
        </p:txBody>
      </p:sp>
      <p:sp>
        <p:nvSpPr>
          <p:cNvPr id="20" name="powershell-caption">
            <a:extLst xmlns:a="http://schemas.openxmlformats.org/drawingml/2006/main">
              <a:ext uri="{FF2B5EF4-FFF2-40B4-BE49-F238E27FC236}">
                <a16:creationId xmlns:a16="http://schemas.microsoft.com/office/drawing/2014/main" id="{C6C7AE88-E6E7-4258-8798-26A619FA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8602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在 PowerShell 依次执行</a:t>
            </a:r>
          </a:p>
        </p:txBody>
      </p:sp>
      <p:sp>
        <p:nvSpPr>
          <p:cNvPr id="21" name="first-run-title-0">
            <a:extLst xmlns:a="http://schemas.openxmlformats.org/drawingml/2006/main">
              <a:ext uri="{FF2B5EF4-FFF2-40B4-BE49-F238E27FC236}">
                <a16:creationId xmlns:a16="http://schemas.microsoft.com/office/drawing/2014/main" id="{391E34EF-CE78-428C-A498-3FDD3A74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1 进入工具目录</a:t>
            </a:r>
          </a:p>
        </p:txBody>
      </p:sp>
      <p:sp>
        <p:nvSpPr>
          <p:cNvPr id="22" name="first-run-command-0">
            <a:extLst xmlns:a="http://schemas.openxmlformats.org/drawingml/2006/main">
              <a:ext uri="{FF2B5EF4-FFF2-40B4-BE49-F238E27FC236}">
                <a16:creationId xmlns:a16="http://schemas.microsoft.com/office/drawing/2014/main" id="{B867899F-EF41-408E-B512-C89C118B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48075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Set-Location "D:/ECRA"</a:t>
            </a:r>
          </a:p>
        </p:txBody>
      </p:sp>
      <p:sp>
        <p:nvSpPr>
          <p:cNvPr id="23" name="first-run-title-1">
            <a:extLst xmlns:a="http://schemas.openxmlformats.org/drawingml/2006/main">
              <a:ext uri="{FF2B5EF4-FFF2-40B4-BE49-F238E27FC236}">
                <a16:creationId xmlns:a16="http://schemas.microsoft.com/office/drawing/2014/main" id="{EF054B90-B1EE-4A4F-A945-7963FD83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33900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2 检查环境</a:t>
            </a:r>
          </a:p>
        </p:txBody>
      </p:sp>
      <p:sp>
        <p:nvSpPr>
          <p:cNvPr id="24" name="first-run-command-1">
            <a:extLst xmlns:a="http://schemas.openxmlformats.org/drawingml/2006/main">
              <a:ext uri="{FF2B5EF4-FFF2-40B4-BE49-F238E27FC236}">
                <a16:creationId xmlns:a16="http://schemas.microsoft.com/office/drawing/2014/main" id="{6D9E5DE7-D6A6-442A-BBE6-4CA24BE7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7205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.\ecra.cmd doctor</a:t>
            </a:r>
          </a:p>
        </p:txBody>
      </p:sp>
      <p:sp>
        <p:nvSpPr>
          <p:cNvPr id="25" name="first-run-result-1">
            <a:extLst xmlns:a="http://schemas.openxmlformats.org/drawingml/2006/main">
              <a:ext uri="{FF2B5EF4-FFF2-40B4-BE49-F238E27FC236}">
                <a16:creationId xmlns:a16="http://schemas.microsoft.com/office/drawing/2014/main" id="{0DC3A4FF-2E2E-48AD-ABE6-C28E492F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2925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有诊断时先按提示修正</a:t>
            </a:r>
          </a:p>
        </p:txBody>
      </p:sp>
      <p:sp>
        <p:nvSpPr>
          <p:cNvPr id="26" name="first-run-title-2">
            <a:extLst xmlns:a="http://schemas.openxmlformats.org/drawingml/2006/main">
              <a:ext uri="{FF2B5EF4-FFF2-40B4-BE49-F238E27FC236}">
                <a16:creationId xmlns:a16="http://schemas.microsoft.com/office/drawing/2014/main" id="{FD4F8825-C48A-4E02-95F1-242BF314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5787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3 执行静态扫描</a:t>
            </a:r>
          </a:p>
        </p:txBody>
      </p:sp>
      <p:sp>
        <p:nvSpPr>
          <p:cNvPr id="27" name="first-run-command-2">
            <a:extLst xmlns:a="http://schemas.openxmlformats.org/drawingml/2006/main">
              <a:ext uri="{FF2B5EF4-FFF2-40B4-BE49-F238E27FC236}">
                <a16:creationId xmlns:a16="http://schemas.microsoft.com/office/drawing/2014/main" id="{101C9C5D-67B5-49F7-AE03-545D45E8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296025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.\ecra.cmd --no-review</a:t>
            </a:r>
          </a:p>
        </p:txBody>
      </p:sp>
      <p:sp>
        <p:nvSpPr>
          <p:cNvPr id="28" name="first-run-result-2">
            <a:extLst xmlns:a="http://schemas.openxmlformats.org/drawingml/2006/main">
              <a:ext uri="{FF2B5EF4-FFF2-40B4-BE49-F238E27FC236}">
                <a16:creationId xmlns:a16="http://schemas.microsoft.com/office/drawing/2014/main" id="{191C3E93-7200-4EEF-A9DF-3FD00CC4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75322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生成静态报告与待复核队列</a:t>
            </a:r>
          </a:p>
        </p:txBody>
      </p:sp>
      <p:sp>
        <p:nvSpPr>
          <p:cNvPr id="29" name="open-report-title">
            <a:extLst xmlns:a="http://schemas.openxmlformats.org/drawingml/2006/main">
              <a:ext uri="{FF2B5EF4-FFF2-40B4-BE49-F238E27FC236}">
                <a16:creationId xmlns:a16="http://schemas.microsoft.com/office/drawing/2014/main" id="{94D29C27-E4D7-4748-BF9B-BA21AF6E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10565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4 打开固件目录中的报告</a:t>
            </a:r>
          </a:p>
        </p:txBody>
      </p:sp>
      <p:sp>
        <p:nvSpPr>
          <p:cNvPr id="30" name="open-report-file">
            <a:extLst xmlns:a="http://schemas.openxmlformats.org/drawingml/2006/main">
              <a:ext uri="{FF2B5EF4-FFF2-40B4-BE49-F238E27FC236}">
                <a16:creationId xmlns:a16="http://schemas.microsoft.com/office/drawing/2014/main" id="{AC34E358-7F9C-447D-9427-600B60F7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5628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.ecra/index.html</a:t>
            </a:r>
          </a:p>
        </p:txBody>
      </p:sp>
      <p:sp>
        <p:nvSpPr>
          <p:cNvPr id="31" name="config-replace-note">
            <a:extLst xmlns:a="http://schemas.openxmlformats.org/drawingml/2006/main">
              <a:ext uri="{FF2B5EF4-FFF2-40B4-BE49-F238E27FC236}">
                <a16:creationId xmlns:a16="http://schemas.microsoft.com/office/drawing/2014/main" id="{D8A76865-9C86-4947-B740-0EF0683C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200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目录和工具链文件名改为工程实际值，配置合并到原文件</a:t>
            </a:r>
          </a:p>
        </p:txBody>
      </p:sp>
    </p:spTree>
    <p:extLst>
      <p:ext uri="{BB962C8B-B14F-4D97-AF65-F5344CB8AC3E}">
        <p14:creationId xmlns:p14="http://schemas.microsoft.com/office/powerpoint/2010/main" val="360374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015E7786-69F1-444C-9F16-411BECF2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4735D8-640A-433E-9117-794798C7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OpenCode 复核：准备、执行、读结果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E71682C-5EB0-4CA3-B05D-CAE82C9F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前提：已有有效静态扫描，且本机 OpenCode 已配置可用模型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6AB0CA-1058-4CA2-8ED1-04B82E00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prepare-heading">
            <a:extLst xmlns:a="http://schemas.openxmlformats.org/drawingml/2006/main">
              <a:ext uri="{FF2B5EF4-FFF2-40B4-BE49-F238E27FC236}">
                <a16:creationId xmlns:a16="http://schemas.microsoft.com/office/drawing/2014/main" id="{D415004A-8148-4DD4-8883-3E9E2B8C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657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1 维护工程背景与案例</a:t>
            </a:r>
          </a:p>
        </p:txBody>
      </p:sp>
      <p:sp>
        <p:nvSpPr>
          <p:cNvPr id="6" name="review-input-paths-0">
            <a:extLst xmlns:a="http://schemas.openxmlformats.org/drawingml/2006/main">
              <a:ext uri="{FF2B5EF4-FFF2-40B4-BE49-F238E27FC236}">
                <a16:creationId xmlns:a16="http://schemas.microsoft.com/office/drawing/2014/main" id="{D671B15F-993C-4BD2-8203-03A77E6C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config/review_context.md</a:t>
            </a:r>
          </a:p>
        </p:txBody>
      </p:sp>
      <p:sp>
        <p:nvSpPr>
          <p:cNvPr id="7" name="review-input-paths-1">
            <a:extLst xmlns:a="http://schemas.openxmlformats.org/drawingml/2006/main">
              <a:ext uri="{FF2B5EF4-FFF2-40B4-BE49-F238E27FC236}">
                <a16:creationId xmlns:a16="http://schemas.microsoft.com/office/drawing/2014/main" id="{42C2551D-1480-4771-8A16-1576FA3C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config/concurrency_cases.md</a:t>
            </a:r>
          </a:p>
        </p:txBody>
      </p:sp>
      <p:sp>
        <p:nvSpPr>
          <p:cNvPr id="8" name="prepare-details">
            <a:extLst xmlns:a="http://schemas.openxmlformats.org/drawingml/2006/main">
              <a:ext uri="{FF2B5EF4-FFF2-40B4-BE49-F238E27FC236}">
                <a16:creationId xmlns:a16="http://schemas.microsoft.com/office/drawing/2014/main" id="{3DE74C75-4875-442E-8B76-55316EED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背景写运行约束与源码依据</a:t>
            </a:r>
          </a:p>
          <a:p xmlns:a="http://schemas.openxmlformats.org/drawingml/2006/main">
            <a:pPr algn="l">
              <a:defRPr sz="19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案例按模板追加，review 时自动重读</a:t>
            </a:r>
          </a:p>
        </p:txBody>
      </p:sp>
      <p:sp>
        <p:nvSpPr>
          <p:cNvPr id="9" name="execute-heading">
            <a:extLst xmlns:a="http://schemas.openxmlformats.org/drawingml/2006/main">
              <a:ext uri="{FF2B5EF4-FFF2-40B4-BE49-F238E27FC236}">
                <a16:creationId xmlns:a16="http://schemas.microsoft.com/office/drawing/2014/main" id="{8FFD8E1C-1D2D-4B82-9B22-72739D7D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657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2 在工具目录执行</a:t>
            </a:r>
          </a:p>
        </p:txBody>
      </p:sp>
      <p:sp>
        <p:nvSpPr>
          <p:cNvPr id="10" name="execute-review">
            <a:extLst xmlns:a="http://schemas.openxmlformats.org/drawingml/2006/main">
              <a:ext uri="{FF2B5EF4-FFF2-40B4-BE49-F238E27FC236}">
                <a16:creationId xmlns:a16="http://schemas.microsoft.com/office/drawing/2014/main" id="{10C79274-26EB-40D7-839F-C22AB232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657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700" b="0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.\ecra.cmd review</a:t>
            </a:r>
          </a:p>
        </p:txBody>
      </p:sp>
      <p:sp>
        <p:nvSpPr>
          <p:cNvPr id="11" name="execute-details">
            <a:extLst xmlns:a="http://schemas.openxmlformats.org/drawingml/2006/main">
              <a:ext uri="{FF2B5EF4-FFF2-40B4-BE49-F238E27FC236}">
                <a16:creationId xmlns:a16="http://schemas.microsoft.com/office/drawing/2014/main" id="{2426D830-F381-4D5B-A48B-CABEF366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24650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重评当前全部静态疑似 / 未知项</a:t>
            </a:r>
          </a:p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普通 run 自动复核需 review.enabled: true</a:t>
            </a:r>
          </a:p>
        </p:txBody>
      </p:sp>
      <p:sp>
        <p:nvSpPr>
          <p:cNvPr id="12" name="read-heading">
            <a:extLst xmlns:a="http://schemas.openxmlformats.org/drawingml/2006/main">
              <a:ext uri="{FF2B5EF4-FFF2-40B4-BE49-F238E27FC236}">
                <a16:creationId xmlns:a16="http://schemas.microsoft.com/office/drawing/2014/main" id="{78187CF6-D305-46F1-837B-8857FAA4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623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3 读取复核报告</a:t>
            </a:r>
          </a:p>
        </p:txBody>
      </p:sp>
      <p:sp>
        <p:nvSpPr>
          <p:cNvPr id="13" name="review-html">
            <a:extLst xmlns:a="http://schemas.openxmlformats.org/drawingml/2006/main">
              <a:ext uri="{FF2B5EF4-FFF2-40B4-BE49-F238E27FC236}">
                <a16:creationId xmlns:a16="http://schemas.microsoft.com/office/drawing/2014/main" id="{112F34C9-94C5-4A0E-8777-6E6E420B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81350"/>
            <a:ext cx="623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.ecra/opencode_review.html</a:t>
            </a:r>
          </a:p>
        </p:txBody>
      </p:sp>
      <p:sp>
        <p:nvSpPr>
          <p:cNvPr id="14" name="read-details">
            <a:extLst xmlns:a="http://schemas.openxmlformats.org/drawingml/2006/main">
              <a:ext uri="{FF2B5EF4-FFF2-40B4-BE49-F238E27FC236}">
                <a16:creationId xmlns:a16="http://schemas.microsoft.com/office/drawing/2014/main" id="{B88B49A4-2986-4B55-BE61-26DCAD18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86200"/>
            <a:ext cx="6238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打开固件目录中的该文件</a:t>
            </a:r>
          </a:p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核对 status、evidence、missing_context</a:t>
            </a:r>
          </a:p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DONE 表示执行完成，风险含义看语义结论</a:t>
            </a:r>
          </a:p>
        </p:txBody>
      </p:sp>
      <p:sp>
        <p:nvSpPr>
          <p:cNvPr id="15" name="continue-heading">
            <a:extLst xmlns:a="http://schemas.openxmlformats.org/drawingml/2006/main">
              <a:ext uri="{FF2B5EF4-FFF2-40B4-BE49-F238E27FC236}">
                <a16:creationId xmlns:a16="http://schemas.microsoft.com/office/drawing/2014/main" id="{9302D4E9-133C-427C-A437-5D880D0B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05425"/>
            <a:ext cx="623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4 按状态继续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8239125" y="5953125"/>
          <a:ext xmlns:a="http://schemas.openxmlformats.org/drawingml/2006/main" cx="6238875" cy="1905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38375"/>
                <a:gridCol w="4000500"/>
              </a:tblGrid>
              <a:tr h="4762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执行命令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</a:tr>
              <a:tr h="4762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技术失败重试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.\ecra.cmd review-failed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背景 / 案例更新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.\ecra.cmd review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4762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仅重建报告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.\ecra.cmd report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scan-rule">
            <a:extLst xmlns:a="http://schemas.openxmlformats.org/drawingml/2006/main">
              <a:ext uri="{FF2B5EF4-FFF2-40B4-BE49-F238E27FC236}">
                <a16:creationId xmlns:a16="http://schemas.microsoft.com/office/drawing/2014/main" id="{15AB4E7D-33F6-4CBC-884D-EFC7BFA2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96250"/>
            <a:ext cx="1295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源码、构建或静态配置变化：先重新扫描，再复核；修复后还需针对性验证。</a:t>
            </a:r>
          </a:p>
        </p:txBody>
      </p:sp>
    </p:spTree>
    <p:extLst>
      <p:ext uri="{BB962C8B-B14F-4D97-AF65-F5344CB8AC3E}">
        <p14:creationId xmlns:p14="http://schemas.microsoft.com/office/powerpoint/2010/main" val="117618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2026-10-18T13:38:56.7250000Z</dcterms:created>
  <dcterms:modified xsi:type="dcterms:W3CDTF">2026-10-18T13:38:56.7250000Z</dcterms:modified>
</coreProperties>
</file>