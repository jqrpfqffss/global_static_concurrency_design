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257f3697944903" /><Relationship Type="http://schemas.openxmlformats.org/officeDocument/2006/relationships/extended-properties" Target="/docProps/app.xml" Id="R58090b815a0444bf" /><Relationship Type="http://schemas.openxmlformats.org/officeDocument/2006/relationships/officeDocument" Target="/ppt/presentation.xml" Id="R2a612377544946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a96b44673f34d44"/>
  </p:sldMasterIdLst>
  <p:notesMasterIdLst>
    <p:notesMasterId xmlns:r="http://schemas.openxmlformats.org/officeDocument/2006/relationships" r:id="R92ba45c581864270"/>
  </p:notesMasterIdLst>
  <p:sldIdLst>
    <p:sldId xmlns:r="http://schemas.openxmlformats.org/officeDocument/2006/relationships" id="256" r:id="R89221f25c4b34369"/>
    <p:sldId xmlns:r="http://schemas.openxmlformats.org/officeDocument/2006/relationships" id="257" r:id="Rd91fe8c0a57c4896"/>
    <p:sldId xmlns:r="http://schemas.openxmlformats.org/officeDocument/2006/relationships" id="258" r:id="R0079fc5720da4f81"/>
    <p:sldId xmlns:r="http://schemas.openxmlformats.org/officeDocument/2006/relationships" id="259" r:id="Rd491c41fc2e346cd"/>
    <p:sldId xmlns:r="http://schemas.openxmlformats.org/officeDocument/2006/relationships" id="260" r:id="R10101df62b5046c7"/>
    <p:sldId xmlns:r="http://schemas.openxmlformats.org/officeDocument/2006/relationships" id="261" r:id="R20f891322f9f4fd4"/>
    <p:sldId xmlns:r="http://schemas.openxmlformats.org/officeDocument/2006/relationships" id="262" r:id="Radd3c408a22c42ad"/>
    <p:sldId xmlns:r="http://schemas.openxmlformats.org/officeDocument/2006/relationships" id="263" r:id="R13082809ee224702"/>
    <p:sldId xmlns:r="http://schemas.openxmlformats.org/officeDocument/2006/relationships" id="264" r:id="Rad323bf1c37b4cbf"/>
    <p:sldId xmlns:r="http://schemas.openxmlformats.org/officeDocument/2006/relationships" id="265" r:id="R2b5fd8dfac084ad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8de3cd2fd24c35" /><Relationship Type="http://schemas.openxmlformats.org/officeDocument/2006/relationships/slideMaster" Target="/ppt/slideMasters/slideMaster1.xml" Id="R1a96b44673f34d44" /><Relationship Type="http://schemas.openxmlformats.org/officeDocument/2006/relationships/notesMaster" Target="/ppt/notesMasters/notesMaster1.xml" Id="R92ba45c581864270" /><Relationship Type="http://schemas.openxmlformats.org/officeDocument/2006/relationships/presProps" Target="/ppt/presProps.xml" Id="Rb2e2181653954f33" /><Relationship Type="http://schemas.openxmlformats.org/officeDocument/2006/relationships/tableStyles" Target="/ppt/tableStyles.xml" Id="R6d8e7a48634c4053" /><Relationship Type="http://schemas.openxmlformats.org/officeDocument/2006/relationships/slide" Target="/ppt/slides/slide1.xml" Id="R89221f25c4b34369" /><Relationship Type="http://schemas.openxmlformats.org/officeDocument/2006/relationships/slide" Target="/ppt/slides/slide2.xml" Id="Rd91fe8c0a57c4896" /><Relationship Type="http://schemas.openxmlformats.org/officeDocument/2006/relationships/slide" Target="/ppt/slides/slide3.xml" Id="R0079fc5720da4f81" /><Relationship Type="http://schemas.openxmlformats.org/officeDocument/2006/relationships/slide" Target="/ppt/slides/slide4.xml" Id="Rd491c41fc2e346cd" /><Relationship Type="http://schemas.openxmlformats.org/officeDocument/2006/relationships/slide" Target="/ppt/slides/slide5.xml" Id="R10101df62b5046c7" /><Relationship Type="http://schemas.openxmlformats.org/officeDocument/2006/relationships/slide" Target="/ppt/slides/slide6.xml" Id="R20f891322f9f4fd4" /><Relationship Type="http://schemas.openxmlformats.org/officeDocument/2006/relationships/slide" Target="/ppt/slides/slide7.xml" Id="Radd3c408a22c42ad" /><Relationship Type="http://schemas.openxmlformats.org/officeDocument/2006/relationships/slide" Target="/ppt/slides/slide8.xml" Id="R13082809ee224702" /><Relationship Type="http://schemas.openxmlformats.org/officeDocument/2006/relationships/slide" Target="/ppt/slides/slide9.xml" Id="Rad323bf1c37b4cbf" /><Relationship Type="http://schemas.openxmlformats.org/officeDocument/2006/relationships/slide" Target="/ppt/slides/slide10.xml" Id="R2b5fd8dfac084a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da35dc67b444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6c9fc7b8da40b2" /><Relationship Type="http://schemas.openxmlformats.org/officeDocument/2006/relationships/notesMaster" Target="/ppt/notesMasters/notesMaster1.xml" Id="Rcd5ebe19e9184c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8ab76a1fd50444d" /><Relationship Type="http://schemas.openxmlformats.org/officeDocument/2006/relationships/notesMaster" Target="/ppt/notesMasters/notesMaster1.xml" Id="R117f4d87553c45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7c2992132541b1" /><Relationship Type="http://schemas.openxmlformats.org/officeDocument/2006/relationships/notesMaster" Target="/ppt/notesMasters/notesMaster1.xml" Id="R37cdcb1b20a64a0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45fa6d3e52453b" /><Relationship Type="http://schemas.openxmlformats.org/officeDocument/2006/relationships/notesMaster" Target="/ppt/notesMasters/notesMaster1.xml" Id="Rf27beae370324aa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3318334a4c4da6" /><Relationship Type="http://schemas.openxmlformats.org/officeDocument/2006/relationships/notesMaster" Target="/ppt/notesMasters/notesMaster1.xml" Id="R5cefd8d658a6462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50357dcf0e4338" /><Relationship Type="http://schemas.openxmlformats.org/officeDocument/2006/relationships/notesMaster" Target="/ppt/notesMasters/notesMaster1.xml" Id="Rffc18d2be73b4c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6512040d1243b4" /><Relationship Type="http://schemas.openxmlformats.org/officeDocument/2006/relationships/notesMaster" Target="/ppt/notesMasters/notesMaster1.xml" Id="R31b21b0de9a54ae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7ae9f3c4ad4435" /><Relationship Type="http://schemas.openxmlformats.org/officeDocument/2006/relationships/notesMaster" Target="/ppt/notesMasters/notesMaster1.xml" Id="R4dc4dbd76d254c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6c4715b9f8c4c82" /><Relationship Type="http://schemas.openxmlformats.org/officeDocument/2006/relationships/notesMaster" Target="/ppt/notesMasters/notesMaster1.xml" Id="Rb40a0572d28b49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35e92d798344fb" /><Relationship Type="http://schemas.openxmlformats.org/officeDocument/2006/relationships/notesMaster" Target="/ppt/notesMasters/notesMaster1.xml" Id="Ree7f0ee7743742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工具针对当前工程真实构建范围内的全局、文件静态、函数静态及可恢复成员/数组存储访问。图是工具处理的典型条件关系，并不宣称任意工程的每个变量都有三个参与者。RTOS 任务、IRQ、DMA/异步执行的关系需要配置和实际调用/注册事实支持。人工难点是将分散在调用链、别名、优先级/屏蔽、初始化和硬件生命周期中的证据合在一起。ECRA 的静态扫描不执行目标固件；可选模型回到当前源码核查，保留证据与未知。此处不声称排查时间、缺陷率或覆盖率提升。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README.md</a:t>
            </a:r>
          </a:p>
          <a:p xmlns:a="http://schemas.openxmlformats.org/drawingml/2006/main">
            <a:r>
              <a:t>ecra/analysis.py analyze、context_graph</a:t>
            </a:r>
          </a:p>
          <a:p xmlns:a="http://schemas.openxmlformats.org/drawingml/2006/main">
            <a:r>
              <a:t>ecra/evidence.py classify</a:t>
            </a:r>
          </a:p>
          <a:p xmlns:a="http://schemas.openxmlformats.org/drawingml/2006/main">
            <a:r>
              <a:t>ecra/async_semantics.py</a:t>
            </a:r>
          </a:p>
          <a:p xmlns:a="http://schemas.openxmlformats.org/drawingml/2006/main">
            <a:r>
              <a:t>ecra/physical.py</a:t>
            </a:r>
          </a:p>
          <a:p xmlns:a="http://schemas.openxmlformats.org/drawingml/2006/main">
            <a:r>
              <a:t>ecra/review.py REVIEW_PROMPT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本图对应 p02 四层调用与局部旧值场景。Lab_Low 读取 g_shared 到 previous，经 A→B→C→SetValue 写回；Lab_High 调用 SetValue(200)。Lab_Init 调用 Lab_Configure(10,2)，board.c 使用 NVIC_PRIORITYGROUP_4，TIM7 的抢占优先级数值2高于TIM6的10，二者均已使能。0是全局静态存储g_shared的零初始化值，200是源码中高优先级写入的常量。图展示源码允许的交错，不声称实测硬件触发概率或时延。READ_THEN_WRITEBACK 指先读共享旧值再通过本地值写回同一存储对象，传播层数不消除旧值。p02 宿主回放实际以初值1/新值200检查最终旧值1被恢复，14项回放中该项断言通过。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validation/stm32_cube_cdc_20261018/projects/p02/App/lab.c</a:t>
            </a:r>
          </a:p>
          <a:p xmlns:a="http://schemas.openxmlformats.org/drawingml/2006/main">
            <a:r>
              <a:t>validation/stm32_cube_cdc_20261018/projects/p02/App/board.c</a:t>
            </a:r>
          </a:p>
          <a:p xmlns:a="http://schemas.openxmlformats.org/drawingml/2006/main">
            <a:r>
              <a:t>scripts/replay_stm32_interleavings.py</a:t>
            </a:r>
          </a:p>
          <a:p xmlns:a="http://schemas.openxmlformats.org/drawingml/2006/main">
            <a:r>
              <a:t>docs/stm32_cube_cdc_validation_results.json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cli.run 经 compilation.prepare 使用真实编译条件，默认当前构建闭包。各编译单元由独立 extract 子进程提取，之后 analysis.analyze 统一别名、间接调用/回调、存储对象与真实执行者，并核对保护/初始化，evidence.classify 生成四类静态结论。普通提取失败保留诊断与相关缺口；关键指针求解不收敛或输入中途变化拒绝产生截断安全结论。静态 report.generate、workflow.save_scan 在模型前保存 facts、报告、input_manifest、scan_state 与 PENDING 队列。模型默认关闭；开启后按变量候选和独立覆盖盲区建立 Packet，review_all 只读调用 OpenCode，校验并存档；显式安全样本可抽查。两个HTML均保存现有证据视图，静态分类与AI状态独立。图中各层是同一工具的逻辑职责，OpenCode为外部CLI；不是微服务部署图。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ecra/cli.py run</a:t>
            </a:r>
          </a:p>
          <a:p xmlns:a="http://schemas.openxmlformats.org/drawingml/2006/main">
            <a:r>
              <a:t>ecra/compilation.py prepare</a:t>
            </a:r>
          </a:p>
          <a:p xmlns:a="http://schemas.openxmlformats.org/drawingml/2006/main">
            <a:r>
              <a:t>ecra/extract.py</a:t>
            </a:r>
          </a:p>
          <a:p xmlns:a="http://schemas.openxmlformats.org/drawingml/2006/main">
            <a:r>
              <a:t>ecra/analysis.py analyze</a:t>
            </a:r>
          </a:p>
          <a:p xmlns:a="http://schemas.openxmlformats.org/drawingml/2006/main">
            <a:r>
              <a:t>ecra/evidence.py classify</a:t>
            </a:r>
          </a:p>
          <a:p xmlns:a="http://schemas.openxmlformats.org/drawingml/2006/main">
            <a:r>
              <a:t>ecra/workflow.py save_scan</a:t>
            </a:r>
          </a:p>
          <a:p xmlns:a="http://schemas.openxmlformats.org/drawingml/2006/main">
            <a:r>
              <a:t>ecra/review.py review_all</a:t>
            </a:r>
          </a:p>
          <a:p xmlns:a="http://schemas.openxmlformats.org/drawingml/2006/main">
            <a:r>
              <a:t>ecra/report.py generate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编译数据库提供芯片宏、头文件、CPU和语言等解析条件。extract提取AST事实；跨TU合并后恢复指针/函数指针与注册异步调用，extern归一、同名static区分、成员/数组与重叠存储关系，以及main/任务/IRQ/DMA真实执行者。物理同IRQ回调串行，不按函数名误判并发。初始化证明需先于相关异步使能；保护需覆盖必要参与者和完整访问窗口。VariableEvidenceSlice汇聚相关访问、路径、冲突与关键缺口。当前四分类来自CLASSIFIED_STATES：SUSPECT保留已知破坏性冲突；UNKNOWN表示相关缺口可能隐藏冲突；严格shared_no_review_proof在满足对齐标量、单物理写者、纯读观察者以及协议/别名/未知排除等全部门禁后才免常规复核，不能把它称作安全证明。SAFE_PROVEN只在当前模型与已知证据范围内成立；严格私有未被读取的普通写等特殊规则在源码中有独立门禁。本页是概念数据流，不代表classify仅依赖四个字段或做线性启发式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ecra/compilation.py</a:t>
            </a:r>
          </a:p>
          <a:p xmlns:a="http://schemas.openxmlformats.org/drawingml/2006/main">
            <a:r>
              <a:t>ecra/extract.py</a:t>
            </a:r>
          </a:p>
          <a:p xmlns:a="http://schemas.openxmlformats.org/drawingml/2006/main">
            <a:r>
              <a:t>ecra/points_to.py</a:t>
            </a:r>
          </a:p>
          <a:p xmlns:a="http://schemas.openxmlformats.org/drawingml/2006/main">
            <a:r>
              <a:t>ecra/context_points.py</a:t>
            </a:r>
          </a:p>
          <a:p xmlns:a="http://schemas.openxmlformats.org/drawingml/2006/main">
            <a:r>
              <a:t>ecra/storage.py</a:t>
            </a:r>
          </a:p>
          <a:p xmlns:a="http://schemas.openxmlformats.org/drawingml/2006/main">
            <a:r>
              <a:t>ecra/physical.py</a:t>
            </a:r>
          </a:p>
          <a:p xmlns:a="http://schemas.openxmlformats.org/drawingml/2006/main">
            <a:r>
              <a:t>ecra/protection.py</a:t>
            </a:r>
          </a:p>
          <a:p xmlns:a="http://schemas.openxmlformats.org/drawingml/2006/main">
            <a:r>
              <a:t>ecra/initialization.py</a:t>
            </a:r>
          </a:p>
          <a:p xmlns:a="http://schemas.openxmlformats.org/drawingml/2006/main">
            <a:r>
              <a:t>ecra/evidence.py CLASSIFIED_STATES、classify、shared_no_review_proof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cket由build_variable_review_packet构建：本变量全部访问、无损去重后的完整已恢复调用路径、函数/调用边、执行者及物理绑定、保护/屏蔽/初始化、指针逃逸与相关缺口，以及原facts/staticreport/源码导航；不附完整函数正文。Prompt实际拼接REVIEW_PROMPT、当前配置相邻review_context.md、案例索引/只读快照和CONTRACT_PROMPT及固定finding_id。案例长索引先分段读完再选相关正文；背景与案例作为待核资料，不能覆盖规则。OpenCode run --agent ecra-review --format json --file Packet，配置可选model，长Prompt经stdin完整传入。八步为同一次变量分析的方法要求，不是八次硬编码调用：1核实对象/全部访问/别名及真实构建；2恢复入口、优先级、mask、DMA、使能及阶段；3追踪READ→参数/局部→跨函数Setter→WRITEBACK；4构造可行且产生具体坏结果的交错，缺少决定性生成代码证据时保留未知；5核对关联状态、所有权、生命周期及真实业务协议；6核查全窗口/全部参与者保护和原mask恢复；7用案例及排除陷阱启发并检查库外模式；8主动寻找不可达/串行/完整保护等反证。五种输出status为CONFIRMED、LIKELY、REVIEWED_SAFE、FALSE_POSITIVE、NEED_MORE_CONTEXT；后两种不确定状态LIKELY和NEED_MORE_CONTEXT必须列missing_context。此方法要求并不保证模型每次遵循，首轮实际语义错误见第8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ecra/review.py build_variable_review_packet、REVIEW_PROMPT、invoke、_review_env</a:t>
            </a:r>
          </a:p>
          <a:p xmlns:a="http://schemas.openxmlformats.org/drawingml/2006/main">
            <a:r>
              <a:t>ecra/review_context.py</a:t>
            </a:r>
          </a:p>
          <a:p xmlns:a="http://schemas.openxmlformats.org/drawingml/2006/main">
            <a:r>
              <a:t>ecra/case_library.py</a:t>
            </a:r>
          </a:p>
          <a:p xmlns:a="http://schemas.openxmlformats.org/drawingml/2006/main">
            <a:r>
              <a:t>ecra/review_contract.py CONTRACT_PROMPT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比较源自受控p02/p03/p13。p02为volatile uint32_t但READ_THEN_WRITEBACK跨函数仍允许TIM7插入。p03仅在SetValue内保存PRIMASK、disable_irq、写入、恢复mask，Lab_Low在进入该保护前已经读出旧值，因此最终写保护并不能覆盖完整逻辑窗口。p13在Lab_Low读取前保存PRIMASK并disable_irq，读取/SetValue后set_PRIMASK(mask)，阻止本例普通TIM7中断介入；该结论限于此参与者/配置，不推广至NMI、DMA、多核或隐藏实现。PRIMASK是CPU的可屏蔽中断控制状态。采用变量级证据与跨函数窗口核查，是为区分表面相似但保护边界不同的方案；这是一项源码/受控回放对比，未测性能收益。模型对安全结论还需给出全窗口阻断依据，不能只凭自然对齐、单store或锁名称认定安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validation/stm32_cube_cdc_20261018/projects/p02/App/lab.c</a:t>
            </a:r>
          </a:p>
          <a:p xmlns:a="http://schemas.openxmlformats.org/drawingml/2006/main">
            <a:r>
              <a:t>validation/stm32_cube_cdc_20261018/projects/p03/App/lab.c</a:t>
            </a:r>
          </a:p>
          <a:p xmlns:a="http://schemas.openxmlformats.org/drawingml/2006/main">
            <a:r>
              <a:t>validation/stm32_cube_cdc_20261018/projects/p13/App/lab.c</a:t>
            </a:r>
          </a:p>
          <a:p xmlns:a="http://schemas.openxmlformats.org/drawingml/2006/main">
            <a:r>
              <a:t>ecra/stale_writeback.py</a:t>
            </a:r>
          </a:p>
          <a:p xmlns:a="http://schemas.openxmlformats.org/drawingml/2006/main">
            <a:r>
              <a:t>ecra/protection.py</a:t>
            </a:r>
          </a:p>
          <a:p xmlns:a="http://schemas.openxmlformats.org/drawingml/2006/main">
            <a:r>
              <a:t>ecra/review_contract.py validate_stale_writeback_safety</a:t>
            </a:r>
          </a:p>
          <a:p xmlns:a="http://schemas.openxmlformats.org/drawingml/2006/main">
            <a:r>
              <a:t>scripts/replay_stm32_interleavings.py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调度、静态引擎、校验、归档均为同一Python工具的逻辑职责，OpenCode是外部CLI。1静态fact/report/checkpoint/queue先落盘；关闭模型到此即可。2每变量有唯一finding_id，Packet和完整Prompt保存，OpenCode只读执行，模型读取原工程/source与对应证据/案例文件。3按源码位置核实并构造交错；4从JSONL提取最终JSON，先识别provider错误，验证ID/五状态/非空理由/有效工程内文件行号，确认或安全结论须引用，不确定结论须具体missing_context。源码引用合法不等于推理被证明。5每项完成更新queue与结果/receipt，保留原始JSONL/stderr/argv/model/时间/哈希。队列状态PENDING、DONE、TECH_FAILED与语义状态独立；DONE+LIKELY/NEED_MORE_CONTEXT仍未解决。三类处理独立：调用错误按retries+1有界尝试；格式/契约/引用失败最多两次FORMAT_FIX，禁止源码工具与添加事实；带READ_THEN_WRITEBACK的安全答复缺完整窗口证明可触发一次STALE_WRITEBACK_CHALLENGE，允许聚焦读源码；最终失败保留TECH_FAILED。run仅在scan/Packet/Prompt/模型/复核实现键和收据有效时复用DONE；review重评全部当前候选，review-failed仅选技术失败；源码/构建/静态配置变化必须重扫。背景/案例更新可复用静态事实但需重新复核。队列核对缺失/多余/重复ID，所有选择目标按批完成，max_items为批大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ecra/cli.py run、checkpoint</a:t>
            </a:r>
          </a:p>
          <a:p xmlns:a="http://schemas.openxmlformats.org/drawingml/2006/main">
            <a:r>
              <a:t>ecra/workflow.py checked_scan、saved_run</a:t>
            </a:r>
          </a:p>
          <a:p xmlns:a="http://schemas.openxmlformats.org/drawingml/2006/main">
            <a:r>
              <a:t>ecra/review.py review_all、invoke、completed、verify_receipt</a:t>
            </a:r>
          </a:p>
          <a:p xmlns:a="http://schemas.openxmlformats.org/drawingml/2006/main">
            <a:r>
              <a:t>ecra/review_contract.py</a:t>
            </a:r>
          </a:p>
          <a:p xmlns:a="http://schemas.openxmlformats.org/drawingml/2006/main">
            <a:r>
              <a:t>ecra/review_integrity.py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图表数据直接计算自docs/stm32_cube_cdc_validation_results.json rounds.round1，剔除category=baseline的p00，只计p01..p20，每项独立ID且首轮前固定expectations。13风险、5安全对照、2源码证据不足，分别13/13、4/5、1/2状态与独立allowed一致，总18/20；20项均DONE，技术失败0，但语义错误2。p17不可见Board_IrqPolicy的最终抢占/屏蔽效果未知，首轮仍CONFIRMED；p19单字盲写命令邮箱误增“高优先级写必须胜出”等义务而CONFIRMED。n=2不足证据场景衡量证据边界，不代表已知对象代码必然有缺陷。图是计数而非总体准确率估计；未给泛化区间、性能提升或上板效果。平台为ST官方CDC_Standalone bare-metal应用，固定commit94cae6e83f00e276a11957e7833c01ac3d0bd7af，真实Arm GCC10.3构建与Clang分析，OpenCode1.18.35。21固件构建含基线不等于21独立冷扫描；模板TU哈希匹配缓存复用，变更lab.c重新提取。首轮每项成功源码read，总89次；19/20读案例正文，不声称全20项均读案例正文。对应Packet/Prompt与归档收据保留。本页首轮使用当时提示词，后续定向复测单列第9页，不能混为当前规则完整回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docs/stm32_cube_cdc_validation.md</a:t>
            </a:r>
          </a:p>
          <a:p xmlns:a="http://schemas.openxmlformats.org/drawingml/2006/main">
            <a:r>
              <a:t>docs/stm32_cube_cdc_validation_results.json</a:t>
            </a:r>
          </a:p>
          <a:p xmlns:a="http://schemas.openxmlformats.org/drawingml/2006/main">
            <a:r>
              <a:t>tests/fixtures/stm32_cdc/expectations.json</a:t>
            </a:r>
          </a:p>
          <a:p xmlns:a="http://schemas.openxmlformats.org/drawingml/2006/main">
            <a:r>
              <a:t>scripts/validate_stm32_cdc.py export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所有数值来自2026-10-18已归档验证。本次构建p00基线和p01..p20，每版compile database包含40条（含非C/C++项），成功分析39个C/C++TU；基线244变量。仅首份完全提取，后续变体38TU响应由编译命令/源码/依赖/内容哈希匹配缓存复用，变更lab.c重新提取；p01 board.c独立重提取与迁移响应相同，不能称21次独立冷扫。14个host replay均passed，对实际C源码副本插入显式一次性抢占点，检查丢更新/混合快照/代际/长度等及有效屏蔽，SysTick等待用16循环有界不推进观察；不模拟DMA、总线、物理时延。最终verified四项：p16 REVIEWED_SAFE、p17 LIKELY且有missing_context、p18 NEED_MORE_CONTEXT、p19 REVIEWED_SAFE，全部符合独立allowed；该组专门针对已知失败类型，不能作新全矩阵准确率。中间final九项只有6/9，且曾新增p16 DMA误报，历史保留。p17措辞仍需结合缺口读，不能当成板上证实。后续stability/risk_regression真实provider HTTP429 lowcredit导致TECH_FAILED，不能将成功旧答案覆盖失败。自动回归tests-final.log为Ran659、OK(skipped=2)，SHA256与final_verification相同。46份归档一致另有记录，但本页不再堆砌。未烧录板卡。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docs/stm32_cube_cdc_validation.md</a:t>
            </a:r>
          </a:p>
          <a:p xmlns:a="http://schemas.openxmlformats.org/drawingml/2006/main">
            <a:r>
              <a:t>docs/stm32_cube_cdc_validation_results.json</a:t>
            </a:r>
          </a:p>
          <a:p xmlns:a="http://schemas.openxmlformats.org/drawingml/2006/main">
            <a:r>
              <a:t>validation/stm32_cube_cdc_20261018/host-replays/results.json</a:t>
            </a:r>
          </a:p>
          <a:p xmlns:a="http://schemas.openxmlformats.org/drawingml/2006/main">
            <a:r>
              <a:t>validation/stm32_cube_cdc_20261018/tests-final.log</a:t>
            </a:r>
          </a:p>
          <a:p xmlns:a="http://schemas.openxmlformats.org/drawingml/2006/main">
            <a:r>
              <a:t>scripts/replay_stm32_interleavings.py</a:t>
            </a:r>
          </a:p>
          <a:p xmlns:a="http://schemas.openxmlformats.org/drawingml/2006/main">
            <a:r>
              <a:t>scripts/validate_stm32_cdc.py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交付物是静态全量变量与覆盖台账、可追溯逐变量证据、独立模型语义判断及未解决事实，便于工程师集中审查和后续核对；未测量时间节省、成本下降或泛化准确率。接入使用工具目录唯一config/semantics.yaml，project.root指定固件，analysis配置真实CMake/compile database、范围，必要上下文/API语义，背景与案例同配置目录维护。图为正式评审后的应用路径，具体新工程接入见one-command-tutorial。源码目录使用py -3.10 run_ecra.py；便携包ecra.cmd封装同一入口。--no-review执行静态run不调用模型；review显式启用模型重评全部当前SUSPECT/UNKNOWN，已有有效静态扫描是前提。HTML在固件analysis.output_dir（默认.ecra），review可运行但OpenCode/账户必须预先配置。TECH_FAILED可用py -3.10 run_ecra.py review-failed重试；report仅重建报告。源码、构建、静态配置变化需run刷新，不能对旧快照复核；仅背景/案例/模型变化可保留静态事实后重新review。模型verification为建议，工具不自动执行目标板验证。观察SUSPECT/UNKNOWN、LIKELY、NEED_MORE_CONTEXT与coverage缺口，不能用候选消失或DONE推断缺陷已修。支持的实际场景边界需每工程核对，当前实证仅前页所列受控固件和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项目来源</a:t>
            </a:r>
          </a:p>
          <a:p xmlns:a="http://schemas.openxmlformats.org/drawingml/2006/main">
            <a:r>
              <a:t>run_ecra.py</a:t>
            </a:r>
          </a:p>
          <a:p xmlns:a="http://schemas.openxmlformats.org/drawingml/2006/main">
            <a:r>
              <a:t>build_portable.ps1</a:t>
            </a:r>
          </a:p>
          <a:p xmlns:a="http://schemas.openxmlformats.org/drawingml/2006/main">
            <a:r>
              <a:t>ecra/cli.py main</a:t>
            </a:r>
          </a:p>
          <a:p xmlns:a="http://schemas.openxmlformats.org/drawingml/2006/main">
            <a:r>
              <a:t>ecra/config.py</a:t>
            </a:r>
          </a:p>
          <a:p xmlns:a="http://schemas.openxmlformats.org/drawingml/2006/main">
            <a:r>
              <a:t>ecra/workflow.py checked_scan、saved_run</a:t>
            </a:r>
          </a:p>
          <a:p xmlns:a="http://schemas.openxmlformats.org/drawingml/2006/main">
            <a:r>
              <a:t>docs/one-command-tutorial.md</a:t>
            </a:r>
          </a:p>
          <a:p xmlns:a="http://schemas.openxmlformats.org/drawingml/2006/main">
            <a:r>
              <a:t>ecra/report.py</a:t>
            </a:r>
          </a:p>
          <a:p xmlns:a="http://schemas.openxmlformats.org/drawingml/2006/main">
            <a:r>
              <a:t>ecra/review.py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63e9c9afb34a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c8637159d844b1" /><Relationship Type="http://schemas.openxmlformats.org/officeDocument/2006/relationships/slideLayout" Target="/ppt/slideLayouts/slideLayout1.xml" Id="R946272d5fae248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6272d5fae248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cf186fa5d4d7b" /><Relationship Type="http://schemas.openxmlformats.org/officeDocument/2006/relationships/notesSlide" Target="/ppt/notesSlides/notesSlide1.xml" Id="R3588367cc85540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2aa216159946ac" /><Relationship Type="http://schemas.openxmlformats.org/officeDocument/2006/relationships/notesSlide" Target="/ppt/notesSlides/notesSlide2.xml" Id="Ra34e7b90fc2b4c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d3b684f664e8a" /><Relationship Type="http://schemas.openxmlformats.org/officeDocument/2006/relationships/notesSlide" Target="/ppt/notesSlides/notesSlide3.xml" Id="R21d51b41d9204b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1b8619246426c" /><Relationship Type="http://schemas.openxmlformats.org/officeDocument/2006/relationships/notesSlide" Target="/ppt/notesSlides/notesSlide4.xml" Id="Rd02c1b0e184b48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8640017ce4058" /><Relationship Type="http://schemas.openxmlformats.org/officeDocument/2006/relationships/notesSlide" Target="/ppt/notesSlides/notesSlide5.xml" Id="R67e78e0694764d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f7027261e748d7" /><Relationship Type="http://schemas.openxmlformats.org/officeDocument/2006/relationships/notesSlide" Target="/ppt/notesSlides/notesSlide6.xml" Id="R756d44d036d842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41601d0fe44b48" /><Relationship Type="http://schemas.openxmlformats.org/officeDocument/2006/relationships/notesSlide" Target="/ppt/notesSlides/notesSlide7.xml" Id="R1ccd141276df47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0e51db70d34bad" /><Relationship Type="http://schemas.openxmlformats.org/officeDocument/2006/relationships/chart" Target="/ppt/slides/charts/chart1.xml" Id="Re0f6107389204794" /><Relationship Type="http://schemas.openxmlformats.org/officeDocument/2006/relationships/notesSlide" Target="/ppt/notesSlides/notesSlide8.xml" Id="R872a1308c06b4e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1258b7c114b83" /><Relationship Type="http://schemas.openxmlformats.org/officeDocument/2006/relationships/notesSlide" Target="/ppt/notesSlides/notesSlide9.xml" Id="R9d717e229bf340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e1413d1a74947" /><Relationship Type="http://schemas.openxmlformats.org/officeDocument/2006/relationships/notesSlide" Target="/ppt/notesSlides/notesSlide10.xml" Id="R0b3ac0de99294f8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符合独立预期</c:v>
          </c:tx>
          <c:spPr>
            <a:solidFill xmlns:a="http://schemas.openxmlformats.org/drawingml/2006/main">
              <a:srgbClr val="245D9C"/>
            </a:solidFill>
          </c:spPr>
          <c:cat>
            <c:strRef>
              <c:f>'Chart Data'!$A$2:$A$4</c:f>
              <c:strCache>
                <c:ptCount val="3"/>
                <c:pt idx="0">
                  <c:v>证据不足（2项）</c:v>
                </c:pt>
                <c:pt idx="1">
                  <c:v>安全对照（5项）</c:v>
                </c:pt>
                <c:pt idx="2">
                  <c:v>风险场景（13项）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</c:v>
                </c:pt>
                <c:pt idx="1">
                  <c:v>4</c:v>
                </c:pt>
                <c:pt idx="2">
                  <c:v>13</c:v>
                </c:pt>
              </c:numCache>
            </c:numRef>
          </c:val>
        </c:ser>
        <c:ser>
          <c:idx val="1"/>
          <c:order val="1"/>
          <c:tx>
            <c:v>语义误判</c:v>
          </c:tx>
          <c:spPr>
            <a:solidFill xmlns:a="http://schemas.openxmlformats.org/drawingml/2006/main">
              <a:srgbClr val="B64835"/>
            </a:solidFill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250" b="1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250" b="1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2250" b="1">
                      <a:solidFill>
                        <a:srgbClr val="FFFFFF"/>
                      </a:solidFill>
                      <a:latin typeface="Microsoft YaHei"/>
                      <a:ea typeface="Microsoft YaHei"/>
                      <a:cs typeface="Microsoft YaHei"/>
                    </a:defRPr>
                  </a:pPr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Data'!$C$2:$C$4</c:f>
              <c:strCache>
                <c:ptCount val="3"/>
                <c:pt idx="0">
                  <c:v>证据不足（2项）</c:v>
                </c:pt>
                <c:pt idx="1">
                  <c:v>安全对照（5项）</c:v>
                </c:pt>
                <c:pt idx="2">
                  <c:v>风险场景（13项）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1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250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B9C8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FE6E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solidFill>
                <a:srgbClr val="173049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8C93F911-AC74-4EA9-80B9-82196FF5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 技术评审与项目成果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829D52-DAF8-4511-ADEF-5EEA75CC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并发风险隐藏在跨函数、跨中断的完整执行路径中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A704E6DB-FFD7-43A8-A56A-F4DD99BD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ECRA：面向 STM32 C/C++ 全局与 static 变量的静态排查及可选源码复核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C058021-2DC4-4F0E-A837-88981C66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scenario-caption">
            <a:extLst xmlns:a="http://schemas.openxmlformats.org/drawingml/2006/main">
              <a:ext uri="{FF2B5EF4-FFF2-40B4-BE49-F238E27FC236}">
                <a16:creationId xmlns:a16="http://schemas.microsoft.com/office/drawing/2014/main" id="{95FF0B6F-1032-4167-817D-C040C151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371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典型场景：多个执行者访问同一存储对象</a:t>
            </a:r>
          </a:p>
        </p:txBody>
      </p:sp>
      <p:sp>
        <p:nvSpPr>
          <p:cNvPr id="6" name="actor-0">
            <a:extLst xmlns:a="http://schemas.openxmlformats.org/drawingml/2006/main">
              <a:ext uri="{FF2B5EF4-FFF2-40B4-BE49-F238E27FC236}">
                <a16:creationId xmlns:a16="http://schemas.microsoft.com/office/drawing/2014/main" id="{BA405154-96B4-462F-A521-22A8E276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主循环 / RTOS 任务</a:t>
            </a:r>
          </a:p>
        </p:txBody>
      </p:sp>
      <p:sp>
        <p:nvSpPr>
          <p:cNvPr id="7" name="actor-1">
            <a:extLst xmlns:a="http://schemas.openxmlformats.org/drawingml/2006/main">
              <a:ext uri="{FF2B5EF4-FFF2-40B4-BE49-F238E27FC236}">
                <a16:creationId xmlns:a16="http://schemas.microsoft.com/office/drawing/2014/main" id="{95784FFD-2445-42B2-9847-4B0D3226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中断 IRQ</a:t>
            </a:r>
          </a:p>
        </p:txBody>
      </p:sp>
      <p:sp>
        <p:nvSpPr>
          <p:cNvPr id="8" name="actor-2">
            <a:extLst xmlns:a="http://schemas.openxmlformats.org/drawingml/2006/main">
              <a:ext uri="{FF2B5EF4-FFF2-40B4-BE49-F238E27FC236}">
                <a16:creationId xmlns:a16="http://schemas.microsoft.com/office/drawing/2014/main" id="{59F0C3E7-0F0A-40A3-895C-9C4C2FB8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7375"/>
            <a:ext cx="3333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DMA：外设数据搬运</a:t>
            </a:r>
          </a:p>
        </p:txBody>
      </p:sp>
      <p:sp>
        <p:nvSpPr>
          <p:cNvPr id="9" name="shared-object">
            <a:extLst xmlns:a="http://schemas.openxmlformats.org/drawingml/2006/main">
              <a:ext uri="{FF2B5EF4-FFF2-40B4-BE49-F238E27FC236}">
                <a16:creationId xmlns:a16="http://schemas.microsoft.com/office/drawing/2014/main" id="{5C9E18A8-AECA-4296-A9D8-B633F1E4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429125"/>
            <a:ext cx="2952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同一共享变量</a:t>
            </a:r>
          </a:p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全局 / static</a:t>
            </a:r>
          </a:p>
        </p:txBody>
      </p:sp>
      <p:sp>
        <p:nvSpPr>
          <p:cNvPr id="10" name="anchor-1">
            <a:extLst xmlns:a="http://schemas.openxmlformats.org/drawingml/2006/main">
              <a:ext uri="{FF2B5EF4-FFF2-40B4-BE49-F238E27FC236}">
                <a16:creationId xmlns:a16="http://schemas.microsoft.com/office/drawing/2014/main" id="{51FFAA2B-DE65-49B3-BDF6-7C418A8C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586163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anchor-2">
            <a:extLst xmlns:a="http://schemas.openxmlformats.org/drawingml/2006/main">
              <a:ext uri="{FF2B5EF4-FFF2-40B4-BE49-F238E27FC236}">
                <a16:creationId xmlns:a16="http://schemas.microsoft.com/office/drawing/2014/main" id="{71D82340-C601-478A-844E-27E06FAD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86163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105275" y="3595688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13" name="anchor-3">
            <a:extLst xmlns:a="http://schemas.openxmlformats.org/drawingml/2006/main">
              <a:ext uri="{FF2B5EF4-FFF2-40B4-BE49-F238E27FC236}">
                <a16:creationId xmlns:a16="http://schemas.microsoft.com/office/drawing/2014/main" id="{B4C1BF90-3D1D-4157-9653-F6697B82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586163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anchor-4">
            <a:extLst xmlns:a="http://schemas.openxmlformats.org/drawingml/2006/main">
              <a:ext uri="{FF2B5EF4-FFF2-40B4-BE49-F238E27FC236}">
                <a16:creationId xmlns:a16="http://schemas.microsoft.com/office/drawing/2014/main" id="{CED18853-23D1-45C2-9090-A7ED29E59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57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4714875" y="3605213"/>
            <a:ext cx="0" cy="1052512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16" name="anchor-5">
            <a:extLst xmlns:a="http://schemas.openxmlformats.org/drawingml/2006/main">
              <a:ext uri="{FF2B5EF4-FFF2-40B4-BE49-F238E27FC236}">
                <a16:creationId xmlns:a16="http://schemas.microsoft.com/office/drawing/2014/main" id="{4E64A17E-DE50-49C2-9228-3C74C4B6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57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6">
            <a:extLst xmlns:a="http://schemas.openxmlformats.org/drawingml/2006/main">
              <a:ext uri="{FF2B5EF4-FFF2-40B4-BE49-F238E27FC236}">
                <a16:creationId xmlns:a16="http://schemas.microsoft.com/office/drawing/2014/main" id="{694631CB-0A26-47FE-B424-B2B3F0146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657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4724400" y="466725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095750" y="4833938"/>
            <a:ext cx="1190625" cy="71438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anchor-7">
            <a:extLst xmlns:a="http://schemas.openxmlformats.org/drawingml/2006/main">
              <a:ext uri="{FF2B5EF4-FFF2-40B4-BE49-F238E27FC236}">
                <a16:creationId xmlns:a16="http://schemas.microsoft.com/office/drawing/2014/main" id="{A2878919-6BA8-4B88-9A2E-F835176F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6062663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anchor-8">
            <a:extLst xmlns:a="http://schemas.openxmlformats.org/drawingml/2006/main">
              <a:ext uri="{FF2B5EF4-FFF2-40B4-BE49-F238E27FC236}">
                <a16:creationId xmlns:a16="http://schemas.microsoft.com/office/drawing/2014/main" id="{4FDEC857-603C-40E8-808C-EE641073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062663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7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105275" y="6072188"/>
            <a:ext cx="6000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23" name="anchor-9">
            <a:extLst xmlns:a="http://schemas.openxmlformats.org/drawingml/2006/main">
              <a:ext uri="{FF2B5EF4-FFF2-40B4-BE49-F238E27FC236}">
                <a16:creationId xmlns:a16="http://schemas.microsoft.com/office/drawing/2014/main" id="{1F53403D-6FEB-49FA-A0B0-95E8AADD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062663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anchor-10">
            <a:extLst xmlns:a="http://schemas.openxmlformats.org/drawingml/2006/main">
              <a:ext uri="{FF2B5EF4-FFF2-40B4-BE49-F238E27FC236}">
                <a16:creationId xmlns:a16="http://schemas.microsoft.com/office/drawing/2014/main" id="{DC2FE3D8-2B46-4BDF-98CB-AA83FEF4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33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" name=""/>
          <p:cNvCxnSpPr>
            <a:stCxn xmlns:a="http://schemas.openxmlformats.org/drawingml/2006/main" id="23" idx="0"/>
            <a:endCxn xmlns:a="http://schemas.openxmlformats.org/drawingml/2006/main" id="24" idx="2"/>
          </p:cNvCxnSpPr>
          <p:nvPr/>
        </p:nvCxnSpPr>
        <p:spPr>
          <a:xfrm xmlns:a="http://schemas.openxmlformats.org/drawingml/2006/main" flipV="1">
            <a:off x="4714875" y="5153025"/>
            <a:ext cx="0" cy="909638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26" name="anchor-11">
            <a:extLst xmlns:a="http://schemas.openxmlformats.org/drawingml/2006/main">
              <a:ext uri="{FF2B5EF4-FFF2-40B4-BE49-F238E27FC236}">
                <a16:creationId xmlns:a16="http://schemas.microsoft.com/office/drawing/2014/main" id="{90B5B2D7-1432-4B1A-A1FB-60FEC41D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33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anchor-12">
            <a:extLst xmlns:a="http://schemas.openxmlformats.org/drawingml/2006/main">
              <a:ext uri="{FF2B5EF4-FFF2-40B4-BE49-F238E27FC236}">
                <a16:creationId xmlns:a16="http://schemas.microsoft.com/office/drawing/2014/main" id="{FA2EC410-4E48-47FB-907E-291E4153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133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3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4724400" y="5143500"/>
            <a:ext cx="5524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9" name="anchor-13">
            <a:extLst xmlns:a="http://schemas.openxmlformats.org/drawingml/2006/main">
              <a:ext uri="{FF2B5EF4-FFF2-40B4-BE49-F238E27FC236}">
                <a16:creationId xmlns:a16="http://schemas.microsoft.com/office/drawing/2014/main" id="{F04A5147-98AA-4B70-BD75-AE6F8F3C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895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14">
            <a:extLst xmlns:a="http://schemas.openxmlformats.org/drawingml/2006/main">
              <a:ext uri="{FF2B5EF4-FFF2-40B4-BE49-F238E27FC236}">
                <a16:creationId xmlns:a16="http://schemas.microsoft.com/office/drawing/2014/main" id="{AD10E6CC-0E56-42C5-AECC-8F54CCBD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895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8248650" y="4905375"/>
            <a:ext cx="12192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2" name="review-question-heading">
            <a:extLst xmlns:a="http://schemas.openxmlformats.org/drawingml/2006/main">
              <a:ext uri="{FF2B5EF4-FFF2-40B4-BE49-F238E27FC236}">
                <a16:creationId xmlns:a16="http://schemas.microsoft.com/office/drawing/2014/main" id="{27BF6977-77E2-4779-87AC-1DA09B9F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099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人工排查必须还原</a:t>
            </a:r>
          </a:p>
        </p:txBody>
      </p:sp>
      <p:sp>
        <p:nvSpPr>
          <p:cNvPr id="33" name="review-question-body">
            <a:extLst xmlns:a="http://schemas.openxmlformats.org/drawingml/2006/main">
              <a:ext uri="{FF2B5EF4-FFF2-40B4-BE49-F238E27FC236}">
                <a16:creationId xmlns:a16="http://schemas.microsoft.com/office/drawing/2014/main" id="{63E33D89-266F-4933-A360-811E0292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52875"/>
            <a:ext cx="457200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访问经过哪些函数？</a:t>
            </a:r>
          </a:p>
          <a:p xmlns:a="http://schemas.openxmlformats.org/drawingml/2006/main">
            <a:pPr algn="l">
              <a:defRPr sz="22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谁能在中途抢占？</a:t>
            </a:r>
          </a:p>
          <a:p xmlns:a="http://schemas.openxmlformats.org/drawingml/2006/main">
            <a:pPr algn="l">
              <a:defRPr sz="22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保护是否覆盖整个窗口？</a:t>
            </a:r>
          </a:p>
          <a:p xmlns:a="http://schemas.openxmlformats.org/drawingml/2006/main">
            <a:pPr algn="l">
              <a:defRPr sz="22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缺失实现会隐藏什么？</a:t>
            </a:r>
          </a:p>
        </p:txBody>
      </p:sp>
      <p:sp>
        <p:nvSpPr>
          <p:cNvPr id="34" name="motivation">
            <a:extLst xmlns:a="http://schemas.openxmlformats.org/drawingml/2006/main">
              <a:ext uri="{FF2B5EF4-FFF2-40B4-BE49-F238E27FC236}">
                <a16:creationId xmlns:a16="http://schemas.microsoft.com/office/drawing/2014/main" id="{C3ADEB59-7F2B-4FD7-850A-030B443F5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19925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只看到一次读写，无法解释一次真实错误是怎样发生的</a:t>
            </a:r>
          </a:p>
        </p:txBody>
      </p:sp>
      <p:sp>
        <p:nvSpPr>
          <p:cNvPr id="35" name="approach">
            <a:extLst xmlns:a="http://schemas.openxmlformats.org/drawingml/2006/main">
              <a:ext uri="{FF2B5EF4-FFF2-40B4-BE49-F238E27FC236}">
                <a16:creationId xmlns:a16="http://schemas.microsoft.com/office/drawing/2014/main" id="{3AC1090E-4019-4C3C-8994-C3DE18DE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34300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ECRA 先恢复当前构建中的访问全貌，再逐项核查可行交错与具体错误结果。</a:t>
            </a:r>
          </a:p>
        </p:txBody>
      </p:sp>
    </p:spTree>
    <p:extLst>
      <p:ext uri="{BB962C8B-B14F-4D97-AF65-F5344CB8AC3E}">
        <p14:creationId xmlns:p14="http://schemas.microsoft.com/office/powerpoint/2010/main" val="1521489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E28EB7C8-2FA6-4F78-8965-BC502C0C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 技术评审与项目成果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39A183-F923-4C46-A5F1-066C0058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旧值跨四层函数写回，仍会覆盖高优先级中断的新值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AE3DBEB-FD27-437E-A720-CA44CEA5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真实受控场景 p02：单次写入完整，也不能保护“读取旧值 → 传播 → 最终写回”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0B70380-E727-4019-9261-897B24B7A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participant-TIM6 低优先级&#10;抢占优先级 10">
            <a:extLst xmlns:a="http://schemas.openxmlformats.org/drawingml/2006/main">
              <a:ext uri="{FF2B5EF4-FFF2-40B4-BE49-F238E27FC236}">
                <a16:creationId xmlns:a16="http://schemas.microsoft.com/office/drawing/2014/main" id="{D9F39CDB-B429-4799-B0C0-E16373AAC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TIM6 低优先级</a:t>
            </a:r>
          </a:p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抢占优先级 10</a:t>
            </a:r>
          </a:p>
        </p:txBody>
      </p:sp>
      <p:sp>
        <p:nvSpPr>
          <p:cNvPr id="6" name="anchor-15">
            <a:extLst xmlns:a="http://schemas.openxmlformats.org/drawingml/2006/main">
              <a:ext uri="{FF2B5EF4-FFF2-40B4-BE49-F238E27FC236}">
                <a16:creationId xmlns:a16="http://schemas.microsoft.com/office/drawing/2014/main" id="{5EED8CCA-6E24-41D8-A4D8-A1543E88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81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anchor-16">
            <a:extLst xmlns:a="http://schemas.openxmlformats.org/drawingml/2006/main">
              <a:ext uri="{FF2B5EF4-FFF2-40B4-BE49-F238E27FC236}">
                <a16:creationId xmlns:a16="http://schemas.microsoft.com/office/drawing/2014/main" id="{4D09DC7B-CB18-42BA-B73E-FB60A575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713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524125" y="3200400"/>
            <a:ext cx="0" cy="3933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9" name="participant-共享变量&#10;g_shared">
            <a:extLst xmlns:a="http://schemas.openxmlformats.org/drawingml/2006/main">
              <a:ext uri="{FF2B5EF4-FFF2-40B4-BE49-F238E27FC236}">
                <a16:creationId xmlns:a16="http://schemas.microsoft.com/office/drawing/2014/main" id="{301B670A-5043-48A8-8582-B2E8DE0E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33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共享变量</a:t>
            </a:r>
          </a:p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g_shared</a:t>
            </a:r>
          </a:p>
        </p:txBody>
      </p:sp>
      <p:sp>
        <p:nvSpPr>
          <p:cNvPr id="10" name="anchor-17">
            <a:extLst xmlns:a="http://schemas.openxmlformats.org/drawingml/2006/main">
              <a:ext uri="{FF2B5EF4-FFF2-40B4-BE49-F238E27FC236}">
                <a16:creationId xmlns:a16="http://schemas.microsoft.com/office/drawing/2014/main" id="{0712D285-2A62-461F-8A68-0FB3D0A7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81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anchor-18">
            <a:extLst xmlns:a="http://schemas.openxmlformats.org/drawingml/2006/main">
              <a:ext uri="{FF2B5EF4-FFF2-40B4-BE49-F238E27FC236}">
                <a16:creationId xmlns:a16="http://schemas.microsoft.com/office/drawing/2014/main" id="{DFA77EB7-BC08-43FA-BF14-A550C714A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713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7667625" y="3200400"/>
            <a:ext cx="0" cy="3933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13" name="participant-TIM7 高优先级&#10;抢占优先级 2">
            <a:extLst xmlns:a="http://schemas.openxmlformats.org/drawingml/2006/main">
              <a:ext uri="{FF2B5EF4-FFF2-40B4-BE49-F238E27FC236}">
                <a16:creationId xmlns:a16="http://schemas.microsoft.com/office/drawing/2014/main" id="{A588E09A-947C-49F9-BB77-869CA6F4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2333625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TIM7 高优先级</a:t>
            </a:r>
          </a:p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抢占优先级 2</a:t>
            </a:r>
          </a:p>
        </p:txBody>
      </p:sp>
      <p:sp>
        <p:nvSpPr>
          <p:cNvPr id="14" name="anchor-19">
            <a:extLst xmlns:a="http://schemas.openxmlformats.org/drawingml/2006/main">
              <a:ext uri="{FF2B5EF4-FFF2-40B4-BE49-F238E27FC236}">
                <a16:creationId xmlns:a16="http://schemas.microsoft.com/office/drawing/2014/main" id="{DFD94073-8905-455B-BC6B-55997863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975" y="3181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anchor-20">
            <a:extLst xmlns:a="http://schemas.openxmlformats.org/drawingml/2006/main">
              <a:ext uri="{FF2B5EF4-FFF2-40B4-BE49-F238E27FC236}">
                <a16:creationId xmlns:a16="http://schemas.microsoft.com/office/drawing/2014/main" id="{A5BC842E-C203-4F14-A053-5A16FDEA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975" y="713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2763500" y="3200400"/>
            <a:ext cx="0" cy="39338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17" name="anchor-21">
            <a:extLst xmlns:a="http://schemas.openxmlformats.org/drawingml/2006/main">
              <a:ext uri="{FF2B5EF4-FFF2-40B4-BE49-F238E27FC236}">
                <a16:creationId xmlns:a16="http://schemas.microsoft.com/office/drawing/2014/main" id="{A930548E-8EB1-49E8-B375-2B4BBC7D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48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anchor-22">
            <a:extLst xmlns:a="http://schemas.openxmlformats.org/drawingml/2006/main">
              <a:ext uri="{FF2B5EF4-FFF2-40B4-BE49-F238E27FC236}">
                <a16:creationId xmlns:a16="http://schemas.microsoft.com/office/drawing/2014/main" id="{631BA529-37D3-4C7E-A533-C5F089505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48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533650" y="3857625"/>
            <a:ext cx="5124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message-23">
            <a:extLst xmlns:a="http://schemas.openxmlformats.org/drawingml/2006/main">
              <a:ext uri="{FF2B5EF4-FFF2-40B4-BE49-F238E27FC236}">
                <a16:creationId xmlns:a16="http://schemas.microsoft.com/office/drawing/2014/main" id="{66A7A83C-3B40-41AF-8266-17DF5358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505200"/>
            <a:ext cx="4619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① 读取初值 0</a:t>
            </a:r>
          </a:p>
        </p:txBody>
      </p:sp>
      <p:sp>
        <p:nvSpPr>
          <p:cNvPr id="21" name="propagation">
            <a:extLst xmlns:a="http://schemas.openxmlformats.org/drawingml/2006/main">
              <a:ext uri="{FF2B5EF4-FFF2-40B4-BE49-F238E27FC236}">
                <a16:creationId xmlns:a16="http://schemas.microsoft.com/office/drawing/2014/main" id="{1F868745-FBFD-4985-8D55-6A0E15F5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0055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② 保存到局部变量</a:t>
            </a:r>
          </a:p>
          <a:p xmlns:a="http://schemas.openxmlformats.org/drawingml/2006/main">
            <a:pPr algn="l">
              <a:defRPr sz="2100" b="0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A → B → C → SetValue</a:t>
            </a:r>
          </a:p>
        </p:txBody>
      </p:sp>
      <p:sp>
        <p:nvSpPr>
          <p:cNvPr id="22" name="anchor-24">
            <a:extLst xmlns:a="http://schemas.openxmlformats.org/drawingml/2006/main">
              <a:ext uri="{FF2B5EF4-FFF2-40B4-BE49-F238E27FC236}">
                <a16:creationId xmlns:a16="http://schemas.microsoft.com/office/drawing/2014/main" id="{4EE843D2-1CCC-4780-B02A-9E13602F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53975" y="5562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anchor-25">
            <a:extLst xmlns:a="http://schemas.openxmlformats.org/drawingml/2006/main">
              <a:ext uri="{FF2B5EF4-FFF2-40B4-BE49-F238E27FC236}">
                <a16:creationId xmlns:a16="http://schemas.microsoft.com/office/drawing/2014/main" id="{01A1DFC5-0FAA-453B-9292-CDFF7CD1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62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" name=""/>
          <p:cNvCxnSpPr>
            <a:stCxn xmlns:a="http://schemas.openxmlformats.org/drawingml/2006/main" id="22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7677150" y="5572125"/>
            <a:ext cx="50768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64835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5" name="message-26">
            <a:extLst xmlns:a="http://schemas.openxmlformats.org/drawingml/2006/main">
              <a:ext uri="{FF2B5EF4-FFF2-40B4-BE49-F238E27FC236}">
                <a16:creationId xmlns:a16="http://schemas.microsoft.com/office/drawing/2014/main" id="{B0680C4A-51D2-4F33-87FF-7F7E139E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19700"/>
            <a:ext cx="4524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③ 抢占，写入 200</a:t>
            </a:r>
          </a:p>
        </p:txBody>
      </p:sp>
      <p:sp>
        <p:nvSpPr>
          <p:cNvPr id="26" name="anchor-27">
            <a:extLst xmlns:a="http://schemas.openxmlformats.org/drawingml/2006/main">
              <a:ext uri="{FF2B5EF4-FFF2-40B4-BE49-F238E27FC236}">
                <a16:creationId xmlns:a16="http://schemas.microsoft.com/office/drawing/2014/main" id="{15A583B0-891C-45D8-811D-E3BC0CF0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753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anchor-28">
            <a:extLst xmlns:a="http://schemas.openxmlformats.org/drawingml/2006/main">
              <a:ext uri="{FF2B5EF4-FFF2-40B4-BE49-F238E27FC236}">
                <a16:creationId xmlns:a16="http://schemas.microsoft.com/office/drawing/2014/main" id="{431E6B65-A792-4E49-B294-00B35B34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6753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2533650" y="6762750"/>
            <a:ext cx="5124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B64835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9" name="message-29">
            <a:extLst xmlns:a="http://schemas.openxmlformats.org/drawingml/2006/main">
              <a:ext uri="{FF2B5EF4-FFF2-40B4-BE49-F238E27FC236}">
                <a16:creationId xmlns:a16="http://schemas.microsoft.com/office/drawing/2014/main" id="{67BC58D1-E939-4740-BE12-E82A42578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410325"/>
            <a:ext cx="4905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④ 恢复执行，写回旧值 0</a:t>
            </a:r>
          </a:p>
        </p:txBody>
      </p:sp>
      <p:sp>
        <p:nvSpPr>
          <p:cNvPr id="30" name="new-value">
            <a:extLst xmlns:a="http://schemas.openxmlformats.org/drawingml/2006/main">
              <a:ext uri="{FF2B5EF4-FFF2-40B4-BE49-F238E27FC236}">
                <a16:creationId xmlns:a16="http://schemas.microsoft.com/office/drawing/2014/main" id="{8EFA30C3-67F8-46EE-9F81-15CA7A46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829300"/>
            <a:ext cx="39528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新值 200</a:t>
            </a:r>
          </a:p>
        </p:txBody>
      </p:sp>
      <p:sp>
        <p:nvSpPr>
          <p:cNvPr id="31" name="overwritten-result">
            <a:extLst xmlns:a="http://schemas.openxmlformats.org/drawingml/2006/main">
              <a:ext uri="{FF2B5EF4-FFF2-40B4-BE49-F238E27FC236}">
                <a16:creationId xmlns:a16="http://schemas.microsoft.com/office/drawing/2014/main" id="{3C8A1384-58F1-4D0E-8809-ECA38796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71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F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结果：200 被旧值 0 覆盖，更新丢失</a:t>
            </a:r>
          </a:p>
        </p:txBody>
      </p:sp>
    </p:spTree>
    <p:extLst>
      <p:ext uri="{BB962C8B-B14F-4D97-AF65-F5344CB8AC3E}">
        <p14:creationId xmlns:p14="http://schemas.microsoft.com/office/powerpoint/2010/main" val="1251309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1B525AB4-DAF3-4295-95B5-4A7E93D1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 技术评审与项目成果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E8710F-0B8F-483D-82DD-3F2E854B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整体架构先保存静态事实，再接入可选的源码语义复核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E0AB9F5-244F-4D41-BCE2-088D9FD42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从真实构建进入分析；静态结论、模型结论和覆盖缺口独立保留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1163897-5202-4E21-BBB1-0261073E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layer-0">
            <a:extLst xmlns:a="http://schemas.openxmlformats.org/drawingml/2006/main">
              <a:ext uri="{FF2B5EF4-FFF2-40B4-BE49-F238E27FC236}">
                <a16:creationId xmlns:a16="http://schemas.microsoft.com/office/drawing/2014/main" id="{63C611CF-6600-42EB-934D-0C9238F8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输入层</a:t>
            </a:r>
          </a:p>
        </p:txBody>
      </p:sp>
      <p:sp>
        <p:nvSpPr>
          <p:cNvPr id="6" name="layer-1">
            <a:extLst xmlns:a="http://schemas.openxmlformats.org/drawingml/2006/main">
              <a:ext uri="{FF2B5EF4-FFF2-40B4-BE49-F238E27FC236}">
                <a16:creationId xmlns:a16="http://schemas.microsoft.com/office/drawing/2014/main" id="{A32FCB8E-AEBA-4E3B-8064-B43598544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静态分析层</a:t>
            </a:r>
          </a:p>
        </p:txBody>
      </p:sp>
      <p:sp>
        <p:nvSpPr>
          <p:cNvPr id="7" name="layer-2">
            <a:extLst xmlns:a="http://schemas.openxmlformats.org/drawingml/2006/main">
              <a:ext uri="{FF2B5EF4-FFF2-40B4-BE49-F238E27FC236}">
                <a16:creationId xmlns:a16="http://schemas.microsoft.com/office/drawing/2014/main" id="{ACB6C343-095E-492D-A602-D106C1A4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720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证据层</a:t>
            </a:r>
          </a:p>
        </p:txBody>
      </p:sp>
      <p:sp>
        <p:nvSpPr>
          <p:cNvPr id="8" name="layer-3">
            <a:extLst xmlns:a="http://schemas.openxmlformats.org/drawingml/2006/main">
              <a:ext uri="{FF2B5EF4-FFF2-40B4-BE49-F238E27FC236}">
                <a16:creationId xmlns:a16="http://schemas.microsoft.com/office/drawing/2014/main" id="{788C162F-DA52-4864-846F-950B3BEB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552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可选复核层</a:t>
            </a:r>
          </a:p>
        </p:txBody>
      </p:sp>
      <p:sp>
        <p:nvSpPr>
          <p:cNvPr id="9" name="layer-4">
            <a:extLst xmlns:a="http://schemas.openxmlformats.org/drawingml/2006/main">
              <a:ext uri="{FF2B5EF4-FFF2-40B4-BE49-F238E27FC236}">
                <a16:creationId xmlns:a16="http://schemas.microsoft.com/office/drawing/2014/main" id="{DD7868C3-27CD-47A9-BB3F-02209EA18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输出层</a:t>
            </a:r>
          </a:p>
        </p:txBody>
      </p:sp>
      <p:sp>
        <p:nvSpPr>
          <p:cNvPr id="10" name="input-source">
            <a:extLst xmlns:a="http://schemas.openxmlformats.org/drawingml/2006/main">
              <a:ext uri="{FF2B5EF4-FFF2-40B4-BE49-F238E27FC236}">
                <a16:creationId xmlns:a16="http://schemas.microsoft.com/office/drawing/2014/main" id="{FC9FBDBD-F6F4-464F-94A1-0C5CEEF57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561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固件源码 + 真实编译数据库</a:t>
            </a:r>
          </a:p>
        </p:txBody>
      </p:sp>
      <p:sp>
        <p:nvSpPr>
          <p:cNvPr id="11" name="input-semantics">
            <a:extLst xmlns:a="http://schemas.openxmlformats.org/drawingml/2006/main">
              <a:ext uri="{FF2B5EF4-FFF2-40B4-BE49-F238E27FC236}">
                <a16:creationId xmlns:a16="http://schemas.microsoft.com/office/drawing/2014/main" id="{B73C1F5F-337F-478E-BB35-B9E9B2BD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561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semantics.yaml：工程与执行语义</a:t>
            </a:r>
          </a:p>
        </p:txBody>
      </p:sp>
      <p:sp>
        <p:nvSpPr>
          <p:cNvPr id="12" name="anchor-30">
            <a:extLst xmlns:a="http://schemas.openxmlformats.org/drawingml/2006/main">
              <a:ext uri="{FF2B5EF4-FFF2-40B4-BE49-F238E27FC236}">
                <a16:creationId xmlns:a16="http://schemas.microsoft.com/office/drawing/2014/main" id="{39B9603B-3A0B-4E2C-90FB-52EF8FBA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81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anchor-31">
            <a:extLst xmlns:a="http://schemas.openxmlformats.org/drawingml/2006/main">
              <a:ext uri="{FF2B5EF4-FFF2-40B4-BE49-F238E27FC236}">
                <a16:creationId xmlns:a16="http://schemas.microsoft.com/office/drawing/2014/main" id="{54ED2C43-FA71-491C-BCDC-7E19EB13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32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5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5667375" y="320040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15" name="anchor-32">
            <a:extLst xmlns:a="http://schemas.openxmlformats.org/drawingml/2006/main">
              <a:ext uri="{FF2B5EF4-FFF2-40B4-BE49-F238E27FC236}">
                <a16:creationId xmlns:a16="http://schemas.microsoft.com/office/drawing/2014/main" id="{61428B18-2643-4789-93B4-EB0603C8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181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anchor-33">
            <a:extLst xmlns:a="http://schemas.openxmlformats.org/drawingml/2006/main">
              <a:ext uri="{FF2B5EF4-FFF2-40B4-BE49-F238E27FC236}">
                <a16:creationId xmlns:a16="http://schemas.microsoft.com/office/drawing/2014/main" id="{25FA7864-F4E5-468A-B17F-769EAD44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32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8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1668125" y="320040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18" name="anchor-34">
            <a:extLst xmlns:a="http://schemas.openxmlformats.org/drawingml/2006/main">
              <a:ext uri="{FF2B5EF4-FFF2-40B4-BE49-F238E27FC236}">
                <a16:creationId xmlns:a16="http://schemas.microsoft.com/office/drawing/2014/main" id="{4C2B03E8-F290-45A5-94D6-E6850FC9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32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anchor-35">
            <a:extLst xmlns:a="http://schemas.openxmlformats.org/drawingml/2006/main">
              <a:ext uri="{FF2B5EF4-FFF2-40B4-BE49-F238E27FC236}">
                <a16:creationId xmlns:a16="http://schemas.microsoft.com/office/drawing/2014/main" id="{653BF4C9-765C-4CB9-B013-897B474C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332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4486275" y="3333750"/>
            <a:ext cx="71723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21" name="anchor-36">
            <a:extLst xmlns:a="http://schemas.openxmlformats.org/drawingml/2006/main">
              <a:ext uri="{FF2B5EF4-FFF2-40B4-BE49-F238E27FC236}">
                <a16:creationId xmlns:a16="http://schemas.microsoft.com/office/drawing/2014/main" id="{7A4004E8-E11A-4DD6-B99E-2B1E8DB0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32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37">
            <a:extLst xmlns:a="http://schemas.openxmlformats.org/drawingml/2006/main">
              <a:ext uri="{FF2B5EF4-FFF2-40B4-BE49-F238E27FC236}">
                <a16:creationId xmlns:a16="http://schemas.microsoft.com/office/drawing/2014/main" id="{B0DE8E55-282A-43F4-A1CA-FE1B4EFE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5337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4476750" y="3343275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4" name="architecture-static-0">
            <a:extLst xmlns:a="http://schemas.openxmlformats.org/drawingml/2006/main">
              <a:ext uri="{FF2B5EF4-FFF2-40B4-BE49-F238E27FC236}">
                <a16:creationId xmlns:a16="http://schemas.microsoft.com/office/drawing/2014/main" id="{3D443809-8BC4-4AEF-854D-36CA459A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逐编译单元提取</a:t>
            </a:r>
          </a:p>
        </p:txBody>
      </p:sp>
      <p:sp>
        <p:nvSpPr>
          <p:cNvPr id="25" name="architecture-static-1">
            <a:extLst xmlns:a="http://schemas.openxmlformats.org/drawingml/2006/main">
              <a:ext uri="{FF2B5EF4-FFF2-40B4-BE49-F238E27FC236}">
                <a16:creationId xmlns:a16="http://schemas.microsoft.com/office/drawing/2014/main" id="{B7FEB92B-84E4-4147-867E-E333BA08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54330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全工程关联恢复</a:t>
            </a:r>
          </a:p>
        </p:txBody>
      </p:sp>
      <p:sp>
        <p:nvSpPr>
          <p:cNvPr id="26" name="architecture-static-2">
            <a:extLst xmlns:a="http://schemas.openxmlformats.org/drawingml/2006/main">
              <a:ext uri="{FF2B5EF4-FFF2-40B4-BE49-F238E27FC236}">
                <a16:creationId xmlns:a16="http://schemas.microsoft.com/office/drawing/2014/main" id="{55A6DA73-B2DE-4E8D-8C9D-C44C3516A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543300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逐变量分类</a:t>
            </a:r>
          </a:p>
        </p:txBody>
      </p:sp>
      <p:cxnSp>
        <p:nvCxnSpPr>
          <p:cNvPr id="88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6096000" y="39481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9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0287000" y="39481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9" name="anchor-38">
            <a:extLst xmlns:a="http://schemas.openxmlformats.org/drawingml/2006/main">
              <a:ext uri="{FF2B5EF4-FFF2-40B4-BE49-F238E27FC236}">
                <a16:creationId xmlns:a16="http://schemas.microsoft.com/office/drawing/2014/main" id="{036CD0F7-0DEF-4495-93F3-BC585D91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43434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39">
            <a:extLst xmlns:a="http://schemas.openxmlformats.org/drawingml/2006/main">
              <a:ext uri="{FF2B5EF4-FFF2-40B4-BE49-F238E27FC236}">
                <a16:creationId xmlns:a16="http://schemas.microsoft.com/office/drawing/2014/main" id="{B8897854-503C-4B19-B89D-683658AB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4562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2858750" y="4362450"/>
            <a:ext cx="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32" name="anchor-40">
            <a:extLst xmlns:a="http://schemas.openxmlformats.org/drawingml/2006/main">
              <a:ext uri="{FF2B5EF4-FFF2-40B4-BE49-F238E27FC236}">
                <a16:creationId xmlns:a16="http://schemas.microsoft.com/office/drawing/2014/main" id="{7E681089-B31C-44E4-8120-B12B81DA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4562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anchor-41">
            <a:extLst xmlns:a="http://schemas.openxmlformats.org/drawingml/2006/main">
              <a:ext uri="{FF2B5EF4-FFF2-40B4-BE49-F238E27FC236}">
                <a16:creationId xmlns:a16="http://schemas.microsoft.com/office/drawing/2014/main" id="{5D91453E-ADB8-4602-9317-A63732A4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562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5" name=""/>
          <p:cNvCxnSpPr>
            <a:stCxn xmlns:a="http://schemas.openxmlformats.org/drawingml/2006/main" id="32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8677275" y="4572000"/>
            <a:ext cx="417195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35" name="anchor-42">
            <a:extLst xmlns:a="http://schemas.openxmlformats.org/drawingml/2006/main">
              <a:ext uri="{FF2B5EF4-FFF2-40B4-BE49-F238E27FC236}">
                <a16:creationId xmlns:a16="http://schemas.microsoft.com/office/drawing/2014/main" id="{F7B5543E-BD2A-4CD3-8376-4E1855E5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562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anchor-43">
            <a:extLst xmlns:a="http://schemas.openxmlformats.org/drawingml/2006/main">
              <a:ext uri="{FF2B5EF4-FFF2-40B4-BE49-F238E27FC236}">
                <a16:creationId xmlns:a16="http://schemas.microsoft.com/office/drawing/2014/main" id="{C73700D3-DE87-4340-A8F8-ADB40262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752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8" name=""/>
          <p:cNvCxnSpPr>
            <a:stCxn xmlns:a="http://schemas.openxmlformats.org/drawingml/2006/main" id="35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>
            <a:off x="8667750" y="458152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8" name="evidence-layer">
            <a:extLst xmlns:a="http://schemas.openxmlformats.org/drawingml/2006/main">
              <a:ext uri="{FF2B5EF4-FFF2-40B4-BE49-F238E27FC236}">
                <a16:creationId xmlns:a16="http://schemas.microsoft.com/office/drawing/2014/main" id="{6388C247-2CC3-4989-B19F-7F40AD3A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62500"/>
            <a:ext cx="11620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事实 JSON / SQLite + 变量证据 + 扫描指纹 + PENDING 队列</a:t>
            </a:r>
          </a:p>
        </p:txBody>
      </p:sp>
      <p:sp>
        <p:nvSpPr>
          <p:cNvPr id="39" name="anchor-44">
            <a:extLst xmlns:a="http://schemas.openxmlformats.org/drawingml/2006/main">
              <a:ext uri="{FF2B5EF4-FFF2-40B4-BE49-F238E27FC236}">
                <a16:creationId xmlns:a16="http://schemas.microsoft.com/office/drawing/2014/main" id="{C4A411FF-BE64-45DD-8A46-2F82A137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562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anchor-45">
            <a:extLst xmlns:a="http://schemas.openxmlformats.org/drawingml/2006/main">
              <a:ext uri="{FF2B5EF4-FFF2-40B4-BE49-F238E27FC236}">
                <a16:creationId xmlns:a16="http://schemas.microsoft.com/office/drawing/2014/main" id="{C1D8ADF8-7BA8-4547-B3F1-33BBAA93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943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02" name=""/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4476750" y="55816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087F7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2" name="architecture-review-0">
            <a:extLst xmlns:a="http://schemas.openxmlformats.org/drawingml/2006/main">
              <a:ext uri="{FF2B5EF4-FFF2-40B4-BE49-F238E27FC236}">
                <a16:creationId xmlns:a16="http://schemas.microsoft.com/office/drawing/2014/main" id="{A1F3A08D-3D63-42B4-9C9D-DD7F6B2F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953125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组装证据包</a:t>
            </a:r>
          </a:p>
        </p:txBody>
      </p:sp>
      <p:sp>
        <p:nvSpPr>
          <p:cNvPr id="43" name="architecture-review-1">
            <a:extLst xmlns:a="http://schemas.openxmlformats.org/drawingml/2006/main">
              <a:ext uri="{FF2B5EF4-FFF2-40B4-BE49-F238E27FC236}">
                <a16:creationId xmlns:a16="http://schemas.microsoft.com/office/drawing/2014/main" id="{676C3D03-168C-4BAE-B2F1-CD5C4A62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953125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OpenCode 只读核查</a:t>
            </a:r>
          </a:p>
        </p:txBody>
      </p:sp>
      <p:sp>
        <p:nvSpPr>
          <p:cNvPr id="44" name="architecture-review-2">
            <a:extLst xmlns:a="http://schemas.openxmlformats.org/drawingml/2006/main">
              <a:ext uri="{FF2B5EF4-FFF2-40B4-BE49-F238E27FC236}">
                <a16:creationId xmlns:a16="http://schemas.microsoft.com/office/drawing/2014/main" id="{6FC2908B-38AD-47EB-8C80-98193D39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953125"/>
            <a:ext cx="3238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校验并逐项归档</a:t>
            </a:r>
          </a:p>
        </p:txBody>
      </p:sp>
      <p:cxnSp>
        <p:nvCxnSpPr>
          <p:cNvPr id="106" name=""/>
          <p:cNvCxnSpPr>
            <a:stCxn xmlns:a="http://schemas.openxmlformats.org/drawingml/2006/main" id="42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6096000" y="635793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7" name=""/>
          <p:cNvCxnSpPr>
            <a:stCxn xmlns:a="http://schemas.openxmlformats.org/drawingml/2006/main" id="43" idx="3"/>
            <a:endCxn xmlns:a="http://schemas.openxmlformats.org/drawingml/2006/main" id="44" idx="1"/>
          </p:cNvCxnSpPr>
          <p:nvPr/>
        </p:nvCxnSpPr>
        <p:spPr>
          <a:xfrm xmlns:a="http://schemas.openxmlformats.org/drawingml/2006/main">
            <a:off x="10287000" y="635793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7" name="output-static">
            <a:extLst xmlns:a="http://schemas.openxmlformats.org/drawingml/2006/main">
              <a:ext uri="{FF2B5EF4-FFF2-40B4-BE49-F238E27FC236}">
                <a16:creationId xmlns:a16="http://schemas.microsoft.com/office/drawing/2014/main" id="{42F98D12-AFA5-484B-B8BB-492B11BC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143750"/>
            <a:ext cx="561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全量变量报告：index.html</a:t>
            </a:r>
          </a:p>
        </p:txBody>
      </p:sp>
      <p:sp>
        <p:nvSpPr>
          <p:cNvPr id="48" name="output-review">
            <a:extLst xmlns:a="http://schemas.openxmlformats.org/drawingml/2006/main">
              <a:ext uri="{FF2B5EF4-FFF2-40B4-BE49-F238E27FC236}">
                <a16:creationId xmlns:a16="http://schemas.microsoft.com/office/drawing/2014/main" id="{B876ED71-9BF2-4332-9402-B7CA3023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7143750"/>
            <a:ext cx="5619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复核报告：opencode_review.html</a:t>
            </a:r>
          </a:p>
        </p:txBody>
      </p:sp>
      <p:sp>
        <p:nvSpPr>
          <p:cNvPr id="49" name="anchor-46">
            <a:extLst xmlns:a="http://schemas.openxmlformats.org/drawingml/2006/main">
              <a:ext uri="{FF2B5EF4-FFF2-40B4-BE49-F238E27FC236}">
                <a16:creationId xmlns:a16="http://schemas.microsoft.com/office/drawing/2014/main" id="{EA32ACC7-E754-4D19-936F-FC6750AA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562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0" name="anchor-47">
            <a:extLst xmlns:a="http://schemas.openxmlformats.org/drawingml/2006/main">
              <a:ext uri="{FF2B5EF4-FFF2-40B4-BE49-F238E27FC236}">
                <a16:creationId xmlns:a16="http://schemas.microsoft.com/office/drawing/2014/main" id="{DE840A0B-E51C-43D8-8893-CAEA385E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62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2" name=""/>
          <p:cNvCxnSpPr>
            <a:stCxn xmlns:a="http://schemas.openxmlformats.org/drawingml/2006/main" id="49" idx="1"/>
            <a:endCxn xmlns:a="http://schemas.openxmlformats.org/drawingml/2006/main" id="50" idx="3"/>
          </p:cNvCxnSpPr>
          <p:nvPr/>
        </p:nvCxnSpPr>
        <p:spPr>
          <a:xfrm xmlns:a="http://schemas.openxmlformats.org/drawingml/2006/main" flipH="1">
            <a:off x="2533650" y="557212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52" name="anchor-48">
            <a:extLst xmlns:a="http://schemas.openxmlformats.org/drawingml/2006/main">
              <a:ext uri="{FF2B5EF4-FFF2-40B4-BE49-F238E27FC236}">
                <a16:creationId xmlns:a16="http://schemas.microsoft.com/office/drawing/2014/main" id="{314A75A4-DEC0-4862-B433-FF3E3980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62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3" name="anchor-49">
            <a:extLst xmlns:a="http://schemas.openxmlformats.org/drawingml/2006/main">
              <a:ext uri="{FF2B5EF4-FFF2-40B4-BE49-F238E27FC236}">
                <a16:creationId xmlns:a16="http://schemas.microsoft.com/office/drawing/2014/main" id="{EA1FC162-C4DD-45A1-BD09-BD0B0D65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7515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5" name=""/>
          <p:cNvCxnSpPr>
            <a:stCxn xmlns:a="http://schemas.openxmlformats.org/drawingml/2006/main" id="52" idx="2"/>
            <a:endCxn xmlns:a="http://schemas.openxmlformats.org/drawingml/2006/main" id="53" idx="0"/>
          </p:cNvCxnSpPr>
          <p:nvPr/>
        </p:nvCxnSpPr>
        <p:spPr>
          <a:xfrm xmlns:a="http://schemas.openxmlformats.org/drawingml/2006/main">
            <a:off x="2524125" y="5581650"/>
            <a:ext cx="0" cy="193357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55" name="anchor-50">
            <a:extLst xmlns:a="http://schemas.openxmlformats.org/drawingml/2006/main">
              <a:ext uri="{FF2B5EF4-FFF2-40B4-BE49-F238E27FC236}">
                <a16:creationId xmlns:a16="http://schemas.microsoft.com/office/drawing/2014/main" id="{A17BE107-0C11-4D21-932D-77CF98BF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7515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6" name="anchor-51">
            <a:extLst xmlns:a="http://schemas.openxmlformats.org/drawingml/2006/main">
              <a:ext uri="{FF2B5EF4-FFF2-40B4-BE49-F238E27FC236}">
                <a16:creationId xmlns:a16="http://schemas.microsoft.com/office/drawing/2014/main" id="{B8BE7008-809B-4DB1-9B7B-57AFD66D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7515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18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533650" y="7524750"/>
            <a:ext cx="314325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8" name="anchor-52">
            <a:extLst xmlns:a="http://schemas.openxmlformats.org/drawingml/2006/main">
              <a:ext uri="{FF2B5EF4-FFF2-40B4-BE49-F238E27FC236}">
                <a16:creationId xmlns:a16="http://schemas.microsoft.com/office/drawing/2014/main" id="{27B70109-AFB9-4D4E-952F-3D97597A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6753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9" name="anchor-53">
            <a:extLst xmlns:a="http://schemas.openxmlformats.org/drawingml/2006/main">
              <a:ext uri="{FF2B5EF4-FFF2-40B4-BE49-F238E27FC236}">
                <a16:creationId xmlns:a16="http://schemas.microsoft.com/office/drawing/2014/main" id="{B1CA73A8-1DAB-4612-807D-55968739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225" y="7134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21" name="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12858750" y="6772275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1" name="architecture-default">
            <a:extLst xmlns:a="http://schemas.openxmlformats.org/drawingml/2006/main">
              <a:ext uri="{FF2B5EF4-FFF2-40B4-BE49-F238E27FC236}">
                <a16:creationId xmlns:a16="http://schemas.microsoft.com/office/drawing/2014/main" id="{93C553EE-AF83-4C09-BE0C-53A384FE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809625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默认可只做静态扫描；关闭模型时保留候选与缺口，队列维持待复核。</a:t>
            </a:r>
          </a:p>
        </p:txBody>
      </p:sp>
    </p:spTree>
    <p:extLst>
      <p:ext uri="{BB962C8B-B14F-4D97-AF65-F5344CB8AC3E}">
        <p14:creationId xmlns:p14="http://schemas.microsoft.com/office/powerpoint/2010/main" val="19532124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C5FB76B7-D701-4D4F-9F95-0FE02363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 技术评审与项目成果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7930C4-FD85-4A2B-8806-FFB43F17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静态分析把分散代码归并成可判定的变量证据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240435D1-73F1-4D31-A3C4-299E0280C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处理链路同时回答：访问同一对象吗、执行者能交错吗、保护是否有效？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1FDE78-C14C-458D-AF9A-2E893249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dataflow-0">
            <a:extLst xmlns:a="http://schemas.openxmlformats.org/drawingml/2006/main">
              <a:ext uri="{FF2B5EF4-FFF2-40B4-BE49-F238E27FC236}">
                <a16:creationId xmlns:a16="http://schemas.microsoft.com/office/drawing/2014/main" id="{17C32E1B-DB8E-4D85-804B-165E58C2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714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真实编译条件</a:t>
            </a:r>
          </a:p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宏、头文件与源码</a:t>
            </a:r>
          </a:p>
        </p:txBody>
      </p:sp>
      <p:sp>
        <p:nvSpPr>
          <p:cNvPr id="6" name="dataflow-1">
            <a:extLst xmlns:a="http://schemas.openxmlformats.org/drawingml/2006/main">
              <a:ext uri="{FF2B5EF4-FFF2-40B4-BE49-F238E27FC236}">
                <a16:creationId xmlns:a16="http://schemas.microsoft.com/office/drawing/2014/main" id="{D3ACF82E-B42D-4FB2-9927-5C1EEFDC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2714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Clang 语法事实</a:t>
            </a:r>
          </a:p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变量、访问、调用</a:t>
            </a:r>
          </a:p>
        </p:txBody>
      </p:sp>
      <p:sp>
        <p:nvSpPr>
          <p:cNvPr id="7" name="dataflow-2">
            <a:extLst xmlns:a="http://schemas.openxmlformats.org/drawingml/2006/main">
              <a:ext uri="{FF2B5EF4-FFF2-40B4-BE49-F238E27FC236}">
                <a16:creationId xmlns:a16="http://schemas.microsoft.com/office/drawing/2014/main" id="{B1C426D2-40B2-486B-92D2-3254C995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714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跨文件关联</a:t>
            </a:r>
          </a:p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别名、存储与执行者</a:t>
            </a:r>
          </a:p>
        </p:txBody>
      </p:sp>
      <p:sp>
        <p:nvSpPr>
          <p:cNvPr id="8" name="dataflow-3">
            <a:extLst xmlns:a="http://schemas.openxmlformats.org/drawingml/2006/main">
              <a:ext uri="{FF2B5EF4-FFF2-40B4-BE49-F238E27FC236}">
                <a16:creationId xmlns:a16="http://schemas.microsoft.com/office/drawing/2014/main" id="{252D2B46-AFBF-4A37-9D5D-CF0A1E9E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2571750"/>
            <a:ext cx="2714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逐变量证据切片</a:t>
            </a:r>
          </a:p>
          <a:p xmlns:a="http://schemas.openxmlformats.org/drawingml/2006/main">
            <a:pPr algn="ctr">
              <a:def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冲突、保护与缺口</a:t>
            </a:r>
          </a:p>
        </p:txBody>
      </p: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76625" y="30718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143750" y="30718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10875" y="30718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graphicFrame>
        <p:nvGraphicFramePr>
          <p:cNvPr id="25" name=""/>
          <p:cNvGraphicFramePr/>
          <p:nvPr/>
        </p:nvGraphicFramePr>
        <p:xfrm>
          <a:off xmlns:a="http://schemas.openxmlformats.org/drawingml/2006/main" x="762000" y="3952875"/>
          <a:ext xmlns:a="http://schemas.openxmlformats.org/drawingml/2006/main" cx="13716000" cy="3762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571875"/>
                <a:gridCol w="5334000"/>
                <a:gridCol w="4810125"/>
              </a:tblGrid>
              <a:tr h="752475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静态结果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成立条件 / 含义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后续处理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</a:tr>
              <a:tr h="752475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SAFE_PROVEN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在当前模型和证据内可排除风险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保留安全依据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SHARED_NO_REVIEW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单写者发布标量，其他执行者只读</a:t>
                      </a:r>
                    </a:p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且通过别名、协议与相关缺口门禁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免常规复核；保留门禁依据</a:t>
                      </a:r>
                    </a:p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此分类不等同于安全证明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752475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SUSPECT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存在已知跨执行者修改冲突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常规进入源码复核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UNKNOWN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关键证据缺口可能隐藏额外冲突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常规进入源码复核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13" name="classification-coverage">
            <a:extLst xmlns:a="http://schemas.openxmlformats.org/drawingml/2006/main">
              <a:ext uri="{FF2B5EF4-FFF2-40B4-BE49-F238E27FC236}">
                <a16:creationId xmlns:a16="http://schemas.microsoft.com/office/drawing/2014/main" id="{6898E178-485E-415D-8B94-A304A7EE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29575"/>
            <a:ext cx="1333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覆盖完整性另行记录：已知冲突不会因同时存在缺口而消失。</a:t>
            </a:r>
          </a:p>
        </p:txBody>
      </p:sp>
    </p:spTree>
    <p:extLst>
      <p:ext uri="{BB962C8B-B14F-4D97-AF65-F5344CB8AC3E}">
        <p14:creationId xmlns:p14="http://schemas.microsoft.com/office/powerpoint/2010/main" val="179284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2EE0896B-9207-437A-A5CA-7224C252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 技术评审与项目成果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E7A5CE-3694-4DF0-968E-6F3E5101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OpenCode 用变量证据定位源码，再核查真实错误交错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C776588-89A0-4ED8-B434-71F742D9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静态分析负责事实导航；模型结合当前源码核对业务条件，最终结论仍需证据支持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C7C0A0-0156-40AB-89F3-25E3508E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review-input-packet">
            <a:extLst xmlns:a="http://schemas.openxmlformats.org/drawingml/2006/main">
              <a:ext uri="{FF2B5EF4-FFF2-40B4-BE49-F238E27FC236}">
                <a16:creationId xmlns:a16="http://schemas.microsoft.com/office/drawing/2014/main" id="{14B438EA-60C0-4142-9554-BD6DFC09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191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Packet：变量证据包</a:t>
            </a:r>
          </a:p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全部访问、路径与相关缺口</a:t>
            </a:r>
          </a:p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源码位置和原始事实导航</a:t>
            </a:r>
          </a:p>
        </p:txBody>
      </p:sp>
      <p:sp>
        <p:nvSpPr>
          <p:cNvPr id="6" name="review-input-rules">
            <a:extLst xmlns:a="http://schemas.openxmlformats.org/drawingml/2006/main">
              <a:ext uri="{FF2B5EF4-FFF2-40B4-BE49-F238E27FC236}">
                <a16:creationId xmlns:a16="http://schemas.microsoft.com/office/drawing/2014/main" id="{F0E1BA8B-2FB4-461B-A9E1-D8B0D6B1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476500"/>
            <a:ext cx="4191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提示词 + 背景 + 案例</a:t>
            </a:r>
          </a:p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八步核查和 JSON 输出约束</a:t>
            </a:r>
          </a:p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案例正文按索引行号读取</a:t>
            </a:r>
          </a:p>
        </p:txBody>
      </p:sp>
      <p:sp>
        <p:nvSpPr>
          <p:cNvPr id="7" name="review-input-source">
            <a:extLst xmlns:a="http://schemas.openxmlformats.org/drawingml/2006/main">
              <a:ext uri="{FF2B5EF4-FFF2-40B4-BE49-F238E27FC236}">
                <a16:creationId xmlns:a16="http://schemas.microsoft.com/office/drawing/2014/main" id="{610147B0-7AA8-4225-8193-12C03608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4191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当前工程源码</a:t>
            </a:r>
          </a:p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只读核实实际实现</a:t>
            </a:r>
          </a:p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宏、优先级与运行阶段</a:t>
            </a:r>
          </a:p>
        </p:txBody>
      </p:sp>
      <p:sp>
        <p:nvSpPr>
          <p:cNvPr id="8" name="review-check-container">
            <a:extLst xmlns:a="http://schemas.openxmlformats.org/drawingml/2006/main">
              <a:ext uri="{FF2B5EF4-FFF2-40B4-BE49-F238E27FC236}">
                <a16:creationId xmlns:a16="http://schemas.microsoft.com/office/drawing/2014/main" id="{88136D66-08B2-4998-96E7-D79F695E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13716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A9B9C8"/>
            </a:solidFill>
          </a:ln>
        </p:spPr>
      </p:sp>
      <p:sp>
        <p:nvSpPr>
          <p:cNvPr id="9" name="anchor-54">
            <a:extLst xmlns:a="http://schemas.openxmlformats.org/drawingml/2006/main">
              <a:ext uri="{FF2B5EF4-FFF2-40B4-BE49-F238E27FC236}">
                <a16:creationId xmlns:a16="http://schemas.microsoft.com/office/drawing/2014/main" id="{1CFF70A1-E1E5-4428-B94F-492C93AD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848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anchor-55">
            <a:extLst xmlns:a="http://schemas.openxmlformats.org/drawingml/2006/main">
              <a:ext uri="{FF2B5EF4-FFF2-40B4-BE49-F238E27FC236}">
                <a16:creationId xmlns:a16="http://schemas.microsoft.com/office/drawing/2014/main" id="{5ADAEABE-A30D-4A2A-810F-61B21DBA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4229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" name=""/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2857500" y="38671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2" name="anchor-56">
            <a:extLst xmlns:a="http://schemas.openxmlformats.org/drawingml/2006/main">
              <a:ext uri="{FF2B5EF4-FFF2-40B4-BE49-F238E27FC236}">
                <a16:creationId xmlns:a16="http://schemas.microsoft.com/office/drawing/2014/main" id="{2828ED49-6E35-4C9A-8937-106B3F1D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848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anchor-57">
            <a:extLst xmlns:a="http://schemas.openxmlformats.org/drawingml/2006/main">
              <a:ext uri="{FF2B5EF4-FFF2-40B4-BE49-F238E27FC236}">
                <a16:creationId xmlns:a16="http://schemas.microsoft.com/office/drawing/2014/main" id="{F1DE1C52-BC3F-4A9F-8794-FE294B46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229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7620000" y="38671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anchor-58">
            <a:extLst xmlns:a="http://schemas.openxmlformats.org/drawingml/2006/main">
              <a:ext uri="{FF2B5EF4-FFF2-40B4-BE49-F238E27FC236}">
                <a16:creationId xmlns:a16="http://schemas.microsoft.com/office/drawing/2014/main" id="{8A5031F4-1C1B-47BB-97AC-CC0DFC9E9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75" y="3848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anchor-59">
            <a:extLst xmlns:a="http://schemas.openxmlformats.org/drawingml/2006/main">
              <a:ext uri="{FF2B5EF4-FFF2-40B4-BE49-F238E27FC236}">
                <a16:creationId xmlns:a16="http://schemas.microsoft.com/office/drawing/2014/main" id="{09E2CD54-95DD-4D01-8CCC-1343E37E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2975" y="42291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12382500" y="386715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" name="review-groups-heading">
            <a:extLst xmlns:a="http://schemas.openxmlformats.org/drawingml/2006/main">
              <a:ext uri="{FF2B5EF4-FFF2-40B4-BE49-F238E27FC236}">
                <a16:creationId xmlns:a16="http://schemas.microsoft.com/office/drawing/2014/main" id="{86C899E4-2EE6-4042-8102-C2FDF458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1333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同一次变量复核中的八步检查</a:t>
            </a:r>
          </a:p>
        </p:txBody>
      </p:sp>
      <p:sp>
        <p:nvSpPr>
          <p:cNvPr id="19" name="review-check-group-0">
            <a:extLst xmlns:a="http://schemas.openxmlformats.org/drawingml/2006/main">
              <a:ext uri="{FF2B5EF4-FFF2-40B4-BE49-F238E27FC236}">
                <a16:creationId xmlns:a16="http://schemas.microsoft.com/office/drawing/2014/main" id="{C81C833F-6B65-4C53-ACB3-6FD162FE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714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①② 对象与执行者</a:t>
            </a:r>
          </a:p>
          <a:p xmlns:a="http://schemas.openxmlformats.org/drawingml/2006/main">
            <a:pPr algn="ctr">
              <a:def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访问谁、何时执行</a:t>
            </a:r>
          </a:p>
        </p:txBody>
      </p:sp>
      <p:sp>
        <p:nvSpPr>
          <p:cNvPr id="20" name="review-check-group-1">
            <a:extLst xmlns:a="http://schemas.openxmlformats.org/drawingml/2006/main">
              <a:ext uri="{FF2B5EF4-FFF2-40B4-BE49-F238E27FC236}">
                <a16:creationId xmlns:a16="http://schemas.microsoft.com/office/drawing/2014/main" id="{7E934C4E-AC2A-4DE7-B5FF-91897E47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953000"/>
            <a:ext cx="2714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③④ 写回与交错</a:t>
            </a:r>
          </a:p>
          <a:p xmlns:a="http://schemas.openxmlformats.org/drawingml/2006/main">
            <a:pPr algn="ctr">
              <a:def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怎样造成具体错误</a:t>
            </a:r>
          </a:p>
        </p:txBody>
      </p:sp>
      <p:sp>
        <p:nvSpPr>
          <p:cNvPr id="21" name="review-check-group-2">
            <a:extLst xmlns:a="http://schemas.openxmlformats.org/drawingml/2006/main">
              <a:ext uri="{FF2B5EF4-FFF2-40B4-BE49-F238E27FC236}">
                <a16:creationId xmlns:a16="http://schemas.microsoft.com/office/drawing/2014/main" id="{FCE42E42-6A34-41B5-9F7A-2662E457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2714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⑤⑥ 协议与保护</a:t>
            </a:r>
          </a:p>
          <a:p xmlns:a="http://schemas.openxmlformats.org/drawingml/2006/main">
            <a:pPr algn="ctr">
              <a:def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完整窗口能否阻断</a:t>
            </a:r>
          </a:p>
        </p:txBody>
      </p:sp>
      <p:sp>
        <p:nvSpPr>
          <p:cNvPr id="22" name="review-check-group-3">
            <a:extLst xmlns:a="http://schemas.openxmlformats.org/drawingml/2006/main">
              <a:ext uri="{FF2B5EF4-FFF2-40B4-BE49-F238E27FC236}">
                <a16:creationId xmlns:a16="http://schemas.microsoft.com/office/drawing/2014/main" id="{31F70AA6-6198-47D4-BD39-A95A2DBF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4953000"/>
            <a:ext cx="2714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⑦⑧ 案例与反证</a:t>
            </a:r>
          </a:p>
          <a:p xmlns:a="http://schemas.openxmlformats.org/drawingml/2006/main">
            <a:pPr algn="ctr">
              <a:def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还有哪些条件未知</a:t>
            </a:r>
          </a:p>
        </p:txBody>
      </p:sp>
      <p:cxnSp>
        <p:nvCxnSpPr>
          <p:cNvPr id="53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476625" y="559593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143750" y="559593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0810875" y="559593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6" name="anchor-60">
            <a:extLst xmlns:a="http://schemas.openxmlformats.org/drawingml/2006/main">
              <a:ext uri="{FF2B5EF4-FFF2-40B4-BE49-F238E27FC236}">
                <a16:creationId xmlns:a16="http://schemas.microsoft.com/office/drawing/2014/main" id="{97E2CCC5-09A3-45A7-9584-F752B609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6229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anchor-61">
            <a:extLst xmlns:a="http://schemas.openxmlformats.org/drawingml/2006/main">
              <a:ext uri="{FF2B5EF4-FFF2-40B4-BE49-F238E27FC236}">
                <a16:creationId xmlns:a16="http://schemas.microsoft.com/office/drawing/2014/main" id="{6398E6E8-86AA-469A-B099-BAF40B9E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69437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13115925" y="6248400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9" name="structured-review-output">
            <a:extLst xmlns:a="http://schemas.openxmlformats.org/drawingml/2006/main">
              <a:ext uri="{FF2B5EF4-FFF2-40B4-BE49-F238E27FC236}">
                <a16:creationId xmlns:a16="http://schemas.microsoft.com/office/drawing/2014/main" id="{6A276346-F540-4EA3-9324-50BE7727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53250"/>
            <a:ext cx="137160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04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结构化输出：判断状态 + 源码行号 + 交错 / 保护依据 + 缺失的决定性事实</a:t>
            </a:r>
          </a:p>
        </p:txBody>
      </p:sp>
      <p:sp>
        <p:nvSpPr>
          <p:cNvPr id="30" name="review-source-policy">
            <a:extLst xmlns:a="http://schemas.openxmlformats.org/drawingml/2006/main">
              <a:ext uri="{FF2B5EF4-FFF2-40B4-BE49-F238E27FC236}">
                <a16:creationId xmlns:a16="http://schemas.microsoft.com/office/drawing/2014/main" id="{E8B1EF9A-D520-4637-AFFD-86802ADD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15300"/>
            <a:ext cx="1333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源码与案例只读，写入和 Shell 关闭；相似案例只提供线索，不能决定结论。</a:t>
            </a:r>
          </a:p>
        </p:txBody>
      </p:sp>
    </p:spTree>
    <p:extLst>
      <p:ext uri="{BB962C8B-B14F-4D97-AF65-F5344CB8AC3E}">
        <p14:creationId xmlns:p14="http://schemas.microsoft.com/office/powerpoint/2010/main" val="1590923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7B507EF5-01CD-4B31-8E16-707F0261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 技术评审与项目成果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8012B9-9933-4524-8674-7A7E59B0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安全判断需要覆盖读取到最终写回的整个窗口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4B1A42D-ADAC-4176-B162-83E78651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方案差异直接体现在能否阻止竞争写者介入；变量修饰符和局部写保护都不足以说明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D4BAC9-6C5F-484A-B88C-058B31C1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window-stage-0">
            <a:extLst xmlns:a="http://schemas.openxmlformats.org/drawingml/2006/main">
              <a:ext uri="{FF2B5EF4-FFF2-40B4-BE49-F238E27FC236}">
                <a16:creationId xmlns:a16="http://schemas.microsoft.com/office/drawing/2014/main" id="{31BC65A1-3712-4C11-985B-0C3D863E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读取旧值</a:t>
            </a:r>
          </a:p>
        </p:txBody>
      </p:sp>
      <p:sp>
        <p:nvSpPr>
          <p:cNvPr id="6" name="window-stage-1">
            <a:extLst xmlns:a="http://schemas.openxmlformats.org/drawingml/2006/main">
              <a:ext uri="{FF2B5EF4-FFF2-40B4-BE49-F238E27FC236}">
                <a16:creationId xmlns:a16="http://schemas.microsoft.com/office/drawing/2014/main" id="{7F356638-1F55-4C50-9818-92FA8756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71750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局部 / 参数跨函数传播</a:t>
            </a:r>
          </a:p>
        </p:txBody>
      </p:sp>
      <p:sp>
        <p:nvSpPr>
          <p:cNvPr id="7" name="window-stage-2">
            <a:extLst xmlns:a="http://schemas.openxmlformats.org/drawingml/2006/main">
              <a:ext uri="{FF2B5EF4-FFF2-40B4-BE49-F238E27FC236}">
                <a16:creationId xmlns:a16="http://schemas.microsoft.com/office/drawing/2014/main" id="{B46A5B06-9221-40DB-8596-5161CC80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571750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最终写回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572000" y="3000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9525000" y="3000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0" name="anchor-62">
            <a:extLst xmlns:a="http://schemas.openxmlformats.org/drawingml/2006/main">
              <a:ext uri="{FF2B5EF4-FFF2-40B4-BE49-F238E27FC236}">
                <a16:creationId xmlns:a16="http://schemas.microsoft.com/office/drawing/2014/main" id="{D4D2D847-557B-4278-8BB7-966E915B8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385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anchor-63">
            <a:extLst xmlns:a="http://schemas.openxmlformats.org/drawingml/2006/main">
              <a:ext uri="{FF2B5EF4-FFF2-40B4-BE49-F238E27FC236}">
                <a16:creationId xmlns:a16="http://schemas.microsoft.com/office/drawing/2014/main" id="{8082ACE6-8286-4A52-B2F8-25400563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38385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71525" y="3848100"/>
            <a:ext cx="136969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8714F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13" name="anchor-64">
            <a:extLst xmlns:a="http://schemas.openxmlformats.org/drawingml/2006/main">
              <a:ext uri="{FF2B5EF4-FFF2-40B4-BE49-F238E27FC236}">
                <a16:creationId xmlns:a16="http://schemas.microsoft.com/office/drawing/2014/main" id="{5D87979F-4679-47CA-A70B-5246CA92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57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anchor-65">
            <a:extLst xmlns:a="http://schemas.openxmlformats.org/drawingml/2006/main">
              <a:ext uri="{FF2B5EF4-FFF2-40B4-BE49-F238E27FC236}">
                <a16:creationId xmlns:a16="http://schemas.microsoft.com/office/drawing/2014/main" id="{1E39B199-4C6C-4FBA-A3CF-52472B3C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385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62000" y="3676650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16" name="anchor-66">
            <a:extLst xmlns:a="http://schemas.openxmlformats.org/drawingml/2006/main">
              <a:ext uri="{FF2B5EF4-FFF2-40B4-BE49-F238E27FC236}">
                <a16:creationId xmlns:a16="http://schemas.microsoft.com/office/drawing/2014/main" id="{FBADF063-B71C-426F-A311-34186EAA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3657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67">
            <a:extLst xmlns:a="http://schemas.openxmlformats.org/drawingml/2006/main">
              <a:ext uri="{FF2B5EF4-FFF2-40B4-BE49-F238E27FC236}">
                <a16:creationId xmlns:a16="http://schemas.microsoft.com/office/drawing/2014/main" id="{AC4F5E25-9002-4EC4-86C5-2F595CE4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38385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4478000" y="3676650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18714F"/>
            </a:solidFill>
            <a:prstDash val="solid"/>
            <a:headEnd type="none" w="med" len="med"/>
            <a:tailEnd type="none" w="sm" len="sm"/>
          </a:ln>
        </p:spPr>
      </p:cxnSp>
      <p:sp>
        <p:nvSpPr>
          <p:cNvPr id="19" name="whole-window-caption">
            <a:extLst xmlns:a="http://schemas.openxmlformats.org/drawingml/2006/main">
              <a:ext uri="{FF2B5EF4-FFF2-40B4-BE49-F238E27FC236}">
                <a16:creationId xmlns:a16="http://schemas.microsoft.com/office/drawing/2014/main" id="{75FE2387-8554-4DCF-8104-21DBB176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完整临界区：读取前开始屏蔽，最终写回后恢复原屏蔽状态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762000" y="4619625"/>
          <a:ext xmlns:a="http://schemas.openxmlformats.org/drawingml/2006/main" cx="13716000" cy="3048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000500"/>
                <a:gridCol w="5143500"/>
                <a:gridCol w="4572000"/>
              </a:tblGrid>
              <a:tr h="76200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方案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覆盖范围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本例结论与证据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</a:tr>
              <a:tr h="76200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volatile + 单次 32 位写入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保留真实访问；不阻止 IRQ 介入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仍可发生旧值覆盖（p02）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仅保护最终写回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读取旧值后、进入保护前仍可抢占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仍存在危险窗口（p03）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76200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保护读取至写回全窗口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屏蔽覆盖 TIM7，并恢复原状态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本场景可排除该交错（p13）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window-scope">
            <a:extLst xmlns:a="http://schemas.openxmlformats.org/drawingml/2006/main">
              <a:ext uri="{FF2B5EF4-FFF2-40B4-BE49-F238E27FC236}">
                <a16:creationId xmlns:a16="http://schemas.microsoft.com/office/drawing/2014/main" id="{1FE45968-022A-4E64-8D15-0E66AA3F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1343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本页比较 TIM6 / TIM7；DMA 等硬件参与者还需单独核对屏蔽范围与所有权。</a:t>
            </a:r>
          </a:p>
        </p:txBody>
      </p:sp>
    </p:spTree>
    <p:extLst>
      <p:ext uri="{BB962C8B-B14F-4D97-AF65-F5344CB8AC3E}">
        <p14:creationId xmlns:p14="http://schemas.microsoft.com/office/powerpoint/2010/main" val="20318889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EAB72408-A800-463F-807C-0DD109E4F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 技术评审与项目成果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03DCED6-6041-4831-AB55-7B2FD0F5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先落盘静态证据，再按项复核并保存每次调用记录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93BB0C9-7760-49CE-AB09-2A57E8A3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以下为正常执行顺序；异常按类型分流，扫描与复核输入通过指纹绑定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3FC1B4C-4F1C-4082-9F4A-538548DC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participant-ECRA 调度">
            <a:extLst xmlns:a="http://schemas.openxmlformats.org/drawingml/2006/main">
              <a:ext uri="{FF2B5EF4-FFF2-40B4-BE49-F238E27FC236}">
                <a16:creationId xmlns:a16="http://schemas.microsoft.com/office/drawing/2014/main" id="{65814CA4-E529-468D-9131-58CD68581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ECRA 调度</a:t>
            </a:r>
          </a:p>
        </p:txBody>
      </p:sp>
      <p:sp>
        <p:nvSpPr>
          <p:cNvPr id="6" name="anchor-68">
            <a:extLst xmlns:a="http://schemas.openxmlformats.org/drawingml/2006/main">
              <a:ext uri="{FF2B5EF4-FFF2-40B4-BE49-F238E27FC236}">
                <a16:creationId xmlns:a16="http://schemas.microsoft.com/office/drawing/2014/main" id="{D5C72CF1-A67C-47A3-9298-6DB0EAA2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181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anchor-69">
            <a:extLst xmlns:a="http://schemas.openxmlformats.org/drawingml/2006/main">
              <a:ext uri="{FF2B5EF4-FFF2-40B4-BE49-F238E27FC236}">
                <a16:creationId xmlns:a16="http://schemas.microsoft.com/office/drawing/2014/main" id="{62CA3206-BF98-4201-B9BD-3381DD87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7086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0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809750" y="3200400"/>
            <a:ext cx="0" cy="388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9" name="participant-静态引擎 / 源码">
            <a:extLst xmlns:a="http://schemas.openxmlformats.org/drawingml/2006/main">
              <a:ext uri="{FF2B5EF4-FFF2-40B4-BE49-F238E27FC236}">
                <a16:creationId xmlns:a16="http://schemas.microsoft.com/office/drawing/2014/main" id="{69FCEA13-186D-4405-8036-9122422D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33625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静态引擎 / 源码</a:t>
            </a:r>
          </a:p>
        </p:txBody>
      </p:sp>
      <p:sp>
        <p:nvSpPr>
          <p:cNvPr id="10" name="anchor-70">
            <a:extLst xmlns:a="http://schemas.openxmlformats.org/drawingml/2006/main">
              <a:ext uri="{FF2B5EF4-FFF2-40B4-BE49-F238E27FC236}">
                <a16:creationId xmlns:a16="http://schemas.microsoft.com/office/drawing/2014/main" id="{BFB0713D-2F9A-472E-A76F-7B05E848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181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anchor-71">
            <a:extLst xmlns:a="http://schemas.openxmlformats.org/drawingml/2006/main">
              <a:ext uri="{FF2B5EF4-FFF2-40B4-BE49-F238E27FC236}">
                <a16:creationId xmlns:a16="http://schemas.microsoft.com/office/drawing/2014/main" id="{B672A6C5-3C12-42BB-AA9D-17E2933B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7086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810250" y="3200400"/>
            <a:ext cx="0" cy="388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13" name="participant-OpenCode">
            <a:extLst xmlns:a="http://schemas.openxmlformats.org/drawingml/2006/main">
              <a:ext uri="{FF2B5EF4-FFF2-40B4-BE49-F238E27FC236}">
                <a16:creationId xmlns:a16="http://schemas.microsoft.com/office/drawing/2014/main" id="{39C8C6AB-ABD7-467B-A97A-8C8220F12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33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OpenCode</a:t>
            </a:r>
          </a:p>
        </p:txBody>
      </p:sp>
      <p:sp>
        <p:nvSpPr>
          <p:cNvPr id="14" name="anchor-72">
            <a:extLst xmlns:a="http://schemas.openxmlformats.org/drawingml/2006/main">
              <a:ext uri="{FF2B5EF4-FFF2-40B4-BE49-F238E27FC236}">
                <a16:creationId xmlns:a16="http://schemas.microsoft.com/office/drawing/2014/main" id="{371C0737-48C8-41B5-AC00-5F5FCB4D9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181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" name="anchor-73">
            <a:extLst xmlns:a="http://schemas.openxmlformats.org/drawingml/2006/main">
              <a:ext uri="{FF2B5EF4-FFF2-40B4-BE49-F238E27FC236}">
                <a16:creationId xmlns:a16="http://schemas.microsoft.com/office/drawing/2014/main" id="{96998FCA-F5F6-42AD-9FFD-25244F76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086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" name=""/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9810750" y="3200400"/>
            <a:ext cx="0" cy="388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17" name="participant-校验 / 归档">
            <a:extLst xmlns:a="http://schemas.openxmlformats.org/drawingml/2006/main">
              <a:ext uri="{FF2B5EF4-FFF2-40B4-BE49-F238E27FC236}">
                <a16:creationId xmlns:a16="http://schemas.microsoft.com/office/drawing/2014/main" id="{972F9CBE-6B3B-4B2E-A757-E7B94D8C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333625"/>
            <a:ext cx="2857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校验 / 归档</a:t>
            </a:r>
          </a:p>
        </p:txBody>
      </p:sp>
      <p:sp>
        <p:nvSpPr>
          <p:cNvPr id="18" name="anchor-74">
            <a:extLst xmlns:a="http://schemas.openxmlformats.org/drawingml/2006/main">
              <a:ext uri="{FF2B5EF4-FFF2-40B4-BE49-F238E27FC236}">
                <a16:creationId xmlns:a16="http://schemas.microsoft.com/office/drawing/2014/main" id="{55AA50C1-B8F5-4E16-A0EA-CF5F516C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1225" y="3181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anchor-75">
            <a:extLst xmlns:a="http://schemas.openxmlformats.org/drawingml/2006/main">
              <a:ext uri="{FF2B5EF4-FFF2-40B4-BE49-F238E27FC236}">
                <a16:creationId xmlns:a16="http://schemas.microsoft.com/office/drawing/2014/main" id="{9FB18933-EEB7-430A-83BC-A783CDB8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1225" y="70866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2" name=""/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3620750" y="3200400"/>
            <a:ext cx="0" cy="38862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A9B9C8"/>
            </a:solidFill>
            <a:prstDash val="dash"/>
            <a:headEnd type="none" w="med" len="med"/>
            <a:tailEnd type="none" w="sm" len="sm"/>
          </a:ln>
        </p:spPr>
      </p:cxnSp>
      <p:sp>
        <p:nvSpPr>
          <p:cNvPr id="21" name="anchor-76">
            <a:extLst xmlns:a="http://schemas.openxmlformats.org/drawingml/2006/main">
              <a:ext uri="{FF2B5EF4-FFF2-40B4-BE49-F238E27FC236}">
                <a16:creationId xmlns:a16="http://schemas.microsoft.com/office/drawing/2014/main" id="{651FF94A-9D37-42AB-A403-1F4D95BC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3752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77">
            <a:extLst xmlns:a="http://schemas.openxmlformats.org/drawingml/2006/main">
              <a:ext uri="{FF2B5EF4-FFF2-40B4-BE49-F238E27FC236}">
                <a16:creationId xmlns:a16="http://schemas.microsoft.com/office/drawing/2014/main" id="{4360B53B-EB06-461C-AD15-EE608349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752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5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1819275" y="3762375"/>
            <a:ext cx="3981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4" name="message-78">
            <a:extLst xmlns:a="http://schemas.openxmlformats.org/drawingml/2006/main">
              <a:ext uri="{FF2B5EF4-FFF2-40B4-BE49-F238E27FC236}">
                <a16:creationId xmlns:a16="http://schemas.microsoft.com/office/drawing/2014/main" id="{8BFA4D2E-C0D8-46EE-BEBD-A7AC71A5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409950"/>
            <a:ext cx="35718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1 扫描并保存事实</a:t>
            </a:r>
          </a:p>
        </p:txBody>
      </p:sp>
      <p:sp>
        <p:nvSpPr>
          <p:cNvPr id="25" name="anchor-79">
            <a:extLst xmlns:a="http://schemas.openxmlformats.org/drawingml/2006/main">
              <a:ext uri="{FF2B5EF4-FFF2-40B4-BE49-F238E27FC236}">
                <a16:creationId xmlns:a16="http://schemas.microsoft.com/office/drawing/2014/main" id="{F623C953-4E7E-496F-BE2D-1CA5E026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4514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6" name="anchor-80">
            <a:extLst xmlns:a="http://schemas.openxmlformats.org/drawingml/2006/main">
              <a:ext uri="{FF2B5EF4-FFF2-40B4-BE49-F238E27FC236}">
                <a16:creationId xmlns:a16="http://schemas.microsoft.com/office/drawing/2014/main" id="{10EB60D7-ED9E-4B1F-A101-2BF08DBD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514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9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819275" y="4524375"/>
            <a:ext cx="79819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8" name="message-81">
            <a:extLst xmlns:a="http://schemas.openxmlformats.org/drawingml/2006/main">
              <a:ext uri="{FF2B5EF4-FFF2-40B4-BE49-F238E27FC236}">
                <a16:creationId xmlns:a16="http://schemas.microsoft.com/office/drawing/2014/main" id="{1DCAA068-C65B-490B-A5DF-FCA6647C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71950"/>
            <a:ext cx="6191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2 选目标，提交提示词和 Packet</a:t>
            </a:r>
          </a:p>
        </p:txBody>
      </p:sp>
      <p:sp>
        <p:nvSpPr>
          <p:cNvPr id="29" name="anchor-82">
            <a:extLst xmlns:a="http://schemas.openxmlformats.org/drawingml/2006/main">
              <a:ext uri="{FF2B5EF4-FFF2-40B4-BE49-F238E27FC236}">
                <a16:creationId xmlns:a16="http://schemas.microsoft.com/office/drawing/2014/main" id="{945FE21F-8CA8-4C52-82F3-587AB216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276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83">
            <a:extLst xmlns:a="http://schemas.openxmlformats.org/drawingml/2006/main">
              <a:ext uri="{FF2B5EF4-FFF2-40B4-BE49-F238E27FC236}">
                <a16:creationId xmlns:a16="http://schemas.microsoft.com/office/drawing/2014/main" id="{81897255-AC3A-4EE6-A1C7-A8FA290C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5276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3" name=""/>
          <p:cNvCxnSpPr>
            <a:stCxn xmlns:a="http://schemas.openxmlformats.org/drawingml/2006/main" id="29" idx="1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5819775" y="5286375"/>
            <a:ext cx="39814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2" name="message-84">
            <a:extLst xmlns:a="http://schemas.openxmlformats.org/drawingml/2006/main">
              <a:ext uri="{FF2B5EF4-FFF2-40B4-BE49-F238E27FC236}">
                <a16:creationId xmlns:a16="http://schemas.microsoft.com/office/drawing/2014/main" id="{F6B6AAFD-F65F-4E8A-85A4-B7A4C2AC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933950"/>
            <a:ext cx="34766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3 读源码与案例</a:t>
            </a:r>
          </a:p>
        </p:txBody>
      </p:sp>
      <p:sp>
        <p:nvSpPr>
          <p:cNvPr id="33" name="anchor-85">
            <a:extLst xmlns:a="http://schemas.openxmlformats.org/drawingml/2006/main">
              <a:ext uri="{FF2B5EF4-FFF2-40B4-BE49-F238E27FC236}">
                <a16:creationId xmlns:a16="http://schemas.microsoft.com/office/drawing/2014/main" id="{00315BA9-D781-4B41-BB9C-8214EADC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038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anchor-86">
            <a:extLst xmlns:a="http://schemas.openxmlformats.org/drawingml/2006/main">
              <a:ext uri="{FF2B5EF4-FFF2-40B4-BE49-F238E27FC236}">
                <a16:creationId xmlns:a16="http://schemas.microsoft.com/office/drawing/2014/main" id="{2B45B234-D34A-4CEA-B2EE-F7B2196A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1225" y="6038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7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9820275" y="6048375"/>
            <a:ext cx="37909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18714F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6" name="message-87">
            <a:extLst xmlns:a="http://schemas.openxmlformats.org/drawingml/2006/main">
              <a:ext uri="{FF2B5EF4-FFF2-40B4-BE49-F238E27FC236}">
                <a16:creationId xmlns:a16="http://schemas.microsoft.com/office/drawing/2014/main" id="{47775911-4425-48D7-8BE8-DB9AFE44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695950"/>
            <a:ext cx="3524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4 JSON 与引用校验</a:t>
            </a:r>
          </a:p>
        </p:txBody>
      </p:sp>
      <p:sp>
        <p:nvSpPr>
          <p:cNvPr id="37" name="anchor-88">
            <a:extLst xmlns:a="http://schemas.openxmlformats.org/drawingml/2006/main">
              <a:ext uri="{FF2B5EF4-FFF2-40B4-BE49-F238E27FC236}">
                <a16:creationId xmlns:a16="http://schemas.microsoft.com/office/drawing/2014/main" id="{49FF69A7-BD52-4BA6-9BBB-DB8AAC9E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1225" y="6800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anchor-89">
            <a:extLst xmlns:a="http://schemas.openxmlformats.org/drawingml/2006/main">
              <a:ext uri="{FF2B5EF4-FFF2-40B4-BE49-F238E27FC236}">
                <a16:creationId xmlns:a16="http://schemas.microsoft.com/office/drawing/2014/main" id="{93FD1883-7E3D-44E1-927D-98B6DB3F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68008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" name=""/>
          <p:cNvCxnSpPr>
            <a:stCxn xmlns:a="http://schemas.openxmlformats.org/drawingml/2006/main" id="37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1819275" y="6810375"/>
            <a:ext cx="117919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45D9C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40" name="message-90">
            <a:extLst xmlns:a="http://schemas.openxmlformats.org/drawingml/2006/main">
              <a:ext uri="{FF2B5EF4-FFF2-40B4-BE49-F238E27FC236}">
                <a16:creationId xmlns:a16="http://schemas.microsoft.com/office/drawing/2014/main" id="{F3B810EC-540F-4B1B-8116-494BCE8D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457950"/>
            <a:ext cx="85725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5 按项存档、更新队列并输出双报告</a:t>
            </a:r>
          </a:p>
        </p:txBody>
      </p:sp>
      <p:sp>
        <p:nvSpPr>
          <p:cNvPr id="41" name="bounded-retries">
            <a:extLst xmlns:a="http://schemas.openxmlformats.org/drawingml/2006/main">
              <a:ext uri="{FF2B5EF4-FFF2-40B4-BE49-F238E27FC236}">
                <a16:creationId xmlns:a16="http://schemas.microsoft.com/office/drawing/2014/main" id="{7EEE306D-33C0-49A6-94EB-9BFB8B32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77125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异常：调用故障有界重试；格式修复 ≤2 次；窗口安全补核查 ≤1 次。</a:t>
            </a:r>
          </a:p>
        </p:txBody>
      </p:sp>
      <p:sp>
        <p:nvSpPr>
          <p:cNvPr id="42" name="done-definition">
            <a:extLst xmlns:a="http://schemas.openxmlformats.org/drawingml/2006/main">
              <a:ext uri="{FF2B5EF4-FFF2-40B4-BE49-F238E27FC236}">
                <a16:creationId xmlns:a16="http://schemas.microsoft.com/office/drawing/2014/main" id="{3F2B2026-9D5E-4007-A753-0630E5BF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0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失败保留 TECH_FAILED；DONE 表示获得合法答复，语义缺口仍需继续处理。</a:t>
            </a:r>
          </a:p>
        </p:txBody>
      </p:sp>
    </p:spTree>
    <p:extLst>
      <p:ext uri="{BB962C8B-B14F-4D97-AF65-F5344CB8AC3E}">
        <p14:creationId xmlns:p14="http://schemas.microsoft.com/office/powerpoint/2010/main" val="18746525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D628DFA2-8251-4372-B938-87FA7685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 技术评审与项目成果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FF54FB-C6FE-4876-A9DA-68BEC818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首轮 20 项中有 18 项符合预期，另有 2 项语义误判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1AD8BBAC-C171-4683-9F14-BE5D728B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真实 OpenCode 调用与独立预期对照；统计对象仅为预先指定的 20 个受控场景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F3A52E-A7EF-4DF4-B37A-1D024F43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14375" y="2762250"/>
          <a:ext xmlns:a="http://schemas.openxmlformats.org/drawingml/2006/main" cx="9096375" cy="4381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f6107389204794"/>
          </a:graphicData>
        </a:graphic>
      </p:graphicFrame>
      <p:sp>
        <p:nvSpPr>
          <p:cNvPr id="6" name="first-round-total">
            <a:extLst xmlns:a="http://schemas.openxmlformats.org/drawingml/2006/main">
              <a:ext uri="{FF2B5EF4-FFF2-40B4-BE49-F238E27FC236}">
                <a16:creationId xmlns:a16="http://schemas.microsoft.com/office/drawing/2014/main" id="{A77E314B-ADEB-47BB-8990-87324059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95600"/>
            <a:ext cx="400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18 / 20</a:t>
            </a:r>
          </a:p>
        </p:txBody>
      </p:sp>
      <p:sp>
        <p:nvSpPr>
          <p:cNvPr id="7" name="first-round-meaning">
            <a:extLst xmlns:a="http://schemas.openxmlformats.org/drawingml/2006/main">
              <a:ext uri="{FF2B5EF4-FFF2-40B4-BE49-F238E27FC236}">
                <a16:creationId xmlns:a16="http://schemas.microsoft.com/office/drawing/2014/main" id="{BD156C54-2654-4AC7-B77E-7AA770A5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0050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状态符合独立预期</a:t>
            </a:r>
          </a:p>
          <a:p xmlns:a="http://schemas.openxmlformats.org/drawingml/2006/main">
            <a:pPr algn="l">
              <a:defRPr sz="21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全部 20 项均完成复核</a:t>
            </a:r>
          </a:p>
        </p:txBody>
      </p:sp>
      <p:sp>
        <p:nvSpPr>
          <p:cNvPr id="8" name="first-round-errors">
            <a:extLst xmlns:a="http://schemas.openxmlformats.org/drawingml/2006/main">
              <a:ext uri="{FF2B5EF4-FFF2-40B4-BE49-F238E27FC236}">
                <a16:creationId xmlns:a16="http://schemas.microsoft.com/office/drawing/2014/main" id="{D0D1B4CB-CC1F-479A-A1A6-6C69D930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381625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两项错误</a:t>
            </a:r>
          </a:p>
          <a:p xmlns:a="http://schemas.openxmlformats.org/drawingml/2006/main">
            <a:pPr algn="l">
              <a:defRPr sz="2175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p17：缺证据仍确认</a:t>
            </a:r>
          </a:p>
          <a:p xmlns:a="http://schemas.openxmlformats.org/drawingml/2006/main">
            <a:pPr algn="l">
              <a:defRPr sz="2175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B64835"/>
                </a:solidFill>
                <a:latin typeface="Microsoft YaHei"/>
                <a:ea typeface="Microsoft YaHei"/>
                <a:cs typeface="Microsoft YaHei"/>
              </a:rPr>
              <a:t>p19：安全对照误报</a:t>
            </a:r>
          </a:p>
        </p:txBody>
      </p:sp>
      <p:sp>
        <p:nvSpPr>
          <p:cNvPr id="9" name="results-provenance">
            <a:extLst xmlns:a="http://schemas.openxmlformats.org/drawingml/2006/main">
              <a:ext uri="{FF2B5EF4-FFF2-40B4-BE49-F238E27FC236}">
                <a16:creationId xmlns:a16="http://schemas.microsoft.com/office/drawing/2014/main" id="{560776A8-9EB3-4644-AD0E-85FA3A06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53325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2026-10-18｜STM32CubeF4 v1.28.3 / STM32F407IG｜kimi/kimi-k2.7-code</a:t>
            </a:r>
          </a:p>
        </p:txBody>
      </p:sp>
      <p:sp>
        <p:nvSpPr>
          <p:cNvPr id="10" name="results-boundary">
            <a:extLst xmlns:a="http://schemas.openxmlformats.org/drawingml/2006/main">
              <a:ext uri="{FF2B5EF4-FFF2-40B4-BE49-F238E27FC236}">
                <a16:creationId xmlns:a16="http://schemas.microsoft.com/office/drawing/2014/main" id="{D942B30A-6AE1-423D-B50C-6135A5EF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676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计数代表本次受控场景的一致情况；未进行目标板烧录或物理时序验证。</a:t>
            </a:r>
          </a:p>
        </p:txBody>
      </p:sp>
    </p:spTree>
    <p:extLst>
      <p:ext uri="{BB962C8B-B14F-4D97-AF65-F5344CB8AC3E}">
        <p14:creationId xmlns:p14="http://schemas.microsoft.com/office/powerpoint/2010/main" val="166698596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A06B1C8B-377B-4FFE-97F1-8F482D8E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 技术评审与项目成果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617441-3D78-4D3F-BCDD-33AD9C18F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分层验证支持当前实现，模型稳定性仍需完整回归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F61E8611-9073-42CC-B329-BBA18D790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不同验证回答不同问题：实现是否工作、交错能否出现、模型判断是否符合预期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052B4E6-EB19-4ED0-A163-A4839AD32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667000"/>
          <a:ext xmlns:a="http://schemas.openxmlformats.org/drawingml/2006/main" cx="13716000" cy="4095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5334000"/>
                <a:gridCol w="5524500"/>
              </a:tblGrid>
              <a:tr h="8191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验证层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已归档结果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能够支持的结论 / 边界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</a:tr>
              <a:tr h="8191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真实工程构建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 + 20 变体；每版 39 个分析单元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真实构建可分析；含提取缓存复用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有限交错回放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 / 14 项断言通过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宿主机定点抢占模型；无 DMA 仿真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8191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模型定向复测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p16 / p17 / p18 / p19：4 / 4 符合预期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已知偏差回归；未完成全矩阵复测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19150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实现自动化回归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 659 项；2 项跳过，其余通过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验证实现行为；不等于模型准确率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argeted-corrections">
            <a:extLst xmlns:a="http://schemas.openxmlformats.org/drawingml/2006/main">
              <a:ext uri="{FF2B5EF4-FFF2-40B4-BE49-F238E27FC236}">
                <a16:creationId xmlns:a16="http://schemas.microsoft.com/office/drawing/2014/main" id="{6DFC54CC-1D07-4B46-BEFD-EDC3EAF6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53275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p17 改为“倾向有风险，需补证”；p19 改为“有依据排除风险”。</a:t>
            </a:r>
          </a:p>
        </p:txBody>
      </p:sp>
      <p:sp>
        <p:nvSpPr>
          <p:cNvPr id="7" name="remaining-validation">
            <a:extLst xmlns:a="http://schemas.openxmlformats.org/drawingml/2006/main">
              <a:ext uri="{FF2B5EF4-FFF2-40B4-BE49-F238E27FC236}">
                <a16:creationId xmlns:a16="http://schemas.microsoft.com/office/drawing/2014/main" id="{E22EDBBA-03A1-4D79-A7A6-7F21AE3F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9075"/>
            <a:ext cx="1371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额外重复验证因提供商余额不足而中止，失败项保留；尚不能承诺稳定性。</a:t>
            </a:r>
          </a:p>
        </p:txBody>
      </p:sp>
    </p:spTree>
    <p:extLst>
      <p:ext uri="{BB962C8B-B14F-4D97-AF65-F5344CB8AC3E}">
        <p14:creationId xmlns:p14="http://schemas.microsoft.com/office/powerpoint/2010/main" val="360374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eries-label">
            <a:extLst xmlns:a="http://schemas.openxmlformats.org/drawingml/2006/main">
              <a:ext uri="{FF2B5EF4-FFF2-40B4-BE49-F238E27FC236}">
                <a16:creationId xmlns:a16="http://schemas.microsoft.com/office/drawing/2014/main" id="{984CC384-22FB-43D3-B9B2-046B8CB7B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33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7C"/>
                </a:solidFill>
                <a:latin typeface="Microsoft YaHei"/>
                <a:ea typeface="Microsoft YaHei"/>
                <a:cs typeface="Microsoft YaHei"/>
              </a:rPr>
              <a:t>ECRA  技术评审与项目成果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BBAD22-E31D-463D-9970-7AF139E9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38112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工程师可沿同一份证据完成排查、复核与修复验证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DA6EE89-3F7B-4C14-B6FC-16A8AC7E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743075"/>
            <a:ext cx="13706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实际价值：把全量静态台账、候选依据、源码答复和未解决事实连接起来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60A5215-3966-4351-9DD8-2CD98824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49375" y="8086725"/>
            <a:ext cx="476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adoption-stage-0">
            <a:extLst xmlns:a="http://schemas.openxmlformats.org/drawingml/2006/main">
              <a:ext uri="{FF2B5EF4-FFF2-40B4-BE49-F238E27FC236}">
                <a16:creationId xmlns:a16="http://schemas.microsoft.com/office/drawing/2014/main" id="{BA24C826-A035-4F66-807D-EAD26A62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714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配置真实工程</a:t>
            </a:r>
          </a:p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构建与执行语义</a:t>
            </a:r>
          </a:p>
        </p:txBody>
      </p:sp>
      <p:sp>
        <p:nvSpPr>
          <p:cNvPr id="6" name="adoption-stage-1">
            <a:extLst xmlns:a="http://schemas.openxmlformats.org/drawingml/2006/main">
              <a:ext uri="{FF2B5EF4-FFF2-40B4-BE49-F238E27FC236}">
                <a16:creationId xmlns:a16="http://schemas.microsoft.com/office/drawing/2014/main" id="{D14312A2-3B33-4E1F-8217-552720DD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571750"/>
            <a:ext cx="2714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静态扫描</a:t>
            </a:r>
          </a:p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变量台账与候选</a:t>
            </a:r>
          </a:p>
        </p:txBody>
      </p:sp>
      <p:sp>
        <p:nvSpPr>
          <p:cNvPr id="7" name="adoption-stage-2">
            <a:extLst xmlns:a="http://schemas.openxmlformats.org/drawingml/2006/main">
              <a:ext uri="{FF2B5EF4-FFF2-40B4-BE49-F238E27FC236}">
                <a16:creationId xmlns:a16="http://schemas.microsoft.com/office/drawing/2014/main" id="{F334FC73-C650-4A6A-A555-77A2DECF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714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D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按需源码复核</a:t>
            </a:r>
          </a:p>
          <a:p xmlns:a="http://schemas.openxmlformats.org/drawingml/2006/main">
            <a:pPr algn="ctr">
              <a:def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14F"/>
                </a:solidFill>
                <a:latin typeface="Microsoft YaHei"/>
                <a:ea typeface="Microsoft YaHei"/>
                <a:cs typeface="Microsoft YaHei"/>
              </a:rPr>
              <a:t>结论、引用与缺口</a:t>
            </a:r>
          </a:p>
        </p:txBody>
      </p:sp>
      <p:sp>
        <p:nvSpPr>
          <p:cNvPr id="8" name="adoption-stage-3">
            <a:extLst xmlns:a="http://schemas.openxmlformats.org/drawingml/2006/main">
              <a:ext uri="{FF2B5EF4-FFF2-40B4-BE49-F238E27FC236}">
                <a16:creationId xmlns:a16="http://schemas.microsoft.com/office/drawing/2014/main" id="{5C30F12A-ADEA-49FD-A243-8F1F5DDA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2571750"/>
            <a:ext cx="2714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none" lIns="114300" tIns="76200" rIns="1143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修复并验证</a:t>
            </a:r>
          </a:p>
          <a:p xmlns:a="http://schemas.openxmlformats.org/drawingml/2006/main">
            <a:pPr algn="ctr">
              <a:def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45D9C"/>
                </a:solidFill>
                <a:latin typeface="Microsoft YaHei"/>
                <a:ea typeface="Microsoft YaHei"/>
                <a:cs typeface="Microsoft YaHei"/>
              </a:rPr>
              <a:t>重扫 + 针对性测试</a:t>
            </a:r>
          </a:p>
        </p:txBody>
      </p: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476625" y="30480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143750" y="30480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10810875" y="30480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21908">
            <a:solidFill>
              <a:srgbClr val="245D9C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2" name="adoption-configuration">
            <a:extLst xmlns:a="http://schemas.openxmlformats.org/drawingml/2006/main">
              <a:ext uri="{FF2B5EF4-FFF2-40B4-BE49-F238E27FC236}">
                <a16:creationId xmlns:a16="http://schemas.microsoft.com/office/drawing/2014/main" id="{F9BEACAD-9245-4521-AE8D-7AC37A64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1371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049"/>
                </a:solidFill>
                <a:latin typeface="Microsoft YaHei"/>
                <a:ea typeface="Microsoft YaHei"/>
                <a:cs typeface="Microsoft YaHei"/>
              </a:rPr>
              <a:t>接入前：设置 config/semantics.yaml 的 project.root，并核对真实构建、入口与 API 语义。</a:t>
            </a:r>
          </a:p>
        </p:txBody>
      </p:sp>
      <p:graphicFrame>
        <p:nvGraphicFramePr>
          <p:cNvPr id="27" name=""/>
          <p:cNvGraphicFramePr/>
          <p:nvPr/>
        </p:nvGraphicFramePr>
        <p:xfrm>
          <a:off xmlns:a="http://schemas.openxmlformats.org/drawingml/2006/main" x="762000" y="4667250"/>
          <a:ext xmlns:a="http://schemas.openxmlformats.org/drawingml/2006/main" cx="137160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5619750"/>
                <a:gridCol w="5524500"/>
              </a:tblGrid>
              <a:tr h="714375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命令（在源码目录执行）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用户读取的产物 / 后续动作</a:t>
                      </a:r>
                    </a:p>
                  </a:txBody>
                  <a:tcPr marL="91440" marR="91440" marT="45720" marB="45720" anchor="ctr">
                    <a:solidFill>
                      <a:srgbClr val="173049"/>
                    </a:solidFill>
                  </a:tcPr>
                </a:tc>
              </a:tr>
              <a:tr h="714375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生成静态证据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py -3.10 run_ecra.py --no-review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.ecra/index.html：全量台账与覆盖缺口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发起源码复核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py -3.10 run_ecra.py review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.ecra/opencode_review.html：答复与引用</a:t>
                      </a:r>
                    </a:p>
                  </a:txBody>
                  <a:tcPr marL="91440" marR="91440" marT="45720" marB="45720" anchor="ctr">
                    <a:solidFill>
                      <a:srgbClr val="F4F7FA"/>
                    </a:solidFill>
                  </a:tcPr>
                </a:tc>
              </a:tr>
              <a:tr h="714375"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修复代码之后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Consolas"/>
                          <a:ea typeface="Consolas"/>
                          <a:cs typeface="Consolas"/>
                        </a:rPr>
                        <a:t>重新扫描，再复核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none" lIns="152400" tIns="57150" rIns="152400" bIns="57150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730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核对新证据，并执行针对性业务 / 交错测试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adoption-preconditions">
            <a:extLst xmlns:a="http://schemas.openxmlformats.org/drawingml/2006/main">
              <a:ext uri="{FF2B5EF4-FFF2-40B4-BE49-F238E27FC236}">
                <a16:creationId xmlns:a16="http://schemas.microsoft.com/office/drawing/2014/main" id="{6A5F5A32-BEBE-4286-82AA-EB7CA680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91475"/>
            <a:ext cx="1371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D7388"/>
                </a:solidFill>
                <a:latin typeface="Microsoft YaHei"/>
                <a:ea typeface="Microsoft YaHei"/>
                <a:cs typeface="Microsoft YaHei"/>
              </a:rPr>
              <a:t>前提：已安装项目依赖且固件可独立构建；源码复核需可用 OpenCode 模型。</a:t>
            </a:r>
          </a:p>
        </p:txBody>
      </p:sp>
    </p:spTree>
    <p:extLst>
      <p:ext uri="{BB962C8B-B14F-4D97-AF65-F5344CB8AC3E}">
        <p14:creationId xmlns:p14="http://schemas.microsoft.com/office/powerpoint/2010/main" val="117618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2026-10-18T14:43:45.1660000Z</dcterms:created>
  <dcterms:modified xsi:type="dcterms:W3CDTF">2026-10-18T14:43:45.1660000Z</dcterms:modified>
</coreProperties>
</file>