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ac86f85cdf445c" /><Relationship Type="http://schemas.openxmlformats.org/officeDocument/2006/relationships/extended-properties" Target="/docProps/app.xml" Id="R6d6a452b2730460e" /><Relationship Type="http://schemas.openxmlformats.org/officeDocument/2006/relationships/officeDocument" Target="/ppt/presentation.xml" Id="Re113617d58d148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ce00de424f4c58"/>
  </p:sldMasterIdLst>
  <p:notesMasterIdLst>
    <p:notesMasterId xmlns:r="http://schemas.openxmlformats.org/officeDocument/2006/relationships" r:id="R317fbba46c084142"/>
  </p:notesMasterIdLst>
  <p:sldIdLst>
    <p:sldId xmlns:r="http://schemas.openxmlformats.org/officeDocument/2006/relationships" id="256" r:id="R6f46ed1a5c0745db"/>
    <p:sldId xmlns:r="http://schemas.openxmlformats.org/officeDocument/2006/relationships" id="257" r:id="R135fb0f77cb04ec8"/>
    <p:sldId xmlns:r="http://schemas.openxmlformats.org/officeDocument/2006/relationships" id="258" r:id="R11c38ef1f2f441f7"/>
    <p:sldId xmlns:r="http://schemas.openxmlformats.org/officeDocument/2006/relationships" id="259" r:id="Rb7b1d68f0c344560"/>
    <p:sldId xmlns:r="http://schemas.openxmlformats.org/officeDocument/2006/relationships" id="260" r:id="Rab23ad4784504fdd"/>
    <p:sldId xmlns:r="http://schemas.openxmlformats.org/officeDocument/2006/relationships" id="261" r:id="Rdf860c9f79104bf5"/>
    <p:sldId xmlns:r="http://schemas.openxmlformats.org/officeDocument/2006/relationships" id="262" r:id="R47899c082e294b72"/>
    <p:sldId xmlns:r="http://schemas.openxmlformats.org/officeDocument/2006/relationships" id="263" r:id="R855e86565a4048c8"/>
    <p:sldId xmlns:r="http://schemas.openxmlformats.org/officeDocument/2006/relationships" id="264" r:id="R87068dd765d8401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1652adb0bc4824" /><Relationship Type="http://schemas.openxmlformats.org/officeDocument/2006/relationships/slideMaster" Target="/ppt/slideMasters/slideMaster1.xml" Id="R35ce00de424f4c58" /><Relationship Type="http://schemas.openxmlformats.org/officeDocument/2006/relationships/notesMaster" Target="/ppt/notesMasters/notesMaster1.xml" Id="R317fbba46c084142" /><Relationship Type="http://schemas.openxmlformats.org/officeDocument/2006/relationships/presProps" Target="/ppt/presProps.xml" Id="R562a533544a04718" /><Relationship Type="http://schemas.openxmlformats.org/officeDocument/2006/relationships/tableStyles" Target="/ppt/tableStyles.xml" Id="R6ba158a5a0624267" /><Relationship Type="http://schemas.openxmlformats.org/officeDocument/2006/relationships/slide" Target="/ppt/slides/slide1.xml" Id="R6f46ed1a5c0745db" /><Relationship Type="http://schemas.openxmlformats.org/officeDocument/2006/relationships/slide" Target="/ppt/slides/slide2.xml" Id="R135fb0f77cb04ec8" /><Relationship Type="http://schemas.openxmlformats.org/officeDocument/2006/relationships/slide" Target="/ppt/slides/slide3.xml" Id="R11c38ef1f2f441f7" /><Relationship Type="http://schemas.openxmlformats.org/officeDocument/2006/relationships/slide" Target="/ppt/slides/slide4.xml" Id="Rb7b1d68f0c344560" /><Relationship Type="http://schemas.openxmlformats.org/officeDocument/2006/relationships/slide" Target="/ppt/slides/slide5.xml" Id="Rab23ad4784504fdd" /><Relationship Type="http://schemas.openxmlformats.org/officeDocument/2006/relationships/slide" Target="/ppt/slides/slide6.xml" Id="Rdf860c9f79104bf5" /><Relationship Type="http://schemas.openxmlformats.org/officeDocument/2006/relationships/slide" Target="/ppt/slides/slide7.xml" Id="R47899c082e294b72" /><Relationship Type="http://schemas.openxmlformats.org/officeDocument/2006/relationships/slide" Target="/ppt/slides/slide8.xml" Id="R855e86565a4048c8" /><Relationship Type="http://schemas.openxmlformats.org/officeDocument/2006/relationships/slide" Target="/ppt/slides/slide9.xml" Id="R87068dd765d840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9a8a3f29694a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cb4afd18804b6a" /><Relationship Type="http://schemas.openxmlformats.org/officeDocument/2006/relationships/notesMaster" Target="/ppt/notesMasters/notesMaster1.xml" Id="Rd1da27e7dd4f40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efb29044e24cb7" /><Relationship Type="http://schemas.openxmlformats.org/officeDocument/2006/relationships/notesMaster" Target="/ppt/notesMasters/notesMaster1.xml" Id="R5d842acecc4642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c6628c2cfd4e5a" /><Relationship Type="http://schemas.openxmlformats.org/officeDocument/2006/relationships/notesMaster" Target="/ppt/notesMasters/notesMaster1.xml" Id="R6d99d494e4144f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3dc4123a764beb" /><Relationship Type="http://schemas.openxmlformats.org/officeDocument/2006/relationships/notesMaster" Target="/ppt/notesMasters/notesMaster1.xml" Id="R0267f9b0bd954d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345b9b07bc4e0c" /><Relationship Type="http://schemas.openxmlformats.org/officeDocument/2006/relationships/notesMaster" Target="/ppt/notesMasters/notesMaster1.xml" Id="Rddd19f889bb047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7d61b517f84381" /><Relationship Type="http://schemas.openxmlformats.org/officeDocument/2006/relationships/notesMaster" Target="/ppt/notesMasters/notesMaster1.xml" Id="Rf5725e295de048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1b7c4e4bc548b4" /><Relationship Type="http://schemas.openxmlformats.org/officeDocument/2006/relationships/notesMaster" Target="/ppt/notesMasters/notesMaster1.xml" Id="R5b6a6971cf2246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29e0ef484e4bd2" /><Relationship Type="http://schemas.openxmlformats.org/officeDocument/2006/relationships/notesMaster" Target="/ppt/notesMasters/notesMaster1.xml" Id="Rcd30be52a18e4a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85b4ebd9f0438c" /><Relationship Type="http://schemas.openxmlformats.org/officeDocument/2006/relationships/notesMaster" Target="/ppt/notesMasters/notesMaster1.xml" Id="R402a22499db143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本次培训围绕用户实际操作展开。建议讲解时间为 15 至 20 分钟，随后用自己的工程完成一次变量排查。ECRA 面向全局和 static 变量的并发证据分析，核心场景是 STM32 裸机 CMake 工程。已有真实编译数据库的工程也可接入。培训以本地静态扫描为起点，AI 复核作为可选能力。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项目资料（2026-10-18 的工作区快照）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H:/global_static_concurrency_design/docs/one-command-tutorial.md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例子来自变量排查教程，初始 pending_events 为 1。主循环保存的 snapshot 始终为 01，TIM2 在快照之后加入采样位，使共享变量变成 11。主循环随后按旧快照处理，再清零整个共享位图，因而采样事件丢失。这是源码支持的一种交错推演，不能称为目标板上已经捕获的运行轨迹。static 只约束链接或生命周期，volatile 也没有把读取、处理和清零变成不可打断的事务。观众只需要理解：单核也会因中断抢占产生并发问题。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项目资料（2026-10-18 的工作区快照）</a:t>
            </a:r>
          </a:p>
          <a:p xmlns:a="http://schemas.openxmlformats.org/drawingml/2006/main">
            <a:r>
              <a:t>H:/global_static_concurrency_design/docs/variable-investigation-guide.md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变量列表不要求用户手工填写。相同名称的文件 static 按实际存储身份和编译单元区分，头文件 static 的不同实例也分开。普通自动局部变量和参数用于恢复别名，不作为独立共享对象盘点。范围筛选只约束作为排查对象的变量，相关第三方函数仍可参与调用链恢复。静态 SAFE 必须有具体安全依据，不能仅凭 volatile、32 位访问或单写者判断。源码不会被 ECRA 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项目资料（2026-10-18 的工作区快照）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H:/global_static_concurrency_design/docs/concurrency-tool-design.md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电脑需要可用的 Python 3.10 及以上版本和项目 requirements.txt 依赖。CMake 场景还需要对应的 CMake、生成器和 Arm 编译工具链。也可使用已经准备好的 Windows 便携包。不要照抄示例的 MyBoard 路径；不要覆盖现有配置的其他节，也不要创建重复的 project、analysis 键。include_dirs 必须包含自有头文件及 BSP、User 等实际业务目录。排除 Drivers 前先检查自己的业务是否放在其中。build/ecra 是示例专用构建目录，不要复用 IDE 正在使用的构建缓存。工具链需使用真实工程的设置，示例没有包含该字段。更换工程时同时维护工程补充背景。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项目资料（2026-10-18 的工作区快照）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H:/global_static_concurrency_design/config/semantics.yaml</a:t>
            </a:r>
          </a:p>
          <a:p xmlns:a="http://schemas.openxmlformats.org/drawingml/2006/main">
            <a:r>
              <a:t>H:/global_static_concurrency_design/docs/one-command-tutorial.md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doctor 用于检查依赖及构建或数据库条件，本身不执行变量分析。修复环境诊断后再完整扫描。--no-review 覆盖 review.enabled，因此当前工作区即使启用了 OpenCode 也不会调用模型。CMake 模式根据配置刷新 compile_commands.json 并在 build 为 true 时构建固件。便携包用户可在包目录使用 ecra.cmd doctor 和 ecra.cmd --no-review。报告是本地 HTML，可离线阅读。不启用模型时，模型复核页会保留待复核项，这不属于静态扫描崩溃。CMake 失败优先查看 .ecra/cmake-configure.log 和 cmake-build.log。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项目资料（2026-10-18 的工作区快照）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H:/global_static_concurrency_design/config/semantics.yaml</a:t>
            </a:r>
          </a:p>
          <a:p xmlns:a="http://schemas.openxmlformats.org/drawingml/2006/main">
            <a:r>
              <a:t>H:/global_static_concurrency_design/docs/one-command-tutorial.md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先看过滤结果与排查范围，再看源码解析或覆盖校验，最后看变量风险结论。搜索变量名，结合定义文件和编译单元确认对象身份，再展开全部访问和调用链。SAFE、SUSPECT、UNKNOWN 是静态分类，不是模型的语义结论。覆盖状态独立于风险，已发现的冲突不会因为另有证据缺口就被掩盖。UNKNOWN 的缺口应与该变量有关系，不应仅因项目其他位置未知就把所有变量判为 UNKNOWN。单次对齐访问、volatile 和出现 Lock 或关中断 API 本身都不足以证明完整逻辑事务安全。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项目资料（2026-10-18 的工作区快照）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H:/global_static_concurrency_design/docs/one-command-tutorial.md</a:t>
            </a:r>
          </a:p>
          <a:p xmlns:a="http://schemas.openxmlformats.org/drawingml/2006/main">
            <a:r>
              <a:t>H:/global_static_concurrency_design/docs/concurrency-tool-design.md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模型根据静态 Packet 导航读取本地源码，结合工程背景和相关案例判断。中央配置当前确实为 review.enabled: true，首次扫描页仍用 --no-review 便于先完成本地接入。上述两个 Markdown 文件放在实际 semantics.yaml 旁边，默认在 config/ 下。工程背景属于待源码核实的声明，案例相似也不能直接证明当前工程存在缺陷。五种合法语义答案均属于执行状态 DONE，但 DONE 不代表安全。PENDING、TECH_FAILED、LIKELY 和 NEED_MORE_CONTEXT 均不能当作最终安全结论。review 强制重评全部当前静态 SUSPECT/UNKNOWN，包括已有答案；review-failed 仅重试技术失败。修改案例或提示词通常不需要重扫，修改固件源码、编译输入或静态分析配置则必须先重新扫描。复核读取范围内源码并交给已配置的模型提供商，运行前应确认模型与连接配置。源码复核不替代目标板时序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项目资料（2026-10-18 的工作区快照）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H:/global_static_concurrency_design/docs/opencode-review-format.md</a:t>
            </a:r>
          </a:p>
          <a:p xmlns:a="http://schemas.openxmlformats.org/drawingml/2006/main">
            <a:r>
              <a:t>H:/global_static_concurrency_design/config/concurrency_cases.md</a:t>
            </a:r>
          </a:p>
          <a:p xmlns:a="http://schemas.openxmlformats.org/drawingml/2006/main">
            <a:r>
              <a:t>H:/global_static_concurrency_design/config/review_context.md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左侧是教程修复思路的关键片段，snapshot 需要由调用方事先声明。读取与清零在同一短临界区完成。恢复原先 PRIMASK 可保留进入前的中断状态。所有事件发布者也应使用同一有效保护策略，例如教程的 Service_PostEvents，在其中保护 |= 的完整读改写。业务处理在恢复中断后执行。只保护最终 pending_events=0 无法封闭旧快照窗口。位图表示至少发生过一次，同类事件可能合并，若业务要求保存每次事件或数据，应使用正确同步的计数器或队列。关中断不停止 DMA。培训只展示方案，未修改固件。修复后重新扫描，并用测试或目标板检查原来的错误交错。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项目资料（2026-10-18 的工作区快照）</a:t>
            </a:r>
          </a:p>
          <a:p xmlns:a="http://schemas.openxmlformats.org/drawingml/2006/main">
            <a:r>
              <a:t>H:/global_static_concurrency_design/docs/variable-investigation-guide.md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培训结束后由用户用自己的工程练习。合格的排查记录应含变量身份、当前构建、全部关键访问、实际上下文与调用链、错误交错、保护范围、修复方案以及验证结果。若一时无法判断，应明确缺失事实，保留为待处理项。运行 review 的前提是已有一致且有效的静态扫描，并已配置可用模型。只更新案例、工程补充背景或提示词时可执行 review；源码、头文件、编译数据库、分析配置或静态提取分类实现变化时先重新扫描。review-failed 不重评已经得到 NEED_MORE_CONTEXT 的项目，补充背景后应使用 review。教程某些历史示例路径与状态可能早于当前配置，实际以 config/semantics.yaml 及最新 README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项目资料（2026-10-18 的工作区快照）</a:t>
            </a:r>
          </a:p>
          <a:p xmlns:a="http://schemas.openxmlformats.org/drawingml/2006/main">
            <a:r>
              <a:t>H:/global_static_concurrency_design/README.md</a:t>
            </a:r>
          </a:p>
          <a:p xmlns:a="http://schemas.openxmlformats.org/drawingml/2006/main">
            <a:r>
              <a:t>H:/global_static_concurrency_design/docs/one-command-tutorial.md</a:t>
            </a:r>
          </a:p>
          <a:p xmlns:a="http://schemas.openxmlformats.org/drawingml/2006/main">
            <a:r>
              <a:t>H:/global_static_concurrency_design/docs/variable-investigation-guide.md</a:t>
            </a:r>
          </a:p>
          <a:p xmlns:a="http://schemas.openxmlformats.org/drawingml/2006/main">
            <a:r>
              <a:t>H:/global_static_concurrency_design/docs/opencode-review-format.md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a0c2572b1a4a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b600b28eb24919" /><Relationship Type="http://schemas.openxmlformats.org/officeDocument/2006/relationships/slideLayout" Target="/ppt/slideLayouts/slideLayout1.xml" Id="Rac7886bd8d994b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7886bd8d994b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83f79526949fb" /><Relationship Type="http://schemas.openxmlformats.org/officeDocument/2006/relationships/notesSlide" Target="/ppt/notesSlides/notesSlide1.xml" Id="R4fd22062586845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c2e3b37d4456f" /><Relationship Type="http://schemas.openxmlformats.org/officeDocument/2006/relationships/notesSlide" Target="/ppt/notesSlides/notesSlide2.xml" Id="R850e0fbbf6fb4d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a697ec56a4f0c" /><Relationship Type="http://schemas.openxmlformats.org/officeDocument/2006/relationships/notesSlide" Target="/ppt/notesSlides/notesSlide3.xml" Id="R63e550593a0744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343c25fa24396" /><Relationship Type="http://schemas.openxmlformats.org/officeDocument/2006/relationships/notesSlide" Target="/ppt/notesSlides/notesSlide4.xml" Id="R330ec7b1ef7241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5bc1049a44ffd" /><Relationship Type="http://schemas.openxmlformats.org/officeDocument/2006/relationships/notesSlide" Target="/ppt/notesSlides/notesSlide5.xml" Id="R7901af9d7b4d45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46b656e00492f" /><Relationship Type="http://schemas.openxmlformats.org/officeDocument/2006/relationships/notesSlide" Target="/ppt/notesSlides/notesSlide6.xml" Id="Rb374bf6c9cb741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df95ddb144c66" /><Relationship Type="http://schemas.openxmlformats.org/officeDocument/2006/relationships/notesSlide" Target="/ppt/notesSlides/notesSlide7.xml" Id="Raf828d7bafdd41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0d8c3acd9442a" /><Relationship Type="http://schemas.openxmlformats.org/officeDocument/2006/relationships/notesSlide" Target="/ppt/notesSlides/notesSlide8.xml" Id="R30939077053c4b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d974983ff49d4" /><Relationship Type="http://schemas.openxmlformats.org/officeDocument/2006/relationships/notesSlide" Target="/ppt/notesSlides/notesSlide9.xml" Id="Re552951869784b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80CC8DDB-378E-47CA-9203-48C354A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90600"/>
            <a:ext cx="1143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ECRA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AA7E464-3E31-42B7-8B87-78618AAC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38475"/>
            <a:ext cx="1338262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STM32 全局与 static 变量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并发排查用户指南</a:t>
            </a:r>
          </a:p>
        </p:txBody>
      </p:sp>
      <p:sp>
        <p:nvSpPr>
          <p:cNvPr id="3" name="cover-summary">
            <a:extLst xmlns:a="http://schemas.openxmlformats.org/drawingml/2006/main">
              <a:ext uri="{FF2B5EF4-FFF2-40B4-BE49-F238E27FC236}">
                <a16:creationId xmlns:a16="http://schemas.microsoft.com/office/drawing/2014/main" id="{A12BD53B-8094-49B3-915C-A5A4CFF8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524500"/>
            <a:ext cx="1304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A6DAD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6DADC"/>
                </a:solidFill>
                <a:latin typeface="Microsoft YaHei"/>
                <a:ea typeface="Microsoft YaHei"/>
                <a:cs typeface="Microsoft YaHei"/>
              </a:rPr>
              <a:t>首次接入、证据阅读与修复复查</a:t>
            </a:r>
          </a:p>
        </p:txBody>
      </p:sp>
      <p:sp>
        <p:nvSpPr>
          <p:cNvPr id="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0E6D1EC7-890C-4FBC-A2B1-1BDA41BD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7343775"/>
            <a:ext cx="11430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7D5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7D5E1"/>
                </a:solidFill>
                <a:latin typeface="Microsoft YaHei"/>
                <a:ea typeface="Microsoft YaHei"/>
                <a:cs typeface="Microsoft YaHei"/>
              </a:rPr>
              <a:t>面向嵌入式开发与测试用户</a:t>
            </a:r>
          </a:p>
        </p:txBody>
      </p:sp>
    </p:spTree>
    <p:extLst>
      <p:ext uri="{BB962C8B-B14F-4D97-AF65-F5344CB8AC3E}">
        <p14:creationId xmlns:p14="http://schemas.microsoft.com/office/powerpoint/2010/main" val="854861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4EC341-7BEB-486E-9D4F-88E4B2E4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单核系统中的事件丢失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10E1BF-92A9-4FA6-9864-7B8001D7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338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主循环取完快照后，中断更新了同一个共享变量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AD1E16-7C43-490E-9849-CFC4E34F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533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example-variable">
            <a:extLst xmlns:a="http://schemas.openxmlformats.org/drawingml/2006/main">
              <a:ext uri="{FF2B5EF4-FFF2-40B4-BE49-F238E27FC236}">
                <a16:creationId xmlns:a16="http://schemas.microsoft.com/office/drawing/2014/main" id="{99C3953F-D118-4662-8341-238281FB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764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87F82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087F82"/>
                </a:solidFill>
                <a:latin typeface="Consolas"/>
                <a:ea typeface="Consolas"/>
                <a:cs typeface="Consolas"/>
              </a:rPr>
              <a:t>static volatile uint32_t pending_events;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57250" y="3086100"/>
          <a:ext xmlns:a="http://schemas.openxmlformats.org/drawingml/2006/main" cx="13525500" cy="29527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143000"/>
                <a:gridCol w="2190750"/>
                <a:gridCol w="7905750"/>
                <a:gridCol w="2286000"/>
              </a:tblGrid>
              <a:tr h="738188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marL="171450" marR="171450" marT="114300" marB="11430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执行者</a:t>
                      </a:r>
                    </a:p>
                  </a:txBody>
                  <a:tcPr marL="171450" marR="171450" marT="114300" marB="11430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171450" marR="171450" marT="114300" marB="11430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事件位图</a:t>
                      </a:r>
                    </a:p>
                  </a:txBody>
                  <a:tcPr marL="171450" marR="171450" marT="114300" marB="114300" anchor="ctr">
                    <a:solidFill>
                      <a:srgbClr val="102A43"/>
                    </a:solidFill>
                  </a:tcPr>
                </a:tc>
              </a:tr>
              <a:tr h="738188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主循环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snapshot = pending_events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01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TIM2 中断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pending_events |= 2U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11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</a:tr>
              <a:tr h="738188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主循环继续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pending_events = 0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00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example-impact">
            <a:extLst xmlns:a="http://schemas.openxmlformats.org/drawingml/2006/main">
              <a:ext uri="{FF2B5EF4-FFF2-40B4-BE49-F238E27FC236}">
                <a16:creationId xmlns:a16="http://schemas.microsoft.com/office/drawing/2014/main" id="{1923CE37-B853-4FB8-AEB6-4369688D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19850"/>
            <a:ext cx="13477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BD47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D472C"/>
                </a:solidFill>
                <a:latin typeface="Microsoft YaHei"/>
                <a:ea typeface="Microsoft YaHei"/>
                <a:cs typeface="Microsoft YaHei"/>
              </a:rPr>
              <a:t>采样事件尚未处理，就被清零</a:t>
            </a:r>
          </a:p>
        </p:txBody>
      </p:sp>
      <p:sp>
        <p:nvSpPr>
          <p:cNvPr id="7" name="example-key">
            <a:extLst xmlns:a="http://schemas.openxmlformats.org/drawingml/2006/main">
              <a:ext uri="{FF2B5EF4-FFF2-40B4-BE49-F238E27FC236}">
                <a16:creationId xmlns:a16="http://schemas.microsoft.com/office/drawing/2014/main" id="{1F3422BC-3958-4F68-9937-4F616732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267575"/>
            <a:ext cx="13382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01 表示串口事件，10 表示采样事件，11 表示两者都在等待处理</a:t>
            </a:r>
          </a:p>
        </p:txBody>
      </p:sp>
    </p:spTree>
    <p:extLst>
      <p:ext uri="{BB962C8B-B14F-4D97-AF65-F5344CB8AC3E}">
        <p14:creationId xmlns:p14="http://schemas.microsoft.com/office/powerpoint/2010/main" val="993408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83FDC0-3FAF-4D98-B133-83D99201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ECRA 的排查范围与交付物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2DD6508-EA8A-4DB9-9673-4E2ECB8D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338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以当前真实构建为依据，自动生成本地报告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05C7E4-3985-4CCF-BE42-07D04D9B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533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scope-0">
            <a:extLst xmlns:a="http://schemas.openxmlformats.org/drawingml/2006/main">
              <a:ext uri="{FF2B5EF4-FFF2-40B4-BE49-F238E27FC236}">
                <a16:creationId xmlns:a16="http://schemas.microsoft.com/office/drawing/2014/main" id="{A70A9714-C13B-4297-8BF9-7C2C99EC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变量清单</a:t>
            </a:r>
          </a:p>
        </p:txBody>
      </p:sp>
      <p:sp>
        <p:nvSpPr>
          <p:cNvPr id="5" name="question-0">
            <a:extLst xmlns:a="http://schemas.openxmlformats.org/drawingml/2006/main">
              <a:ext uri="{FF2B5EF4-FFF2-40B4-BE49-F238E27FC236}">
                <a16:creationId xmlns:a16="http://schemas.microsoft.com/office/drawing/2014/main" id="{E0A1E2B9-335F-4CDD-95E8-CEBB0D10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400300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排查对象在哪里</a:t>
            </a:r>
          </a:p>
        </p:txBody>
      </p:sp>
      <p:sp>
        <p:nvSpPr>
          <p:cNvPr id="6" name="answer-0">
            <a:extLst xmlns:a="http://schemas.openxmlformats.org/drawingml/2006/main">
              <a:ext uri="{FF2B5EF4-FFF2-40B4-BE49-F238E27FC236}">
                <a16:creationId xmlns:a16="http://schemas.microsoft.com/office/drawing/2014/main" id="{31804373-3297-447F-9293-60B80AF4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5275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全局、文件 static、函数 static，以及成员与已知数组元素</a:t>
            </a:r>
          </a:p>
        </p:txBody>
      </p:sp>
      <p:sp>
        <p:nvSpPr>
          <p:cNvPr id="7" name="scope-1">
            <a:extLst xmlns:a="http://schemas.openxmlformats.org/drawingml/2006/main">
              <a:ext uri="{FF2B5EF4-FFF2-40B4-BE49-F238E27FC236}">
                <a16:creationId xmlns:a16="http://schemas.microsoft.com/office/drawing/2014/main" id="{06B7DCB0-A967-4C5F-BCED-514887C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访问证据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BB3535D4-6914-416C-9BC9-6ABB1EF8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67125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谁在什么位置读写</a:t>
            </a:r>
          </a:p>
        </p:txBody>
      </p:sp>
      <p:sp>
        <p:nvSpPr>
          <p:cNvPr id="9" name="answer-1">
            <a:extLst xmlns:a="http://schemas.openxmlformats.org/drawingml/2006/main">
              <a:ext uri="{FF2B5EF4-FFF2-40B4-BE49-F238E27FC236}">
                <a16:creationId xmlns:a16="http://schemas.microsoft.com/office/drawing/2014/main" id="{A249E788-3938-4BAE-AA43-80DD8F4C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21957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读写类型、调用链，以及主循环、中断或 DMA 等执行上下文</a:t>
            </a:r>
          </a:p>
        </p:txBody>
      </p:sp>
      <p:sp>
        <p:nvSpPr>
          <p:cNvPr id="10" name="scope-2">
            <a:extLst xmlns:a="http://schemas.openxmlformats.org/drawingml/2006/main">
              <a:ext uri="{FF2B5EF4-FFF2-40B4-BE49-F238E27FC236}">
                <a16:creationId xmlns:a16="http://schemas.microsoft.com/office/drawing/2014/main" id="{5B39206D-646F-4E44-8355-BFBC3825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风险分流</a:t>
            </a:r>
          </a:p>
        </p:txBody>
      </p:sp>
      <p:sp>
        <p:nvSpPr>
          <p:cNvPr id="11" name="question-2">
            <a:extLst xmlns:a="http://schemas.openxmlformats.org/drawingml/2006/main">
              <a:ext uri="{FF2B5EF4-FFF2-40B4-BE49-F238E27FC236}">
                <a16:creationId xmlns:a16="http://schemas.microsoft.com/office/drawing/2014/main" id="{80BFA86C-BB4E-4B98-BCDD-B1B4F22A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933950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哪些变量需要核查</a:t>
            </a:r>
          </a:p>
        </p:txBody>
      </p:sp>
      <p:sp>
        <p:nvSpPr>
          <p:cNvPr id="12" name="answer-2">
            <a:extLst xmlns:a="http://schemas.openxmlformats.org/drawingml/2006/main">
              <a:ext uri="{FF2B5EF4-FFF2-40B4-BE49-F238E27FC236}">
                <a16:creationId xmlns:a16="http://schemas.microsoft.com/office/drawing/2014/main" id="{9ED4F320-9A70-4FF6-B92E-E376663B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486400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逐变量保存 SAFE、SUSPECT、UNKNOWN 及覆盖缺口</a:t>
            </a:r>
          </a:p>
        </p:txBody>
      </p:sp>
      <p:sp>
        <p:nvSpPr>
          <p:cNvPr id="13" name="scope-3">
            <a:extLst xmlns:a="http://schemas.openxmlformats.org/drawingml/2006/main">
              <a:ext uri="{FF2B5EF4-FFF2-40B4-BE49-F238E27FC236}">
                <a16:creationId xmlns:a16="http://schemas.microsoft.com/office/drawing/2014/main" id="{DD887269-167E-43E4-9933-F4173CF8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00775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复核记录</a:t>
            </a:r>
          </a:p>
        </p:txBody>
      </p:sp>
      <p:sp>
        <p:nvSpPr>
          <p:cNvPr id="14" name="question-3">
            <a:extLst xmlns:a="http://schemas.openxmlformats.org/drawingml/2006/main">
              <a:ext uri="{FF2B5EF4-FFF2-40B4-BE49-F238E27FC236}">
                <a16:creationId xmlns:a16="http://schemas.microsoft.com/office/drawing/2014/main" id="{81DDCA5D-E75E-4064-89DB-EEF9FE1C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6200775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结论如何追溯</a:t>
            </a:r>
          </a:p>
        </p:txBody>
      </p:sp>
      <p:sp>
        <p:nvSpPr>
          <p:cNvPr id="15" name="answer-3">
            <a:extLst xmlns:a="http://schemas.openxmlformats.org/drawingml/2006/main">
              <a:ext uri="{FF2B5EF4-FFF2-40B4-BE49-F238E27FC236}">
                <a16:creationId xmlns:a16="http://schemas.microsoft.com/office/drawing/2014/main" id="{7D81E8A3-E549-4323-BFB6-1C85DA4F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6753225"/>
            <a:ext cx="10382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汇总源码位置、可能交错、保护证据及修复验证建议</a:t>
            </a:r>
          </a:p>
        </p:txBody>
      </p:sp>
    </p:spTree>
    <p:extLst>
      <p:ext uri="{BB962C8B-B14F-4D97-AF65-F5344CB8AC3E}">
        <p14:creationId xmlns:p14="http://schemas.microsoft.com/office/powerpoint/2010/main" val="8601393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5DE9DD-131C-4978-A271-AA02D67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首次接入：工程、范围与构建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3A4293-9ABD-4DDB-8C06-C8DAD45F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338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先确认固件能够正常编译，再检查 config/semantics.yaml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F485DD-04A6-4A8B-A3A5-0040A1E3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533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config-example">
            <a:extLst xmlns:a="http://schemas.openxmlformats.org/drawingml/2006/main">
              <a:ext uri="{FF2B5EF4-FFF2-40B4-BE49-F238E27FC236}">
                <a16:creationId xmlns:a16="http://schemas.microsoft.com/office/drawing/2014/main" id="{602E6A53-0847-4437-BB94-DADEC6EB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8096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配置片段</a:t>
            </a:r>
          </a:p>
        </p:txBody>
      </p:sp>
      <p:sp>
        <p:nvSpPr>
          <p:cNvPr id="5" name="yaml-0">
            <a:extLst xmlns:a="http://schemas.openxmlformats.org/drawingml/2006/main">
              <a:ext uri="{FF2B5EF4-FFF2-40B4-BE49-F238E27FC236}">
                <a16:creationId xmlns:a16="http://schemas.microsoft.com/office/drawing/2014/main" id="{0709CBFB-DFB2-4C33-B24F-B149C99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project:</a:t>
            </a:r>
          </a:p>
        </p:txBody>
      </p:sp>
      <p:sp>
        <p:nvSpPr>
          <p:cNvPr id="6" name="yaml-1">
            <a:extLst xmlns:a="http://schemas.openxmlformats.org/drawingml/2006/main">
              <a:ext uri="{FF2B5EF4-FFF2-40B4-BE49-F238E27FC236}">
                <a16:creationId xmlns:a16="http://schemas.microsoft.com/office/drawing/2014/main" id="{199536F6-34C8-4FC0-96F0-3C051F0F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087F82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87F82"/>
                </a:solidFill>
                <a:latin typeface="Consolas"/>
                <a:ea typeface="Consolas"/>
                <a:cs typeface="Consolas"/>
              </a:rPr>
              <a:t>  root: D:/firmware/MyBoard</a:t>
            </a:r>
          </a:p>
        </p:txBody>
      </p:sp>
      <p:sp>
        <p:nvSpPr>
          <p:cNvPr id="7" name="yaml-2">
            <a:extLst xmlns:a="http://schemas.openxmlformats.org/drawingml/2006/main">
              <a:ext uri="{FF2B5EF4-FFF2-40B4-BE49-F238E27FC236}">
                <a16:creationId xmlns:a16="http://schemas.microsoft.com/office/drawing/2014/main" id="{0C9B72AC-6B21-4527-83A6-4642F21F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analysis:</a:t>
            </a:r>
          </a:p>
        </p:txBody>
      </p:sp>
      <p:sp>
        <p:nvSpPr>
          <p:cNvPr id="8" name="yaml-3">
            <a:extLst xmlns:a="http://schemas.openxmlformats.org/drawingml/2006/main">
              <a:ext uri="{FF2B5EF4-FFF2-40B4-BE49-F238E27FC236}">
                <a16:creationId xmlns:a16="http://schemas.microsoft.com/office/drawing/2014/main" id="{51301D33-45B3-4B0A-9728-2AD2FCBE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90975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 include_dirs: [Core/Src, Core/Inc, App]</a:t>
            </a:r>
          </a:p>
        </p:txBody>
      </p:sp>
      <p:sp>
        <p:nvSpPr>
          <p:cNvPr id="9" name="yaml-4">
            <a:extLst xmlns:a="http://schemas.openxmlformats.org/drawingml/2006/main">
              <a:ext uri="{FF2B5EF4-FFF2-40B4-BE49-F238E27FC236}">
                <a16:creationId xmlns:a16="http://schemas.microsoft.com/office/drawing/2014/main" id="{D1BDA470-09A3-4B86-AD8E-D3BD7D0B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 exclude_dirs: [Drivers, Middlewares]</a:t>
            </a:r>
          </a:p>
        </p:txBody>
      </p:sp>
      <p:sp>
        <p:nvSpPr>
          <p:cNvPr id="10" name="yaml-5">
            <a:extLst xmlns:a="http://schemas.openxmlformats.org/drawingml/2006/main">
              <a:ext uri="{FF2B5EF4-FFF2-40B4-BE49-F238E27FC236}">
                <a16:creationId xmlns:a16="http://schemas.microsoft.com/office/drawing/2014/main" id="{AB9B94DE-E125-43A7-A22E-5245D312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95825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 cmake:</a:t>
            </a:r>
          </a:p>
        </p:txBody>
      </p:sp>
      <p:sp>
        <p:nvSpPr>
          <p:cNvPr id="11" name="yaml-6">
            <a:extLst xmlns:a="http://schemas.openxmlformats.org/drawingml/2006/main">
              <a:ext uri="{FF2B5EF4-FFF2-40B4-BE49-F238E27FC236}">
                <a16:creationId xmlns:a16="http://schemas.microsoft.com/office/drawing/2014/main" id="{F76D55AD-973E-40F5-8AA8-FF757406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   build_dir: build/ecra</a:t>
            </a:r>
          </a:p>
        </p:txBody>
      </p:sp>
      <p:sp>
        <p:nvSpPr>
          <p:cNvPr id="12" name="yaml-7">
            <a:extLst xmlns:a="http://schemas.openxmlformats.org/drawingml/2006/main">
              <a:ext uri="{FF2B5EF4-FFF2-40B4-BE49-F238E27FC236}">
                <a16:creationId xmlns:a16="http://schemas.microsoft.com/office/drawing/2014/main" id="{C65B7E57-B977-4D61-9C63-8569B8EF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00675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   generator: Ninja</a:t>
            </a:r>
          </a:p>
        </p:txBody>
      </p:sp>
      <p:sp>
        <p:nvSpPr>
          <p:cNvPr id="13" name="yaml-8">
            <a:extLst xmlns:a="http://schemas.openxmlformats.org/drawingml/2006/main">
              <a:ext uri="{FF2B5EF4-FFF2-40B4-BE49-F238E27FC236}">
                <a16:creationId xmlns:a16="http://schemas.microsoft.com/office/drawing/2014/main" id="{EC31FB0B-1A29-46FA-8D94-AA6D90C0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   build_type: Debug</a:t>
            </a:r>
          </a:p>
        </p:txBody>
      </p:sp>
      <p:sp>
        <p:nvSpPr>
          <p:cNvPr id="14" name="yaml-9">
            <a:extLst xmlns:a="http://schemas.openxmlformats.org/drawingml/2006/main">
              <a:ext uri="{FF2B5EF4-FFF2-40B4-BE49-F238E27FC236}">
                <a16:creationId xmlns:a16="http://schemas.microsoft.com/office/drawing/2014/main" id="{AAA73A4F-0390-4396-9DC0-79FDC64D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05525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    build: true</a:t>
            </a:r>
          </a:p>
        </p:txBody>
      </p:sp>
      <p:sp>
        <p:nvSpPr>
          <p:cNvPr id="15" name="setup-head-0">
            <a:extLst xmlns:a="http://schemas.openxmlformats.org/drawingml/2006/main">
              <a:ext uri="{FF2B5EF4-FFF2-40B4-BE49-F238E27FC236}">
                <a16:creationId xmlns:a16="http://schemas.microsoft.com/office/drawing/2014/main" id="{6DEA1134-5916-45B2-9DE0-791CC0DF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47925"/>
            <a:ext cx="4733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工程位置</a:t>
            </a:r>
          </a:p>
        </p:txBody>
      </p:sp>
      <p:sp>
        <p:nvSpPr>
          <p:cNvPr id="16" name="setup-body-0">
            <a:extLst xmlns:a="http://schemas.openxmlformats.org/drawingml/2006/main">
              <a:ext uri="{FF2B5EF4-FFF2-40B4-BE49-F238E27FC236}">
                <a16:creationId xmlns:a16="http://schemas.microsoft.com/office/drawing/2014/main" id="{11E6F5D4-7A00-4E65-B6F3-245C9CF5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19425"/>
            <a:ext cx="4733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project.root 指向</a:t>
            </a:r>
          </a:p>
          <a:p xmlns:a="http://schemas.openxmlformats.org/drawingml/2006/main">
            <a:pPr>
              <a:def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待排查的固件根目录</a:t>
            </a:r>
          </a:p>
        </p:txBody>
      </p:sp>
      <p:sp>
        <p:nvSpPr>
          <p:cNvPr id="17" name="setup-head-1">
            <a:extLst xmlns:a="http://schemas.openxmlformats.org/drawingml/2006/main">
              <a:ext uri="{FF2B5EF4-FFF2-40B4-BE49-F238E27FC236}">
                <a16:creationId xmlns:a16="http://schemas.microsoft.com/office/drawing/2014/main" id="{4569C51B-BDE3-471C-B63F-A4F59C67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905250"/>
            <a:ext cx="4733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业务范围</a:t>
            </a:r>
          </a:p>
        </p:txBody>
      </p:sp>
      <p:sp>
        <p:nvSpPr>
          <p:cNvPr id="18" name="setup-body-1">
            <a:extLst xmlns:a="http://schemas.openxmlformats.org/drawingml/2006/main">
              <a:ext uri="{FF2B5EF4-FFF2-40B4-BE49-F238E27FC236}">
                <a16:creationId xmlns:a16="http://schemas.microsoft.com/office/drawing/2014/main" id="{AD246BF9-9FD2-468F-ADA7-C73B2B9C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76750"/>
            <a:ext cx="4733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纳入全部自有代码</a:t>
            </a:r>
          </a:p>
          <a:p xmlns:a="http://schemas.openxmlformats.org/drawingml/2006/main">
            <a:pPr>
              <a:def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按实际归属排除第三方</a:t>
            </a:r>
          </a:p>
        </p:txBody>
      </p:sp>
      <p:sp>
        <p:nvSpPr>
          <p:cNvPr id="19" name="setup-head-2">
            <a:extLst xmlns:a="http://schemas.openxmlformats.org/drawingml/2006/main">
              <a:ext uri="{FF2B5EF4-FFF2-40B4-BE49-F238E27FC236}">
                <a16:creationId xmlns:a16="http://schemas.microsoft.com/office/drawing/2014/main" id="{FA29DCCC-C8A6-4644-9B92-2FF87C1F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362575"/>
            <a:ext cx="4733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真实构建</a:t>
            </a:r>
          </a:p>
        </p:txBody>
      </p:sp>
      <p:sp>
        <p:nvSpPr>
          <p:cNvPr id="20" name="setup-body-2">
            <a:extLst xmlns:a="http://schemas.openxmlformats.org/drawingml/2006/main">
              <a:ext uri="{FF2B5EF4-FFF2-40B4-BE49-F238E27FC236}">
                <a16:creationId xmlns:a16="http://schemas.microsoft.com/office/drawing/2014/main" id="{D7FBD167-53EE-4621-9B76-1EC8122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934075"/>
            <a:ext cx="4733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工具链、宏和构建变体</a:t>
            </a:r>
          </a:p>
          <a:p xmlns:a="http://schemas.openxmlformats.org/drawingml/2006/main">
            <a:pPr>
              <a:def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与实际固件一致</a:t>
            </a:r>
          </a:p>
        </p:txBody>
      </p:sp>
      <p:sp>
        <p:nvSpPr>
          <p:cNvPr id="21" name="config-footnote">
            <a:extLst xmlns:a="http://schemas.openxmlformats.org/drawingml/2006/main">
              <a:ext uri="{FF2B5EF4-FFF2-40B4-BE49-F238E27FC236}">
                <a16:creationId xmlns:a16="http://schemas.microsoft.com/office/drawing/2014/main" id="{EA053720-0640-4579-AEB5-C2CFD6E9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258050"/>
            <a:ext cx="132873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示例仅展示关键字段。保留其余配置，并按项目填写工具链路径</a:t>
            </a:r>
          </a:p>
        </p:txBody>
      </p:sp>
    </p:spTree>
    <p:extLst>
      <p:ext uri="{BB962C8B-B14F-4D97-AF65-F5344CB8AC3E}">
        <p14:creationId xmlns:p14="http://schemas.microsoft.com/office/powerpoint/2010/main" val="12244166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FC0D95-798E-4FCC-BE15-3F721787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首次扫描与报告入口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DD46E42-890B-4FE4-BD46-31514B30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338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在 ECRA 工具根目录执行以下命令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055D0D-8BD1-4801-8D44-974237F8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533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doctor-label">
            <a:extLst xmlns:a="http://schemas.openxmlformats.org/drawingml/2006/main">
              <a:ext uri="{FF2B5EF4-FFF2-40B4-BE49-F238E27FC236}">
                <a16:creationId xmlns:a16="http://schemas.microsoft.com/office/drawing/2014/main" id="{0A4BAE5A-2D9E-490E-8DC5-392445F4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1323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01  环境检查</a:t>
            </a:r>
          </a:p>
        </p:txBody>
      </p:sp>
      <p:sp>
        <p:nvSpPr>
          <p:cNvPr id="5" name="doctor-command">
            <a:extLst xmlns:a="http://schemas.openxmlformats.org/drawingml/2006/main">
              <a:ext uri="{FF2B5EF4-FFF2-40B4-BE49-F238E27FC236}">
                <a16:creationId xmlns:a16="http://schemas.microsoft.com/office/drawing/2014/main" id="{BE6C3A40-D328-41E8-B89D-F062CBAD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95625"/>
            <a:ext cx="13335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py -3.10 run_ecra.py doctor</a:t>
            </a:r>
          </a:p>
        </p:txBody>
      </p:sp>
      <p:sp>
        <p:nvSpPr>
          <p:cNvPr id="6" name="scan-label">
            <a:extLst xmlns:a="http://schemas.openxmlformats.org/drawingml/2006/main">
              <a:ext uri="{FF2B5EF4-FFF2-40B4-BE49-F238E27FC236}">
                <a16:creationId xmlns:a16="http://schemas.microsoft.com/office/drawing/2014/main" id="{A01363E3-9BB5-4A6B-83D7-56552C4D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1323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02  只做本地静态扫描</a:t>
            </a:r>
          </a:p>
        </p:txBody>
      </p:sp>
      <p:sp>
        <p:nvSpPr>
          <p:cNvPr id="7" name="scan-command">
            <a:extLst xmlns:a="http://schemas.openxmlformats.org/drawingml/2006/main">
              <a:ext uri="{FF2B5EF4-FFF2-40B4-BE49-F238E27FC236}">
                <a16:creationId xmlns:a16="http://schemas.microsoft.com/office/drawing/2014/main" id="{815D9E51-511E-4298-8F6B-E667CE60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13335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rPr sz="3000" b="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py -3.10 run_ecra.py --no-review</a:t>
            </a:r>
          </a:p>
        </p:txBody>
      </p:sp>
      <p:sp>
        <p:nvSpPr>
          <p:cNvPr id="8" name="report-location">
            <a:extLst xmlns:a="http://schemas.openxmlformats.org/drawingml/2006/main">
              <a:ext uri="{FF2B5EF4-FFF2-40B4-BE49-F238E27FC236}">
                <a16:creationId xmlns:a16="http://schemas.microsoft.com/office/drawing/2014/main" id="{BF603682-0AF2-4EFB-939F-927E3936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91250"/>
            <a:ext cx="13382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报告位置：&lt;固件根目录&gt;/.ecra/index.html</a:t>
            </a:r>
          </a:p>
        </p:txBody>
      </p:sp>
      <p:sp>
        <p:nvSpPr>
          <p:cNvPr id="9" name="scan-behavior">
            <a:extLst xmlns:a="http://schemas.openxmlformats.org/drawingml/2006/main">
              <a:ext uri="{FF2B5EF4-FFF2-40B4-BE49-F238E27FC236}">
                <a16:creationId xmlns:a16="http://schemas.microsoft.com/office/drawing/2014/main" id="{B34BCDE7-973B-473F-849D-134BA453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058025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扫描使用真实编译参数，按配置构建固件；不修改固件源码，也不烧录目标板</a:t>
            </a:r>
          </a:p>
        </p:txBody>
      </p:sp>
    </p:spTree>
    <p:extLst>
      <p:ext uri="{BB962C8B-B14F-4D97-AF65-F5344CB8AC3E}">
        <p14:creationId xmlns:p14="http://schemas.microsoft.com/office/powerpoint/2010/main" val="8368106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53FB6B-FC1B-4ECE-89D4-E9B970A6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静态报告的阅读顺序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B349E84-C472-49F7-8955-55BBB8CEC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338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先核对排查范围与解析覆盖，再查看变量结论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9191A9-1B58-4B00-AACA-5195B6DF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533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857250" y="2495550"/>
          <a:ext xmlns:a="http://schemas.openxmlformats.org/drawingml/2006/main" cx="13525500" cy="3657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571750"/>
                <a:gridCol w="5715000"/>
                <a:gridCol w="5238750"/>
              </a:tblGrid>
              <a:tr h="914400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静态分类</a:t>
                      </a:r>
                    </a:p>
                  </a:txBody>
                  <a:tcPr marL="171450" marR="171450" marT="114300" marB="11430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报告表达的含义</a:t>
                      </a:r>
                    </a:p>
                  </a:txBody>
                  <a:tcPr marL="171450" marR="171450" marT="114300" marB="11430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用户下一步</a:t>
                      </a:r>
                    </a:p>
                  </a:txBody>
                  <a:tcPr marL="171450" marR="171450" marT="114300" marB="114300" anchor="ctr">
                    <a:solidFill>
                      <a:srgbClr val="102A43"/>
                    </a:solidFill>
                  </a:tcPr>
                </a:tc>
              </a:tr>
              <a:tr h="914400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SAFE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当前证据支持不存在并发冲突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保留安全依据与适用条件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SUSPECT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已恢复可能交错的跨上下文冲突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核对访问、调用链和完整保护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</a:tr>
              <a:tr h="914400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UNKNOWN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缺少影响该变量结论的关键事实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按缺口补充入口、别名或配置证据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coverage-title">
            <a:extLst xmlns:a="http://schemas.openxmlformats.org/drawingml/2006/main">
              <a:ext uri="{FF2B5EF4-FFF2-40B4-BE49-F238E27FC236}">
                <a16:creationId xmlns:a16="http://schemas.microsoft.com/office/drawing/2014/main" id="{BD99CB34-2B35-4A65-B71D-9A2E3154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600825"/>
            <a:ext cx="1333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覆盖状态单独阅读：COMPLETE / PARTIAL</a:t>
            </a:r>
          </a:p>
        </p:txBody>
      </p:sp>
      <p:sp>
        <p:nvSpPr>
          <p:cNvPr id="6" name="coverage-explanation">
            <a:extLst xmlns:a="http://schemas.openxmlformats.org/drawingml/2006/main">
              <a:ext uri="{FF2B5EF4-FFF2-40B4-BE49-F238E27FC236}">
                <a16:creationId xmlns:a16="http://schemas.microsoft.com/office/drawing/2014/main" id="{B63D3333-3787-43B9-9E2A-E0D8A2F7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05675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SUSPECT + PARTIAL 仍需核查；SAFE 仅适用于本次构建和证据范围</a:t>
            </a:r>
          </a:p>
        </p:txBody>
      </p:sp>
    </p:spTree>
    <p:extLst>
      <p:ext uri="{BB962C8B-B14F-4D97-AF65-F5344CB8AC3E}">
        <p14:creationId xmlns:p14="http://schemas.microsoft.com/office/powerpoint/2010/main" val="2893078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E649FC-0CE2-41D6-A044-EA8309F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可选的 AI 逐变量复核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EDBDEFA-06A5-477E-98DB-29DDE205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338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启用 review.enabled，并配置可用的 OpenCode 后使用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1390DC-72C3-4DC7-9D53-64FAA435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533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57250" y="2447925"/>
          <a:ext xmlns:a="http://schemas.openxmlformats.org/drawingml/2006/main" cx="8972550" cy="34861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714750"/>
                <a:gridCol w="5257800"/>
              </a:tblGrid>
              <a:tr h="581025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复核结论</a:t>
                      </a:r>
                    </a:p>
                  </a:txBody>
                  <a:tcPr marL="171450" marR="171450" marT="114300" marB="114300" anchor="ctr">
                    <a:solidFill>
                      <a:srgbClr val="102A43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用户应如何处理</a:t>
                      </a:r>
                    </a:p>
                  </a:txBody>
                  <a:tcPr marL="171450" marR="171450" marT="114300" marB="114300" anchor="ctr">
                    <a:solidFill>
                      <a:srgbClr val="102A43"/>
                    </a:solidFill>
                  </a:tcPr>
                </a:tc>
              </a:tr>
              <a:tr h="581025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CONFIRMED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按源码证据处理风险，并验证修复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LIKELY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补齐列出的运行条件，再确定结论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</a:tr>
              <a:tr h="581025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REVIEWED_SAFE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记录安全前提，代码变化后复查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FALSE_POSITIVE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保留排除风险的证据</a:t>
                      </a:r>
                    </a:p>
                  </a:txBody>
                  <a:tcPr marL="171450" marR="171450" marT="114300" marB="114300" anchor="ctr">
                    <a:solidFill>
                      <a:srgbClr val="F3F7F9"/>
                    </a:solidFill>
                  </a:tcPr>
                </a:tc>
              </a:tr>
              <a:tr h="581025"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Consolas"/>
                          <a:ea typeface="Consolas"/>
                          <a:cs typeface="Consolas"/>
                        </a:rPr>
                        <a:t>NEED_MORE_CONTEXT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 lIns="171450" tIns="85725" rIns="1714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4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补充缺失事实，继续复核</a:t>
                      </a:r>
                    </a:p>
                  </a:txBody>
                  <a:tcPr marL="171450" marR="1714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view-context-heading">
            <a:extLst xmlns:a="http://schemas.openxmlformats.org/drawingml/2006/main">
              <a:ext uri="{FF2B5EF4-FFF2-40B4-BE49-F238E27FC236}">
                <a16:creationId xmlns:a16="http://schemas.microsoft.com/office/drawing/2014/main" id="{C9820764-75E1-4DA9-9248-899ED6E0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24125"/>
            <a:ext cx="398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工程背景</a:t>
            </a:r>
          </a:p>
        </p:txBody>
      </p:sp>
      <p:sp>
        <p:nvSpPr>
          <p:cNvPr id="6" name="review-context-file">
            <a:extLst xmlns:a="http://schemas.openxmlformats.org/drawingml/2006/main">
              <a:ext uri="{FF2B5EF4-FFF2-40B4-BE49-F238E27FC236}">
                <a16:creationId xmlns:a16="http://schemas.microsoft.com/office/drawing/2014/main" id="{E2A026C1-D910-471F-95B7-7D19877A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14675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review_context.md</a:t>
            </a:r>
          </a:p>
        </p:txBody>
      </p:sp>
      <p:sp>
        <p:nvSpPr>
          <p:cNvPr id="7" name="review-context-meaning">
            <a:extLst xmlns:a="http://schemas.openxmlformats.org/drawingml/2006/main">
              <a:ext uri="{FF2B5EF4-FFF2-40B4-BE49-F238E27FC236}">
                <a16:creationId xmlns:a16="http://schemas.microsoft.com/office/drawing/2014/main" id="{B905C76D-6503-40D3-906F-2BA61302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576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记录运行约束和源码依据</a:t>
            </a:r>
          </a:p>
        </p:txBody>
      </p:sp>
      <p:sp>
        <p:nvSpPr>
          <p:cNvPr id="8" name="review-cases-heading">
            <a:extLst xmlns:a="http://schemas.openxmlformats.org/drawingml/2006/main">
              <a:ext uri="{FF2B5EF4-FFF2-40B4-BE49-F238E27FC236}">
                <a16:creationId xmlns:a16="http://schemas.microsoft.com/office/drawing/2014/main" id="{E2A98C15-40BF-4EF5-9329-7ED7336E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429125"/>
            <a:ext cx="3981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案例库</a:t>
            </a:r>
          </a:p>
        </p:txBody>
      </p:sp>
      <p:sp>
        <p:nvSpPr>
          <p:cNvPr id="9" name="review-cases-file">
            <a:extLst xmlns:a="http://schemas.openxmlformats.org/drawingml/2006/main">
              <a:ext uri="{FF2B5EF4-FFF2-40B4-BE49-F238E27FC236}">
                <a16:creationId xmlns:a16="http://schemas.microsoft.com/office/drawing/2014/main" id="{E13D82D3-A39B-4C1B-A2DE-ABC53D28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01015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concurrency_cases.md</a:t>
            </a:r>
          </a:p>
        </p:txBody>
      </p:sp>
      <p:sp>
        <p:nvSpPr>
          <p:cNvPr id="10" name="review-cases-meaning">
            <a:extLst xmlns:a="http://schemas.openxmlformats.org/drawingml/2006/main">
              <a:ext uri="{FF2B5EF4-FFF2-40B4-BE49-F238E27FC236}">
                <a16:creationId xmlns:a16="http://schemas.microsoft.com/office/drawing/2014/main" id="{31490B90-1886-429D-85FA-5BC1DDCA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43550"/>
            <a:ext cx="400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追加案例后，重新执行 review</a:t>
            </a:r>
          </a:p>
        </p:txBody>
      </p:sp>
      <p:sp>
        <p:nvSpPr>
          <p:cNvPr id="11" name="review-command">
            <a:extLst xmlns:a="http://schemas.openxmlformats.org/drawingml/2006/main">
              <a:ext uri="{FF2B5EF4-FFF2-40B4-BE49-F238E27FC236}">
                <a16:creationId xmlns:a16="http://schemas.microsoft.com/office/drawing/2014/main" id="{15D71D69-7910-42E9-B240-57EB19F4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581775"/>
            <a:ext cx="1343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102A43"/>
                </a:solidFill>
                <a:latin typeface="Consolas"/>
                <a:ea typeface="Consolas"/>
                <a:cs typeface="Consolas"/>
              </a:defRPr>
            </a:pPr>
            <a:r>
              <a:rPr sz="2775" b="0">
                <a:solidFill>
                  <a:srgbClr val="102A43"/>
                </a:solidFill>
                <a:latin typeface="Consolas"/>
                <a:ea typeface="Consolas"/>
                <a:cs typeface="Consolas"/>
              </a:rPr>
              <a:t>py -3.10 run_ecra.py review</a:t>
            </a:r>
          </a:p>
        </p:txBody>
      </p:sp>
      <p:sp>
        <p:nvSpPr>
          <p:cNvPr id="12" name="review-state-note">
            <a:extLst xmlns:a="http://schemas.openxmlformats.org/drawingml/2006/main">
              <a:ext uri="{FF2B5EF4-FFF2-40B4-BE49-F238E27FC236}">
                <a16:creationId xmlns:a16="http://schemas.microsoft.com/office/drawing/2014/main" id="{2315B448-44AA-49E9-BFA5-D007F5A6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43775"/>
            <a:ext cx="1323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TECH_FAILED 表示执行失败，仍需重试。复核结论与目标板验证分别记录</a:t>
            </a:r>
          </a:p>
        </p:txBody>
      </p:sp>
    </p:spTree>
    <p:extLst>
      <p:ext uri="{BB962C8B-B14F-4D97-AF65-F5344CB8AC3E}">
        <p14:creationId xmlns:p14="http://schemas.microsoft.com/office/powerpoint/2010/main" val="19505023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3D027F-74D5-4339-8076-2205E73E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事件位图的修复与复查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27E5833-DC4A-4BD8-8BB1-585770EF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338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保护“取快照并清零”的完整事务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FC586DE-97F0-45F6-A9CD-27C3F87F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533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critical-section-label">
            <a:extLst xmlns:a="http://schemas.openxmlformats.org/drawingml/2006/main">
              <a:ext uri="{FF2B5EF4-FFF2-40B4-BE49-F238E27FC236}">
                <a16:creationId xmlns:a16="http://schemas.microsoft.com/office/drawing/2014/main" id="{56BB85E6-3217-4864-B6D2-6D520028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主循环取走事件</a:t>
            </a:r>
          </a:p>
        </p:txBody>
      </p:sp>
      <p:sp>
        <p:nvSpPr>
          <p:cNvPr id="5" name="fix-code-0">
            <a:extLst xmlns:a="http://schemas.openxmlformats.org/drawingml/2006/main">
              <a:ext uri="{FF2B5EF4-FFF2-40B4-BE49-F238E27FC236}">
                <a16:creationId xmlns:a16="http://schemas.microsoft.com/office/drawing/2014/main" id="{1E109D48-BAFB-4486-8190-8BBAA6B0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004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uint32_t mask = __get_PRIMASK();</a:t>
            </a:r>
          </a:p>
        </p:txBody>
      </p:sp>
      <p:sp>
        <p:nvSpPr>
          <p:cNvPr id="6" name="fix-code-1">
            <a:extLst xmlns:a="http://schemas.openxmlformats.org/drawingml/2006/main">
              <a:ext uri="{FF2B5EF4-FFF2-40B4-BE49-F238E27FC236}">
                <a16:creationId xmlns:a16="http://schemas.microsoft.com/office/drawing/2014/main" id="{40C4055B-5A0A-47D4-A8F6-A184BDC2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__disable_irq();</a:t>
            </a:r>
          </a:p>
        </p:txBody>
      </p:sp>
      <p:sp>
        <p:nvSpPr>
          <p:cNvPr id="7" name="fix-code-2">
            <a:extLst xmlns:a="http://schemas.openxmlformats.org/drawingml/2006/main">
              <a:ext uri="{FF2B5EF4-FFF2-40B4-BE49-F238E27FC236}">
                <a16:creationId xmlns:a16="http://schemas.microsoft.com/office/drawing/2014/main" id="{FCD6861D-F8C2-4437-AE27-26DDE8BF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767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87F82"/>
                </a:solidFill>
                <a:latin typeface="Consolas"/>
                <a:ea typeface="Consolas"/>
                <a:cs typeface="Consolas"/>
              </a:rPr>
              <a:t>snapshot = pending_events;</a:t>
            </a:r>
          </a:p>
        </p:txBody>
      </p:sp>
      <p:sp>
        <p:nvSpPr>
          <p:cNvPr id="8" name="fix-code-3">
            <a:extLst xmlns:a="http://schemas.openxmlformats.org/drawingml/2006/main">
              <a:ext uri="{FF2B5EF4-FFF2-40B4-BE49-F238E27FC236}">
                <a16:creationId xmlns:a16="http://schemas.microsoft.com/office/drawing/2014/main" id="{C1D23BFF-AF7F-4E8A-95D5-A3A6F43D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148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2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087F82"/>
                </a:solidFill>
                <a:latin typeface="Consolas"/>
                <a:ea typeface="Consolas"/>
                <a:cs typeface="Consolas"/>
              </a:rPr>
              <a:t>pending_events = 0;</a:t>
            </a:r>
          </a:p>
        </p:txBody>
      </p:sp>
      <p:sp>
        <p:nvSpPr>
          <p:cNvPr id="9" name="fix-code-4">
            <a:extLst xmlns:a="http://schemas.openxmlformats.org/drawingml/2006/main">
              <a:ext uri="{FF2B5EF4-FFF2-40B4-BE49-F238E27FC236}">
                <a16:creationId xmlns:a16="http://schemas.microsoft.com/office/drawing/2014/main" id="{81BBB65A-A083-43A2-BD25-1D557CF5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__set_PRIMASK(mask);</a:t>
            </a:r>
          </a:p>
        </p:txBody>
      </p:sp>
      <p:sp>
        <p:nvSpPr>
          <p:cNvPr id="10" name="fix-code-5">
            <a:extLst xmlns:a="http://schemas.openxmlformats.org/drawingml/2006/main">
              <a:ext uri="{FF2B5EF4-FFF2-40B4-BE49-F238E27FC236}">
                <a16:creationId xmlns:a16="http://schemas.microsoft.com/office/drawing/2014/main" id="{40B594C7-3170-48C3-A8E3-BECE9043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9115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fix-code-6">
            <a:extLst xmlns:a="http://schemas.openxmlformats.org/drawingml/2006/main">
              <a:ext uri="{FF2B5EF4-FFF2-40B4-BE49-F238E27FC236}">
                <a16:creationId xmlns:a16="http://schemas.microsoft.com/office/drawing/2014/main" id="{086D1626-3B51-4641-8223-199FB837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293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53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243B53"/>
                </a:solidFill>
                <a:latin typeface="Consolas"/>
                <a:ea typeface="Consolas"/>
                <a:cs typeface="Consolas"/>
              </a:rPr>
              <a:t>/* 恢复中断后处理 snapshot */</a:t>
            </a:r>
          </a:p>
        </p:txBody>
      </p:sp>
      <p:sp>
        <p:nvSpPr>
          <p:cNvPr id="12" name="publisher-heading">
            <a:extLst xmlns:a="http://schemas.openxmlformats.org/drawingml/2006/main">
              <a:ext uri="{FF2B5EF4-FFF2-40B4-BE49-F238E27FC236}">
                <a16:creationId xmlns:a16="http://schemas.microsoft.com/office/drawing/2014/main" id="{820CF98E-4C2E-4E74-9556-646E478A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发布端也使用一致的保护</a:t>
            </a:r>
          </a:p>
        </p:txBody>
      </p:sp>
      <p:sp>
        <p:nvSpPr>
          <p:cNvPr id="13" name="publisher-body">
            <a:extLst xmlns:a="http://schemas.openxmlformats.org/drawingml/2006/main">
              <a:ext uri="{FF2B5EF4-FFF2-40B4-BE49-F238E27FC236}">
                <a16:creationId xmlns:a16="http://schemas.microsoft.com/office/drawing/2014/main" id="{7FE862AE-3A04-43C6-AF7B-558E8AD1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28975"/>
            <a:ext cx="4838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核对所有 |= 等事件写入</a:t>
            </a:r>
          </a:p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保护必须覆盖完整读改写</a:t>
            </a:r>
          </a:p>
        </p:txBody>
      </p:sp>
      <p:sp>
        <p:nvSpPr>
          <p:cNvPr id="14" name="recheck-heading">
            <a:extLst xmlns:a="http://schemas.openxmlformats.org/drawingml/2006/main">
              <a:ext uri="{FF2B5EF4-FFF2-40B4-BE49-F238E27FC236}">
                <a16:creationId xmlns:a16="http://schemas.microsoft.com/office/drawing/2014/main" id="{E2C39B80-5348-4A7C-B584-91B1812C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6725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修复后的验证</a:t>
            </a:r>
          </a:p>
        </p:txBody>
      </p:sp>
      <p:sp>
        <p:nvSpPr>
          <p:cNvPr id="15" name="recheck-body">
            <a:extLst xmlns:a="http://schemas.openxmlformats.org/drawingml/2006/main">
              <a:ext uri="{FF2B5EF4-FFF2-40B4-BE49-F238E27FC236}">
                <a16:creationId xmlns:a16="http://schemas.microsoft.com/office/drawing/2014/main" id="{1CA2494E-B111-41A5-A0C0-62FDD95D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19725"/>
            <a:ext cx="48387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重新扫描，核对全部访问</a:t>
            </a:r>
          </a:p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验证原来丢事件的交错</a:t>
            </a:r>
          </a:p>
        </p:txBody>
      </p:sp>
      <p:sp>
        <p:nvSpPr>
          <p:cNvPr id="16" name="fix-scope">
            <a:extLst xmlns:a="http://schemas.openxmlformats.org/drawingml/2006/main">
              <a:ext uri="{FF2B5EF4-FFF2-40B4-BE49-F238E27FC236}">
                <a16:creationId xmlns:a16="http://schemas.microsoft.com/office/drawing/2014/main" id="{1C336239-654B-43BD-8B6C-82603AD7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248525"/>
            <a:ext cx="13335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适用前提：单核、普通可屏蔽 IRQ。DMA、NMI 与多核访问需要另行分析</a:t>
            </a:r>
          </a:p>
        </p:txBody>
      </p:sp>
    </p:spTree>
    <p:extLst>
      <p:ext uri="{BB962C8B-B14F-4D97-AF65-F5344CB8AC3E}">
        <p14:creationId xmlns:p14="http://schemas.microsoft.com/office/powerpoint/2010/main" val="21466317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76A2F6-3139-41B2-897F-0652135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8650"/>
            <a:ext cx="13563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用户上手练习与日常命令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3B5740-7146-4125-9300-F2C9AA52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14475"/>
            <a:ext cx="1338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练习目标：完成一个变量的证据核查与修复复查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07EA82-F078-4833-86BE-07663483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7450" y="7953375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exercise-index-0">
            <a:extLst xmlns:a="http://schemas.openxmlformats.org/drawingml/2006/main">
              <a:ext uri="{FF2B5EF4-FFF2-40B4-BE49-F238E27FC236}">
                <a16:creationId xmlns:a16="http://schemas.microsoft.com/office/drawing/2014/main" id="{26103BF7-E453-4754-96A7-D9076BB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exercise-body-0">
            <a:extLst xmlns:a="http://schemas.openxmlformats.org/drawingml/2006/main">
              <a:ext uri="{FF2B5EF4-FFF2-40B4-BE49-F238E27FC236}">
                <a16:creationId xmlns:a16="http://schemas.microsoft.com/office/drawing/2014/main" id="{104A3572-0724-4D20-90E0-F9E72D44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609850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选一个可编译工程，确认排查范围</a:t>
            </a:r>
          </a:p>
        </p:txBody>
      </p:sp>
      <p:sp>
        <p:nvSpPr>
          <p:cNvPr id="6" name="exercise-index-1">
            <a:extLst xmlns:a="http://schemas.openxmlformats.org/drawingml/2006/main">
              <a:ext uri="{FF2B5EF4-FFF2-40B4-BE49-F238E27FC236}">
                <a16:creationId xmlns:a16="http://schemas.microsoft.com/office/drawing/2014/main" id="{8DF692B2-8AD4-43D3-82F1-47655549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exercise-body-1">
            <a:extLst xmlns:a="http://schemas.openxmlformats.org/drawingml/2006/main">
              <a:ext uri="{FF2B5EF4-FFF2-40B4-BE49-F238E27FC236}">
                <a16:creationId xmlns:a16="http://schemas.microsoft.com/office/drawing/2014/main" id="{A8C5626D-9835-42C8-82C3-D80492E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70522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打开 index.html，选择一个疑似项</a:t>
            </a:r>
          </a:p>
        </p:txBody>
      </p:sp>
      <p:sp>
        <p:nvSpPr>
          <p:cNvPr id="8" name="exercise-index-2">
            <a:extLst xmlns:a="http://schemas.openxmlformats.org/drawingml/2006/main">
              <a:ext uri="{FF2B5EF4-FFF2-40B4-BE49-F238E27FC236}">
                <a16:creationId xmlns:a16="http://schemas.microsoft.com/office/drawing/2014/main" id="{492A003B-D133-4AD5-A5E3-AA554924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exercise-body-2">
            <a:extLst xmlns:a="http://schemas.openxmlformats.org/drawingml/2006/main">
              <a:ext uri="{FF2B5EF4-FFF2-40B4-BE49-F238E27FC236}">
                <a16:creationId xmlns:a16="http://schemas.microsoft.com/office/drawing/2014/main" id="{A4BD281E-ADB2-4903-AE10-3FEAE587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800600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写清变量、执行者、交错和保护</a:t>
            </a:r>
          </a:p>
        </p:txBody>
      </p:sp>
      <p:sp>
        <p:nvSpPr>
          <p:cNvPr id="10" name="exercise-index-3">
            <a:extLst xmlns:a="http://schemas.openxmlformats.org/drawingml/2006/main">
              <a:ext uri="{FF2B5EF4-FFF2-40B4-BE49-F238E27FC236}">
                <a16:creationId xmlns:a16="http://schemas.microsoft.com/office/drawing/2014/main" id="{C3127356-D480-4BE2-9742-36B3A2A1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57875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1" name="exercise-body-3">
            <a:extLst xmlns:a="http://schemas.openxmlformats.org/drawingml/2006/main">
              <a:ext uri="{FF2B5EF4-FFF2-40B4-BE49-F238E27FC236}">
                <a16:creationId xmlns:a16="http://schemas.microsoft.com/office/drawing/2014/main" id="{5D56F551-F9E7-463D-B2EC-34ED5BFE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895975"/>
            <a:ext cx="600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修复后重新扫描，验证原问题</a:t>
            </a:r>
          </a:p>
        </p:txBody>
      </p:sp>
      <p:sp>
        <p:nvSpPr>
          <p:cNvPr id="12" name="daily-heading">
            <a:extLst xmlns:a="http://schemas.openxmlformats.org/drawingml/2006/main">
              <a:ext uri="{FF2B5EF4-FFF2-40B4-BE49-F238E27FC236}">
                <a16:creationId xmlns:a16="http://schemas.microsoft.com/office/drawing/2014/main" id="{F84740F2-43C2-494D-8FDB-E1FFCAB3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447925"/>
            <a:ext cx="561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A43"/>
                </a:solidFill>
                <a:latin typeface="Microsoft YaHei"/>
                <a:ea typeface="Microsoft YaHei"/>
                <a:cs typeface="Microsoft YaHei"/>
              </a:rPr>
              <a:t>在工具根目录执行</a:t>
            </a:r>
          </a:p>
        </p:txBody>
      </p:sp>
      <p:sp>
        <p:nvSpPr>
          <p:cNvPr id="13" name="daily-label-0">
            <a:extLst xmlns:a="http://schemas.openxmlformats.org/drawingml/2006/main">
              <a:ext uri="{FF2B5EF4-FFF2-40B4-BE49-F238E27FC236}">
                <a16:creationId xmlns:a16="http://schemas.microsoft.com/office/drawing/2014/main" id="{1AF18B01-9037-44A3-843E-744B42A9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480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源码或构建变化后，刷新静态事实</a:t>
            </a:r>
          </a:p>
        </p:txBody>
      </p:sp>
      <p:sp>
        <p:nvSpPr>
          <p:cNvPr id="14" name="daily-command-0">
            <a:extLst xmlns:a="http://schemas.openxmlformats.org/drawingml/2006/main">
              <a:ext uri="{FF2B5EF4-FFF2-40B4-BE49-F238E27FC236}">
                <a16:creationId xmlns:a16="http://schemas.microsoft.com/office/drawing/2014/main" id="{97C1E021-2AF1-4DA2-891E-C885EA19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7623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8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F82"/>
                </a:solidFill>
                <a:latin typeface="Consolas"/>
                <a:ea typeface="Consolas"/>
                <a:cs typeface="Consolas"/>
              </a:rPr>
              <a:t>py -3.10 run_ecra.py --no-review</a:t>
            </a:r>
          </a:p>
        </p:txBody>
      </p:sp>
      <p:sp>
        <p:nvSpPr>
          <p:cNvPr id="15" name="daily-label-1">
            <a:extLst xmlns:a="http://schemas.openxmlformats.org/drawingml/2006/main">
              <a:ext uri="{FF2B5EF4-FFF2-40B4-BE49-F238E27FC236}">
                <a16:creationId xmlns:a16="http://schemas.microsoft.com/office/drawing/2014/main" id="{3096C76B-7D5D-4B1F-A5FF-37261BF1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5624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重评全部当前疑似或未知变量</a:t>
            </a:r>
          </a:p>
        </p:txBody>
      </p:sp>
      <p:sp>
        <p:nvSpPr>
          <p:cNvPr id="16" name="daily-command-1">
            <a:extLst xmlns:a="http://schemas.openxmlformats.org/drawingml/2006/main">
              <a:ext uri="{FF2B5EF4-FFF2-40B4-BE49-F238E27FC236}">
                <a16:creationId xmlns:a16="http://schemas.microsoft.com/office/drawing/2014/main" id="{4F597EFF-C1B4-458E-BFDF-F700906AD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0768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8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F82"/>
                </a:solidFill>
                <a:latin typeface="Consolas"/>
                <a:ea typeface="Consolas"/>
                <a:cs typeface="Consolas"/>
              </a:rPr>
              <a:t>py -3.10 run_ecra.py review</a:t>
            </a:r>
          </a:p>
        </p:txBody>
      </p:sp>
      <p:sp>
        <p:nvSpPr>
          <p:cNvPr id="17" name="daily-label-2">
            <a:extLst xmlns:a="http://schemas.openxmlformats.org/drawingml/2006/main">
              <a:ext uri="{FF2B5EF4-FFF2-40B4-BE49-F238E27FC236}">
                <a16:creationId xmlns:a16="http://schemas.microsoft.com/office/drawing/2014/main" id="{7766A7BF-3C01-4143-B511-5A09ABC8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58769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仅重试执行失败的复核项</a:t>
            </a:r>
          </a:p>
        </p:txBody>
      </p:sp>
      <p:sp>
        <p:nvSpPr>
          <p:cNvPr id="18" name="daily-command-2">
            <a:extLst xmlns:a="http://schemas.openxmlformats.org/drawingml/2006/main">
              <a:ext uri="{FF2B5EF4-FFF2-40B4-BE49-F238E27FC236}">
                <a16:creationId xmlns:a16="http://schemas.microsoft.com/office/drawing/2014/main" id="{EAAC5D75-F7AE-47A8-ABB5-FE5CEAD2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639127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87F82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87F82"/>
                </a:solidFill>
                <a:latin typeface="Consolas"/>
                <a:ea typeface="Consolas"/>
                <a:cs typeface="Consolas"/>
              </a:rPr>
              <a:t>py -3.10 run_ecra.py review-failed</a:t>
            </a:r>
          </a:p>
        </p:txBody>
      </p:sp>
      <p:sp>
        <p:nvSpPr>
          <p:cNvPr id="19" name="resource-caption">
            <a:extLst xmlns:a="http://schemas.openxmlformats.org/drawingml/2006/main">
              <a:ext uri="{FF2B5EF4-FFF2-40B4-BE49-F238E27FC236}">
                <a16:creationId xmlns:a16="http://schemas.microsoft.com/office/drawing/2014/main" id="{B6727D7E-7A70-4929-B522-7B38A708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324725"/>
            <a:ext cx="152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操作文档</a:t>
            </a:r>
          </a:p>
        </p:txBody>
      </p:sp>
      <p:sp>
        <p:nvSpPr>
          <p:cNvPr id="20" name="resource-tutorial">
            <a:extLst xmlns:a="http://schemas.openxmlformats.org/drawingml/2006/main">
              <a:ext uri="{FF2B5EF4-FFF2-40B4-BE49-F238E27FC236}">
                <a16:creationId xmlns:a16="http://schemas.microsoft.com/office/drawing/2014/main" id="{C177485F-AF60-4F31-95FC-474AFF5A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7305675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D98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627D98"/>
                </a:solidFill>
                <a:latin typeface="Consolas"/>
                <a:ea typeface="Consolas"/>
                <a:cs typeface="Consolas"/>
              </a:rPr>
              <a:t>docs/one-command-tutorial.md</a:t>
            </a:r>
          </a:p>
        </p:txBody>
      </p:sp>
      <p:sp>
        <p:nvSpPr>
          <p:cNvPr id="21" name="resource-case">
            <a:extLst xmlns:a="http://schemas.openxmlformats.org/drawingml/2006/main">
              <a:ext uri="{FF2B5EF4-FFF2-40B4-BE49-F238E27FC236}">
                <a16:creationId xmlns:a16="http://schemas.microsoft.com/office/drawing/2014/main" id="{F4524A30-868F-459A-B0D1-AF22AC0E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791450"/>
            <a:ext cx="12573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D98"/>
                </a:solidFill>
                <a:latin typeface="Microsoft YaHei"/>
                <a:ea typeface="Microsoft YaHei"/>
                <a:cs typeface="Microsoft YaHei"/>
              </a:rPr>
              <a:t>案例：docs/variable-investigation-guide.md</a:t>
            </a:r>
          </a:p>
        </p:txBody>
      </p:sp>
    </p:spTree>
    <p:extLst>
      <p:ext uri="{BB962C8B-B14F-4D97-AF65-F5344CB8AC3E}">
        <p14:creationId xmlns:p14="http://schemas.microsoft.com/office/powerpoint/2010/main" val="21211494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2026-10-18T11:10:24.2300000Z</dcterms:created>
  <dcterms:modified xsi:type="dcterms:W3CDTF">2026-10-18T11:10:24.2300000Z</dcterms:modified>
</coreProperties>
</file>