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84d6d2497c40dd" /><Relationship Type="http://schemas.openxmlformats.org/officeDocument/2006/relationships/extended-properties" Target="/docProps/app.xml" Id="R5587ae19e0fc42f8" /><Relationship Type="http://schemas.openxmlformats.org/officeDocument/2006/relationships/officeDocument" Target="/ppt/presentation.xml" Id="R654841803e3249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936e0707f54844"/>
  </p:sldMasterIdLst>
  <p:notesMasterIdLst>
    <p:notesMasterId xmlns:r="http://schemas.openxmlformats.org/officeDocument/2006/relationships" r:id="Ra3f7affa6ddd4e88"/>
  </p:notesMasterIdLst>
  <p:sldIdLst>
    <p:sldId xmlns:r="http://schemas.openxmlformats.org/officeDocument/2006/relationships" id="256" r:id="R696fd0fc1e444d50"/>
    <p:sldId xmlns:r="http://schemas.openxmlformats.org/officeDocument/2006/relationships" id="257" r:id="Rc971c1cde61141f7"/>
    <p:sldId xmlns:r="http://schemas.openxmlformats.org/officeDocument/2006/relationships" id="258" r:id="Re3a1e80dd8e44c92"/>
    <p:sldId xmlns:r="http://schemas.openxmlformats.org/officeDocument/2006/relationships" id="259" r:id="Rdbf8ad9ebfb04fe1"/>
    <p:sldId xmlns:r="http://schemas.openxmlformats.org/officeDocument/2006/relationships" id="260" r:id="Rf65efdf93a624def"/>
    <p:sldId xmlns:r="http://schemas.openxmlformats.org/officeDocument/2006/relationships" id="261" r:id="R13dc19ad83854c49"/>
    <p:sldId xmlns:r="http://schemas.openxmlformats.org/officeDocument/2006/relationships" id="262" r:id="Rc437ba12ba1249ce"/>
    <p:sldId xmlns:r="http://schemas.openxmlformats.org/officeDocument/2006/relationships" id="263" r:id="Rdc6401f5218943f3"/>
    <p:sldId xmlns:r="http://schemas.openxmlformats.org/officeDocument/2006/relationships" id="264" r:id="R6c45fd156fc74aa0"/>
    <p:sldId xmlns:r="http://schemas.openxmlformats.org/officeDocument/2006/relationships" id="265" r:id="Rfc165450d26b479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f307d939714bf6" /><Relationship Type="http://schemas.openxmlformats.org/officeDocument/2006/relationships/slideMaster" Target="/ppt/slideMasters/slideMaster1.xml" Id="R48936e0707f54844" /><Relationship Type="http://schemas.openxmlformats.org/officeDocument/2006/relationships/notesMaster" Target="/ppt/notesMasters/notesMaster1.xml" Id="Ra3f7affa6ddd4e88" /><Relationship Type="http://schemas.openxmlformats.org/officeDocument/2006/relationships/presProps" Target="/ppt/presProps.xml" Id="R336594fb26c24a3f" /><Relationship Type="http://schemas.openxmlformats.org/officeDocument/2006/relationships/tableStyles" Target="/ppt/tableStyles.xml" Id="R126725bf9a854ffe" /><Relationship Type="http://schemas.openxmlformats.org/officeDocument/2006/relationships/slide" Target="/ppt/slides/slide1.xml" Id="R696fd0fc1e444d50" /><Relationship Type="http://schemas.openxmlformats.org/officeDocument/2006/relationships/slide" Target="/ppt/slides/slide2.xml" Id="Rc971c1cde61141f7" /><Relationship Type="http://schemas.openxmlformats.org/officeDocument/2006/relationships/slide" Target="/ppt/slides/slide3.xml" Id="Re3a1e80dd8e44c92" /><Relationship Type="http://schemas.openxmlformats.org/officeDocument/2006/relationships/slide" Target="/ppt/slides/slide4.xml" Id="Rdbf8ad9ebfb04fe1" /><Relationship Type="http://schemas.openxmlformats.org/officeDocument/2006/relationships/slide" Target="/ppt/slides/slide5.xml" Id="Rf65efdf93a624def" /><Relationship Type="http://schemas.openxmlformats.org/officeDocument/2006/relationships/slide" Target="/ppt/slides/slide6.xml" Id="R13dc19ad83854c49" /><Relationship Type="http://schemas.openxmlformats.org/officeDocument/2006/relationships/slide" Target="/ppt/slides/slide7.xml" Id="Rc437ba12ba1249ce" /><Relationship Type="http://schemas.openxmlformats.org/officeDocument/2006/relationships/slide" Target="/ppt/slides/slide8.xml" Id="Rdc6401f5218943f3" /><Relationship Type="http://schemas.openxmlformats.org/officeDocument/2006/relationships/slide" Target="/ppt/slides/slide9.xml" Id="R6c45fd156fc74aa0" /><Relationship Type="http://schemas.openxmlformats.org/officeDocument/2006/relationships/slide" Target="/ppt/slides/slide10.xml" Id="Rfc165450d26b47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6220ce9f8e4b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8a356b895a4f42" /><Relationship Type="http://schemas.openxmlformats.org/officeDocument/2006/relationships/notesMaster" Target="/ppt/notesMasters/notesMaster1.xml" Id="R7daddc1fe2f542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f2a466a5614163" /><Relationship Type="http://schemas.openxmlformats.org/officeDocument/2006/relationships/notesMaster" Target="/ppt/notesMasters/notesMaster1.xml" Id="R9151b69192514f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09e61fb803440a" /><Relationship Type="http://schemas.openxmlformats.org/officeDocument/2006/relationships/notesMaster" Target="/ppt/notesMasters/notesMaster1.xml" Id="R0f479384961642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be7c9956bb4f6f" /><Relationship Type="http://schemas.openxmlformats.org/officeDocument/2006/relationships/notesMaster" Target="/ppt/notesMasters/notesMaster1.xml" Id="R7a35e80b4f3142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5fa03712894a08" /><Relationship Type="http://schemas.openxmlformats.org/officeDocument/2006/relationships/notesMaster" Target="/ppt/notesMasters/notesMaster1.xml" Id="R22dd89176c8941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ed47da4cd84592" /><Relationship Type="http://schemas.openxmlformats.org/officeDocument/2006/relationships/notesMaster" Target="/ppt/notesMasters/notesMaster1.xml" Id="R324e4a6fe0d042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266f20daed4d6e" /><Relationship Type="http://schemas.openxmlformats.org/officeDocument/2006/relationships/notesMaster" Target="/ppt/notesMasters/notesMaster1.xml" Id="R2215adbcb7c84c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f6b6c64df6426f" /><Relationship Type="http://schemas.openxmlformats.org/officeDocument/2006/relationships/notesMaster" Target="/ppt/notesMasters/notesMaster1.xml" Id="R11eff4adaba04a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a8c19ad0b345d0" /><Relationship Type="http://schemas.openxmlformats.org/officeDocument/2006/relationships/notesMaster" Target="/ppt/notesMasters/notesMaster1.xml" Id="R30072f6b67044e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b47536c2b1459e" /><Relationship Type="http://schemas.openxmlformats.org/officeDocument/2006/relationships/notesMaster" Target="/ppt/notesMasters/notesMaster1.xml" Id="R8f45d5686f9047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设动机来自项目设计文档。静态存储期并不限制调用函数的执行上下文。这里的主循环/中断为常见裸机场景示意，不代表整个工具仅识别这两类入口。工具恢复调用关系、指针别名和上下文，输出变量台账、证据、候选与缺口；工程师仍需核查业务协议及必要的目标板行为。没有工时节省比例或准确率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codex_global_static_concurrency_design.md §22 与结语</a:t>
            </a:r>
          </a:p>
          <a:p xmlns:a="http://schemas.openxmlformats.org/drawingml/2006/main">
            <a:r>
              <a:t>stm32_baremetal_concurrency_tool_design_final.md §1 建设目标</a:t>
            </a:r>
          </a:p>
          <a:p xmlns:a="http://schemas.openxmlformats.org/drawingml/2006/main">
            <a:r>
              <a:t>docs/variable-investigation-guide.md §1、§2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组件图覆盖主要数据与控制边界。入口包括便携启动器 ecra.cmd / 源码入口 run_ecra.py，调用 ecra.cli.main。cli.run 协调 compilation.prepare、独立 extract 子进程、analysis.analyze、report.generate、workflow.save_scan 和 review.review_all。workflow.saved_run 管理保存扫描的指纹一致性及复核/报告重跑。编译库由真实 CMake 参数刷新，也支持已有编译数据库。解析按编译单元隔离，恢复语法事实。关系层包含 points_to、context_points、context_graph、physical、analysis，图中按职责汇总。静态持久化先于模型调用，review 关闭时仍保存静态报告和 PENDING 队列。常规复核目标是静态 SUSPECT/UNKNOWN，无法归属变量的覆盖缺口另行保留，显式质量抽样也不改变原静态分类。工程背景/案例是复核辅助，静态事实保持独立。report.py 根据同一静态事实与复核记录生成 index.html 和 opencode_review.html。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run_ecra.py</a:t>
            </a:r>
          </a:p>
          <a:p xmlns:a="http://schemas.openxmlformats.org/drawingml/2006/main">
            <a:r>
              <a:t>ecra/cli.py main、run</a:t>
            </a:r>
          </a:p>
          <a:p xmlns:a="http://schemas.openxmlformats.org/drawingml/2006/main">
            <a:r>
              <a:t>ecra/compilation.py prepare</a:t>
            </a:r>
          </a:p>
          <a:p xmlns:a="http://schemas.openxmlformats.org/drawingml/2006/main">
            <a:r>
              <a:t>ecra/extract.py</a:t>
            </a:r>
          </a:p>
          <a:p xmlns:a="http://schemas.openxmlformats.org/drawingml/2006/main">
            <a:r>
              <a:t>ecra/analysis.py analyze</a:t>
            </a:r>
          </a:p>
          <a:p xmlns:a="http://schemas.openxmlformats.org/drawingml/2006/main">
            <a:r>
              <a:t>ecra/evidence.py classify</a:t>
            </a:r>
          </a:p>
          <a:p xmlns:a="http://schemas.openxmlformats.org/drawingml/2006/main">
            <a:r>
              <a:t>ecra/workflow.py save_scan、checked_scan、saved_run</a:t>
            </a:r>
          </a:p>
          <a:p xmlns:a="http://schemas.openxmlformats.org/drawingml/2006/main">
            <a:r>
              <a:t>ecra/review.py review_all</a:t>
            </a:r>
          </a:p>
          <a:p xmlns:a="http://schemas.openxmlformats.org/drawingml/2006/main">
            <a:r>
              <a:t>ecra/report.py generate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ecra.cli.run 实际协调顺序绘制，返回消息回到 CLI，避免误解为 extract 直接调用 analysis。1 加载配置并创建扫描锁，归档既有输出。2 compilation.prepare 刷新 compile_commands.json，普通扫描按配置构建；随后每个编译单元在独立 python -m ecra.extract 子进程内解析。3 解析事实返回 CLI。4 合并、别名/成员归一、物理上下文和冲突/保护/初始化/缺口分析。5 静态报告对象返回。6 校验输入与引擎指纹，写 input_manifest.json，第一次 report.generate 保存 facts、报告和数据库，再 workflow.save_scan 保存 scan_state.json 及 PENDING 队列。7 review.enabled 为真时才调用模型；--no-review 强制关闭当次复核，默认不生成 Packet 也不调用模型。8 复核逐项更新队列，结果含归档、校验与技术/语义状态，期间可写报告检查点。9 再次核查输入完整性并汇总报告。静态报告能在模型前存在；输出 INCOMPLETE 可能来自覆盖缺口、技术未完成或语义仍未解决，不能仅用一个状态判断固件安全。图省略锁释放、基线差异和异常处理的内部消息。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ecra/cli.py run</a:t>
            </a:r>
          </a:p>
          <a:p xmlns:a="http://schemas.openxmlformats.org/drawingml/2006/main">
            <a:r>
              <a:t>ecra/compilation.py prepare</a:t>
            </a:r>
          </a:p>
          <a:p xmlns:a="http://schemas.openxmlformats.org/drawingml/2006/main">
            <a:r>
              <a:t>ecra/workflow.py save_scan</a:t>
            </a:r>
          </a:p>
          <a:p xmlns:a="http://schemas.openxmlformats.org/drawingml/2006/main">
            <a:r>
              <a:t>ecra/review.py review_all</a:t>
            </a:r>
          </a:p>
          <a:p xmlns:a="http://schemas.openxmlformats.org/drawingml/2006/main">
            <a:r>
              <a:t>ecra/report.py generate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示例调用链与表达式来自项目教程，是用于解释的当前项目案例，行号随源码变更应重新定位。只使用已明确的 main 与 TIM2 路径，不依赖教程中仍待排除的保守 HAL 分发路径。ECRA 在跨编译单元合并后识别规范存储对象，extern 合并，同名不同内部链接对象保持不同 symbol_id，指针求解和上下文敏感局部别名把间接读写映射回变量，成员/数组进行适当展开与重叠传播。入口沿调用与注册关系传播到访问点，同步回调继承调用者的物理域，同一物理 IRQ 的多条路径不被当成互相抢占。FOREGROUND、IRQ、DMA、EXTERNAL_ASYNC、UNKNOWN_CONTEXT 是不同的实际建模域，未知或未恢复关系保留证据缺口。每个变量聚合全部访问、路径、保护、初始化、冲突对及相关缺口，形成 VariableEvidenceSlice；不是一个写点对应一个执行者。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docs/variable-investigation-guide.md §1.1–1.3</a:t>
            </a:r>
          </a:p>
          <a:p xmlns:a="http://schemas.openxmlformats.org/drawingml/2006/main">
            <a:r>
              <a:t>ecra/analysis.py analyze</a:t>
            </a:r>
          </a:p>
          <a:p xmlns:a="http://schemas.openxmlformats.org/drawingml/2006/main">
            <a:r>
              <a:t>ecra/points_to.py</a:t>
            </a:r>
          </a:p>
          <a:p xmlns:a="http://schemas.openxmlformats.org/drawingml/2006/main">
            <a:r>
              <a:t>ecra/context_points.py</a:t>
            </a:r>
          </a:p>
          <a:p xmlns:a="http://schemas.openxmlformats.org/drawingml/2006/main">
            <a:r>
              <a:t>ecra/context_graph.py</a:t>
            </a:r>
          </a:p>
          <a:p xmlns:a="http://schemas.openxmlformats.org/drawingml/2006/main">
            <a:r>
              <a:t>ecra/physical.py</a:t>
            </a:r>
          </a:p>
          <a:p xmlns:a="http://schemas.openxmlformats.org/drawingml/2006/main">
            <a:r>
              <a:t>ecra/evidence.py VariableEvidenceSlice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以当前 ecra.evidence.classify 为准，输出是四类。上方是判定所需的主要证据维度，不是四个等价布尔条件。先识别可能并发且有写冲突的跨物理上下文访问对，完整有效保护和严格初始化先后证明可排除相应冲突。内部未被观察的普通写入有受严格门禁约束的特殊安全路径。已恢复的破坏性冲突优先 SUSPECT，其他证据缺口不能冲掉它。严格单物理写者、纯读观察、自然对齐标量、无破坏性协议/快照/相关缺口/硬件异步等门禁全部满足时，才为 SHARED_NO_REVIEW，该类没有 safe_reason_code，也不宣称应用层协议安全。变量相关关键缺口可给 UNKNOWN。其余有冲突的保留 SUSPECT，无剩余冲突且具安全依据的为 SAFE_PROVEN。coverage_status COMPLETE/PARTIAL 与风险分类独立。两个免常规复核类别仍列在全量台账，可用显式质量抽样复核。无法归属变量的覆盖缺口独立保留。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ecra/evidence.py CLASSIFIED_STATES、classify、shared_no_review_proof</a:t>
            </a:r>
          </a:p>
          <a:p xmlns:a="http://schemas.openxmlformats.org/drawingml/2006/main">
            <a:r>
              <a:t>ecra/analysis.py analyze、review_targets</a:t>
            </a:r>
          </a:p>
          <a:p xmlns:a="http://schemas.openxmlformats.org/drawingml/2006/main">
            <a:r>
              <a:t>ecra/cli.py 静态质量抽样</a:t>
            </a:r>
          </a:p>
          <a:p xmlns:a="http://schemas.openxmlformats.org/drawingml/2006/main">
            <a:r>
              <a:t>ecra/report.py generate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docs/variable-investigation-guide.md 中 pending_events 的源码交错示例，不是目标板捕获的运行轨迹。主循环先读 snapshot=01，TIM2 的 Service_Sample 在主循环清零前将共享位图变成 11，主循环仍只根据旧快照处理串口位，随后把共享变量清零，采样位从未处理。图省略处理旧快照的同步调用。共享事件变量定义为 static volatile uint32_t；单条字长访问和 volatile 都没有保护跨多语句的协议。ECRA 因同一存储、跨物理上下文修改、可能交错、缺少共同完整保护而保留候选，再由源码和约束确定此交错是否可行。修复应核查完整取走事务以及所有发布者的保护，之后重扫并通过业务测试验证。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docs/variable-investigation-guide.md §1.2–1.6</a:t>
            </a:r>
          </a:p>
          <a:p xmlns:a="http://schemas.openxmlformats.org/drawingml/2006/main">
            <a:r>
              <a:t>ecra/evidence.py 冲突、快照和保护证据</a:t>
            </a:r>
          </a:p>
          <a:p xmlns:a="http://schemas.openxmlformats.org/drawingml/2006/main">
            <a:r>
              <a:t>ecra/review.py 旧值写回挑战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review_all 常规处理 SUSPECT/UNKNOWN 以及无法归属变量的覆盖缺口，按 finding_id 完整登记队列。每个变量生成 Packet 并关联当前项目静态证据，不把旧 AI 答案当作静态事实。OpenCode 的产品侧 ecra-review agent 为只读，允许读取当前源码、相关项目背景与案例。答案先解析结构，再验证 ID、枚举、理由、源码文件和行证据等契约。图中的 opt 内有两种不同条件，不能理解为每项都执行：1 对含 READ_THEN_WRITEBACK 的 Packet，若模型给安全/误报结论却缺少窗口阻断评估，最多追加一次 STALE_WRITEBACK_CHALLENGE 语义核查。2 格式/契约不合格可最多两次 FORMAT_FIX，输入仅为原答复与错误，不再给 Packet 或源码工具。挑战/修复后重新走答案校验。技术调用失败另按配置做有界技术重试，仍失败或修复无效则 TECH_FAILED。有效语义答案为 CONFIRMED、LIKELY、REVIEWED_SAFE、FALSE_POSITIVE、NEED_MORE_CONTEXT；DONE 不代表安全。保存 Packet、prompt、原始 stdout/stderr、模型、时间、SHA-256 和 receipt，可检查当前来源与未篡改性。这些校验不等价于证明模型推理或硬件行为正确。每个结果更新队列并可输出报告检查点。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ecra/review.py review_all、process、invoke</a:t>
            </a:r>
          </a:p>
          <a:p xmlns:a="http://schemas.openxmlformats.org/drawingml/2006/main">
            <a:r>
              <a:t>ecra/review_contract.py validate_source_evidence</a:t>
            </a:r>
          </a:p>
          <a:p xmlns:a="http://schemas.openxmlformats.org/drawingml/2006/main">
            <a:r>
              <a:t>docs/opencode-review-format.md</a:t>
            </a:r>
          </a:p>
          <a:p xmlns:a="http://schemas.openxmlformats.org/drawingml/2006/main">
            <a:r>
              <a:t>config/review_context.md</a:t>
            </a:r>
          </a:p>
          <a:p xmlns:a="http://schemas.openxmlformats.org/drawingml/2006/main">
            <a:r>
              <a:t>config/concurrency_cases.md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上方是解释性组合示例，不是声称当前工程某个变量确有此结果。SUSPECT 静态分类不会因 AI 语义答复而被覆写。PENDING、DONE、TECH_FAILED 是执行队列状态；CONFIRMED、LIKELY、REVIEWED_SAFE、FALSE_POSITIVE、NEED_MORE_CONTEXT 是独立语义判断。DONE + NEED_MORE_CONTEXT 合法，表示复核技术上完成但事实仍不足。LIKELY 与 NEED_MORE_CONTEXT 属语义未解决项，不能用 review-failed 重评它们；补充证据后用 review。TECH_FAILED 才是技术失败重试对象。先在 index.html 查看过滤与覆盖校验、全部目标变量，再搜索变量并展开全部访问与调用链，查定义文件以区分同名 static；覆盖问题按诊断处理。opencode_review.html 用于审阅语义结论、缺失上下文及归档，不应把模型安全结论理解为目标板已验证安全。当前报告还保存 facts.json/facts.db、reports、run/input/scan/queue 状态用于审计与续跑。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ecra/report.py generate</a:t>
            </a:r>
          </a:p>
          <a:p xmlns:a="http://schemas.openxmlformats.org/drawingml/2006/main">
            <a:r>
              <a:t>ecra/workflow.py saved_run</a:t>
            </a:r>
          </a:p>
          <a:p xmlns:a="http://schemas.openxmlformats.org/drawingml/2006/main">
            <a:r>
              <a:t>ecra/review.py 语义与队列状态</a:t>
            </a:r>
          </a:p>
          <a:p xmlns:a="http://schemas.openxmlformats.org/drawingml/2006/main">
            <a:r>
              <a:t>docs/one-command-tutorial.md §6</a:t>
            </a:r>
          </a:p>
          <a:p xmlns:a="http://schemas.openxmlformats.org/drawingml/2006/main">
            <a:r>
              <a:t>docs/variable-investigation-guide.md §1.1、1.3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沿用当前目录已有的 ECRA-Portable_培训配套.zip 作为 Windows 便携包。解压后让 ecra.cmd、config、runtime、tools 同级放在 D:/ECRA，固件另放 D:/firmware/MyBoard，两个路径均为教学示例。左侧是修改原配置相应字段的可解析 YAML 摘录，不是覆盖完整配置，不应新增重复 project/analysis/review 节。include_dirs 要加入全部自有业务代码，原 exclude_dirs/exclude_files 也按所有权核对。build/ecra 是专用构建目录，generator、build_type、toolchain_file、额外 args 必须保持真实固件构建选项；工程已经加载正确工具链时可删 toolchain_file。clean_before_configure:false 保留专用缓存以便增量运行。doctor 仅作环境与编译库准备诊断，不执行变量扫描或构建固件。--no-review 关闭本次模型复核，仍保存静态候选。报告在固件 .ecra 下。后续可自动打开或通过文件管理器打开 index.html。CMake 失败查看 .ecra/cmake-configure.log、cmake-build.log，覆盖失败按报告中的诊断处理。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config/semantics.yaml</a:t>
            </a:r>
          </a:p>
          <a:p xmlns:a="http://schemas.openxmlformats.org/drawingml/2006/main">
            <a:r>
              <a:t>ecra/cli.py run doctor_only 分支</a:t>
            </a:r>
          </a:p>
          <a:p xmlns:a="http://schemas.openxmlformats.org/drawingml/2006/main">
            <a:r>
              <a:t>ecra/compilation.py prepare</a:t>
            </a:r>
          </a:p>
          <a:p xmlns:a="http://schemas.openxmlformats.org/drawingml/2006/main">
            <a:r>
              <a:t>docs/one-command-tutorial.md</a:t>
            </a:r>
          </a:p>
          <a:p xmlns:a="http://schemas.openxmlformats.org/drawingml/2006/main">
            <a:r>
              <a:t>build_portable.ps1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checked_scan 在 saved_run 的 review、review-failed、report 前验证保存扫描的配置摘要、静态引擎摘要、facts/report/manifest、源码/头文件/编译库哈希，过期则拒绝复用，需重新扫描。第一行也包括静态分析配置或工具静态逻辑改变；表中标题以最常见用户输入举例。review 显式强制启用模型复核，重新复核当前所有静态 SUSPECT/UNKNOWN，包括以前 DONE 的记录，因此即使原 review.enabled:false 也可显式调用；普通 run 若希望自动接着模型复核，才在配置中设 review.enabled:true。review-failed 只选 TECH_FAILED，不处理语义 NEED_MORE_CONTEXT，后者需补证后 review。report 不调用模型，基于有效保存扫描与已有复核记录重建报告。更新 review_context.md、concurrency_cases.md、模型或复核提示词不需要重新 Clang 扫描，但相关复核应重评。新增风险修复后须先重扫，候选消失/基线 no_longer_observed 不能自动等价修复完成，还需测试原交错和业务结果。输出仍同时包含静态报告 index.html 与复核报告 opencode_review.html。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ecra/workflow.py checked_scan、saved_run</a:t>
            </a:r>
          </a:p>
          <a:p xmlns:a="http://schemas.openxmlformats.org/drawingml/2006/main">
            <a:r>
              <a:t>ecra/review.py review_all mode 选择</a:t>
            </a:r>
          </a:p>
          <a:p xmlns:a="http://schemas.openxmlformats.org/drawingml/2006/main">
            <a:r>
              <a:t>ecra/cli.py main</a:t>
            </a:r>
          </a:p>
          <a:p xmlns:a="http://schemas.openxmlformats.org/drawingml/2006/main">
            <a:r>
              <a:t>README.md 日常使用、输入指纹</a:t>
            </a:r>
          </a:p>
          <a:p xmlns:a="http://schemas.openxmlformats.org/drawingml/2006/main">
            <a:r>
              <a:t>config/review_context.md</a:t>
            </a:r>
          </a:p>
          <a:p xmlns:a="http://schemas.openxmlformats.org/drawingml/2006/main">
            <a:r>
              <a:t>config/concurrency_cases.md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099582baa54d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82818e0b52477e" /><Relationship Type="http://schemas.openxmlformats.org/officeDocument/2006/relationships/slideLayout" Target="/ppt/slideLayouts/slideLayout1.xml" Id="R95a009223e3746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a009223e3746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cfaba2cb94d21" /><Relationship Type="http://schemas.openxmlformats.org/officeDocument/2006/relationships/notesSlide" Target="/ppt/notesSlides/notesSlide1.xml" Id="Ra61445235d7249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946df26204458" /><Relationship Type="http://schemas.openxmlformats.org/officeDocument/2006/relationships/notesSlide" Target="/ppt/notesSlides/notesSlide2.xml" Id="R78e45025bfaa42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b9ed30d8e44af" /><Relationship Type="http://schemas.openxmlformats.org/officeDocument/2006/relationships/notesSlide" Target="/ppt/notesSlides/notesSlide3.xml" Id="R4238e3360ccf43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d5f5d2d744a11" /><Relationship Type="http://schemas.openxmlformats.org/officeDocument/2006/relationships/notesSlide" Target="/ppt/notesSlides/notesSlide4.xml" Id="Rf522b888b09548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5a407529f48ee" /><Relationship Type="http://schemas.openxmlformats.org/officeDocument/2006/relationships/notesSlide" Target="/ppt/notesSlides/notesSlide5.xml" Id="R7c477eb394f745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ff1ab40204b80" /><Relationship Type="http://schemas.openxmlformats.org/officeDocument/2006/relationships/notesSlide" Target="/ppt/notesSlides/notesSlide6.xml" Id="R1fe3ebd5a81f44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f8c85727b4e93" /><Relationship Type="http://schemas.openxmlformats.org/officeDocument/2006/relationships/notesSlide" Target="/ppt/notesSlides/notesSlide7.xml" Id="R2405b3eafb0c41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9b59eaf0b4f67" /><Relationship Type="http://schemas.openxmlformats.org/officeDocument/2006/relationships/notesSlide" Target="/ppt/notesSlides/notesSlide8.xml" Id="Ra8222e8675964d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527ddee104afc" /><Relationship Type="http://schemas.openxmlformats.org/officeDocument/2006/relationships/notesSlide" Target="/ppt/notesSlides/notesSlide9.xml" Id="R032f4bc1883541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b0352585a49a2" /><Relationship Type="http://schemas.openxmlformats.org/officeDocument/2006/relationships/notesSlide" Target="/ppt/notesSlides/notesSlide10.xml" Id="R4006ab29bd3f43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D661BC31-8CC7-42DA-937A-D0AAEFB1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E2E13A-AAA2-4C6D-8701-A483A667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为什么需要 ECRA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77B5C66-1188-47D8-B33D-3EEDED27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面向 STM32 工程的全局 / static 变量并发排查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F5BB6C-4300-45D3-8F9E-6BF8870E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motivation">
            <a:extLst xmlns:a="http://schemas.openxmlformats.org/drawingml/2006/main">
              <a:ext uri="{FF2B5EF4-FFF2-40B4-BE49-F238E27FC236}">
                <a16:creationId xmlns:a16="http://schemas.microsoft.com/office/drawing/2014/main" id="{6AF4CF14-46FC-4453-8969-99DDC4F0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13668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变量分散在文件中，实际读写者隐藏在调用链里</a:t>
            </a:r>
          </a:p>
        </p:txBody>
      </p:sp>
      <p:sp>
        <p:nvSpPr>
          <p:cNvPr id="6" name="foreground">
            <a:extLst xmlns:a="http://schemas.openxmlformats.org/drawingml/2006/main">
              <a:ext uri="{FF2B5EF4-FFF2-40B4-BE49-F238E27FC236}">
                <a16:creationId xmlns:a16="http://schemas.microsoft.com/office/drawing/2014/main" id="{6CAA56FD-BDDA-472D-BA92-87C57052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主循环</a:t>
            </a:r>
          </a:p>
        </p:txBody>
      </p:sp>
      <p:sp>
        <p:nvSpPr>
          <p:cNvPr id="7" name="irq-callback">
            <a:extLst xmlns:a="http://schemas.openxmlformats.org/drawingml/2006/main">
              <a:ext uri="{FF2B5EF4-FFF2-40B4-BE49-F238E27FC236}">
                <a16:creationId xmlns:a16="http://schemas.microsoft.com/office/drawing/2014/main" id="{A6677968-32DE-4018-BB3C-CAAC9625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中断 / 回调</a:t>
            </a:r>
          </a:p>
        </p:txBody>
      </p:sp>
      <p:sp>
        <p:nvSpPr>
          <p:cNvPr id="8" name="shared-object">
            <a:extLst xmlns:a="http://schemas.openxmlformats.org/drawingml/2006/main">
              <a:ext uri="{FF2B5EF4-FFF2-40B4-BE49-F238E27FC236}">
                <a16:creationId xmlns:a16="http://schemas.microsoft.com/office/drawing/2014/main" id="{AD346B5E-D59D-460B-9F2B-8E104F1E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24350"/>
            <a:ext cx="3714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同一全局 / static 变量</a:t>
            </a:r>
          </a:p>
        </p:txBody>
      </p: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29000" y="3981450"/>
            <a:ext cx="1857375" cy="838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429000" y="4819650"/>
            <a:ext cx="1857375" cy="838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1908">
            <a:solidFill>
              <a:srgbClr val="B6483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manual-work">
            <a:extLst xmlns:a="http://schemas.openxmlformats.org/drawingml/2006/main">
              <a:ext uri="{FF2B5EF4-FFF2-40B4-BE49-F238E27FC236}">
                <a16:creationId xmlns:a16="http://schemas.microsoft.com/office/drawing/2014/main" id="{F5753F40-F37A-43BE-845D-EB84813E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2481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人工排查需要追踪全部路径</a:t>
            </a:r>
          </a:p>
          <a:p xmlns:a="http://schemas.openxmlformats.org/drawingml/2006/main">
            <a:pPr algn="l">
              <a:defRPr sz="2250" b="1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源码变化后还要重新核对</a:t>
            </a:r>
          </a:p>
        </p:txBody>
      </p:sp>
      <p:sp>
        <p:nvSpPr>
          <p:cNvPr id="12" name="risk-examples">
            <a:extLst xmlns:a="http://schemas.openxmlformats.org/drawingml/2006/main">
              <a:ext uri="{FF2B5EF4-FFF2-40B4-BE49-F238E27FC236}">
                <a16:creationId xmlns:a16="http://schemas.microsoft.com/office/drawing/2014/main" id="{7204BD1A-0CF0-498B-9310-7FDF2BB7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77025"/>
            <a:ext cx="13696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可能出现：丢事件、旧值覆盖、DMA 缓冲区复用冲突</a:t>
            </a:r>
          </a:p>
        </p:txBody>
      </p:sp>
      <p:sp>
        <p:nvSpPr>
          <p:cNvPr id="13" name="purpose">
            <a:extLst xmlns:a="http://schemas.openxmlformats.org/drawingml/2006/main">
              <a:ext uri="{FF2B5EF4-FFF2-40B4-BE49-F238E27FC236}">
                <a16:creationId xmlns:a16="http://schemas.microsoft.com/office/drawing/2014/main" id="{B1A8CBA8-C177-40AF-845F-80494840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86650"/>
            <a:ext cx="13696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自动生成逐变量证据与候选队列，工程师据此核查时序、验证修复</a:t>
            </a:r>
          </a:p>
        </p:txBody>
      </p:sp>
    </p:spTree>
    <p:extLst>
      <p:ext uri="{BB962C8B-B14F-4D97-AF65-F5344CB8AC3E}">
        <p14:creationId xmlns:p14="http://schemas.microsoft.com/office/powerpoint/2010/main" val="152148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C9AB38A8-1256-423A-BB71-252CEC7A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9929F7-F940-40D7-BE17-269EEA01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项目整体结构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FC093CC-3F7E-4E4F-B346-8A6FFF84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蓝色为本地静态分析，绿色为可选复核。两条路径共享同一份静态证据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9B9C58F-F615-49A3-B4B4-A48E410C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source-input">
            <a:extLst xmlns:a="http://schemas.openxmlformats.org/drawingml/2006/main">
              <a:ext uri="{FF2B5EF4-FFF2-40B4-BE49-F238E27FC236}">
                <a16:creationId xmlns:a16="http://schemas.microsoft.com/office/drawing/2014/main" id="{509550C0-C044-479A-87EC-9B33710E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4667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固件源码 + 真实构建配置</a:t>
            </a:r>
          </a:p>
        </p:txBody>
      </p:sp>
      <p:sp>
        <p:nvSpPr>
          <p:cNvPr id="6" name="config-input">
            <a:extLst xmlns:a="http://schemas.openxmlformats.org/drawingml/2006/main">
              <a:ext uri="{FF2B5EF4-FFF2-40B4-BE49-F238E27FC236}">
                <a16:creationId xmlns:a16="http://schemas.microsoft.com/office/drawing/2014/main" id="{59DAA5CB-FE89-422F-8134-FBF03F0B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66975"/>
            <a:ext cx="3286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semantics.yaml</a:t>
            </a:r>
          </a:p>
        </p:txBody>
      </p:sp>
      <p:sp>
        <p:nvSpPr>
          <p:cNvPr id="7" name="review-context-input">
            <a:extLst xmlns:a="http://schemas.openxmlformats.org/drawingml/2006/main">
              <a:ext uri="{FF2B5EF4-FFF2-40B4-BE49-F238E27FC236}">
                <a16:creationId xmlns:a16="http://schemas.microsoft.com/office/drawing/2014/main" id="{1154BF67-7B7E-4BCB-AAA0-0ACA3352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66975"/>
            <a:ext cx="371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工程背景 + 并发案例库</a:t>
            </a:r>
          </a:p>
        </p:txBody>
      </p:sp>
      <p:sp>
        <p:nvSpPr>
          <p:cNvPr id="8" name="orchestrator">
            <a:extLst xmlns:a="http://schemas.openxmlformats.org/drawingml/2006/main">
              <a:ext uri="{FF2B5EF4-FFF2-40B4-BE49-F238E27FC236}">
                <a16:creationId xmlns:a16="http://schemas.microsoft.com/office/drawing/2014/main" id="{FAA63EB9-B529-43DB-85E5-CEA00F01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8524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命令调度与续跑校验    cli.py / workflow.py</a:t>
            </a:r>
          </a:p>
        </p:txBody>
      </p:sp>
      <p:cxnSp>
        <p:nvCxnSpPr>
          <p:cNvPr id="39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095625" y="3076575"/>
            <a:ext cx="1928813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5024438" y="3076575"/>
            <a:ext cx="2619375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static-boundary">
            <a:extLst xmlns:a="http://schemas.openxmlformats.org/drawingml/2006/main">
              <a:ext uri="{FF2B5EF4-FFF2-40B4-BE49-F238E27FC236}">
                <a16:creationId xmlns:a16="http://schemas.microsoft.com/office/drawing/2014/main" id="{BA681C48-D52F-4C68-AC4B-832EFBFA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8524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9B9C8"/>
            </a:solidFill>
          </a:ln>
        </p:spPr>
      </p:sp>
      <p:sp>
        <p:nvSpPr>
          <p:cNvPr id="12" name="static-boundary-title">
            <a:extLst xmlns:a="http://schemas.openxmlformats.org/drawingml/2006/main">
              <a:ext uri="{FF2B5EF4-FFF2-40B4-BE49-F238E27FC236}">
                <a16:creationId xmlns:a16="http://schemas.microsoft.com/office/drawing/2014/main" id="{608822FC-BB9A-44EA-8490-87BD98D7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72025"/>
            <a:ext cx="8001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本地静态引擎</a:t>
            </a:r>
          </a:p>
        </p:txBody>
      </p:sp>
      <p:sp>
        <p:nvSpPr>
          <p:cNvPr id="13" name="build-extract">
            <a:extLst xmlns:a="http://schemas.openxmlformats.org/drawingml/2006/main">
              <a:ext uri="{FF2B5EF4-FFF2-40B4-BE49-F238E27FC236}">
                <a16:creationId xmlns:a16="http://schemas.microsoft.com/office/drawing/2014/main" id="{2498B58A-4D54-4A97-B4FB-A3B983BF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构建与隔离解析</a:t>
            </a:r>
          </a:p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CMake + libclang</a:t>
            </a:r>
          </a:p>
        </p:txBody>
      </p:sp>
      <p:sp>
        <p:nvSpPr>
          <p:cNvPr id="14" name="relations">
            <a:extLst xmlns:a="http://schemas.openxmlformats.org/drawingml/2006/main">
              <a:ext uri="{FF2B5EF4-FFF2-40B4-BE49-F238E27FC236}">
                <a16:creationId xmlns:a16="http://schemas.microsoft.com/office/drawing/2014/main" id="{6D708095-5C73-40EC-984C-BA1316A6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8637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存储与执行关系</a:t>
            </a:r>
          </a:p>
          <a:p xmlns:a="http://schemas.openxmlformats.org/drawingml/2006/main">
            <a:pPr algn="ctr">
              <a:def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别名、调用、上下文</a:t>
            </a:r>
          </a:p>
        </p:txBody>
      </p:sp>
      <p:sp>
        <p:nvSpPr>
          <p:cNvPr id="15" name="evidence-classify">
            <a:extLst xmlns:a="http://schemas.openxmlformats.org/drawingml/2006/main">
              <a:ext uri="{FF2B5EF4-FFF2-40B4-BE49-F238E27FC236}">
                <a16:creationId xmlns:a16="http://schemas.microsoft.com/office/drawing/2014/main" id="{8EF8B1AE-E87E-47AE-9BBA-050D5C86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86375"/>
            <a:ext cx="22669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逐变量证据与分类</a:t>
            </a:r>
          </a:p>
          <a:p xmlns:a="http://schemas.openxmlformats.org/drawingml/2006/main">
            <a:pPr algn="ctr">
              <a:def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冲突、保护、缺口</a:t>
            </a:r>
          </a:p>
        </p:txBody>
      </p:sp>
      <p:cxnSp>
        <p:nvCxnSpPr>
          <p:cNvPr id="46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024438" y="4143375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429000" y="571976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362700" y="571976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extract-modules">
            <a:extLst xmlns:a="http://schemas.openxmlformats.org/drawingml/2006/main">
              <a:ext uri="{FF2B5EF4-FFF2-40B4-BE49-F238E27FC236}">
                <a16:creationId xmlns:a16="http://schemas.microsoft.com/office/drawing/2014/main" id="{FEB27E91-BDD3-440A-8B6B-D713ED61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865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5D7388"/>
                </a:solidFill>
                <a:latin typeface="Consolas"/>
                <a:ea typeface="Consolas"/>
                <a:cs typeface="Consolas"/>
              </a:rPr>
              <a:t>compilation / extract</a:t>
            </a:r>
          </a:p>
        </p:txBody>
      </p:sp>
      <p:sp>
        <p:nvSpPr>
          <p:cNvPr id="20" name="relation-modules">
            <a:extLst xmlns:a="http://schemas.openxmlformats.org/drawingml/2006/main">
              <a:ext uri="{FF2B5EF4-FFF2-40B4-BE49-F238E27FC236}">
                <a16:creationId xmlns:a16="http://schemas.microsoft.com/office/drawing/2014/main" id="{99BA08A1-768A-4996-AE58-C61118A5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2865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5D7388"/>
                </a:solidFill>
                <a:latin typeface="Consolas"/>
                <a:ea typeface="Consolas"/>
                <a:cs typeface="Consolas"/>
              </a:rPr>
              <a:t>analysis / points_to</a:t>
            </a:r>
          </a:p>
        </p:txBody>
      </p:sp>
      <p:sp>
        <p:nvSpPr>
          <p:cNvPr id="21" name="evidence-module">
            <a:extLst xmlns:a="http://schemas.openxmlformats.org/drawingml/2006/main">
              <a:ext uri="{FF2B5EF4-FFF2-40B4-BE49-F238E27FC236}">
                <a16:creationId xmlns:a16="http://schemas.microsoft.com/office/drawing/2014/main" id="{73B71E56-EDCB-44DB-9FF0-8FB62EC2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286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5D7388"/>
                </a:solidFill>
                <a:latin typeface="Consolas"/>
                <a:ea typeface="Consolas"/>
                <a:cs typeface="Consolas"/>
              </a:rPr>
              <a:t>evidence.py</a:t>
            </a:r>
          </a:p>
        </p:txBody>
      </p:sp>
      <p:sp>
        <p:nvSpPr>
          <p:cNvPr id="22" name="saved-evidence">
            <a:extLst xmlns:a="http://schemas.openxmlformats.org/drawingml/2006/main">
              <a:ext uri="{FF2B5EF4-FFF2-40B4-BE49-F238E27FC236}">
                <a16:creationId xmlns:a16="http://schemas.microsoft.com/office/drawing/2014/main" id="{D8037020-11D2-4FFD-A4C1-604C9FE8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85248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静态事实 + 扫描快照 + 复核队列</a:t>
            </a:r>
          </a:p>
        </p:txBody>
      </p:sp>
      <p:cxnSp>
        <p:nvCxnSpPr>
          <p:cNvPr id="53" name=""/>
          <p:cNvCxnSpPr>
            <a:stCxn xmlns:a="http://schemas.openxmlformats.org/drawingml/2006/main" id="1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5024438" y="665797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review-engine">
            <a:extLst xmlns:a="http://schemas.openxmlformats.org/drawingml/2006/main">
              <a:ext uri="{FF2B5EF4-FFF2-40B4-BE49-F238E27FC236}">
                <a16:creationId xmlns:a16="http://schemas.microsoft.com/office/drawing/2014/main" id="{F8C5D4D5-76E8-4616-8098-B93D831C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219575"/>
            <a:ext cx="3714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逐变量复核</a:t>
            </a:r>
          </a:p>
          <a:p xmlns:a="http://schemas.openxmlformats.org/drawingml/2006/main">
            <a:pPr algn="ctr">
              <a:def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review.py / OpenCode</a:t>
            </a:r>
          </a:p>
          <a:p xmlns:a="http://schemas.openxmlformats.org/drawingml/2006/main">
            <a:pPr algn="ctr">
              <a:def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校验回答，保存原始归档</a:t>
            </a:r>
          </a:p>
        </p:txBody>
      </p:sp>
      <p:cxnSp>
        <p:nvCxnSpPr>
          <p:cNvPr id="55" name=""/>
          <p:cNvCxnSpPr>
            <a:stCxn xmlns:a="http://schemas.openxmlformats.org/drawingml/2006/main" id="7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2620625" y="3076575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9286875" y="5000625"/>
            <a:ext cx="1476375" cy="2538413"/>
          </a:xfrm>
          <a:prstGeom xmlns:a="http://schemas.openxmlformats.org/drawingml/2006/main" prst="bentConnector3">
            <a:avLst>
              <a:gd name="adj1" fmla="val 15484"/>
            </a:avLst>
          </a:prstGeom>
          <a:ln xmlns:a="http://schemas.openxmlformats.org/drawingml/2006/main" w="21908">
            <a:solidFill>
              <a:srgbClr val="18714F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27" name="report-engine">
            <a:extLst xmlns:a="http://schemas.openxmlformats.org/drawingml/2006/main">
              <a:ext uri="{FF2B5EF4-FFF2-40B4-BE49-F238E27FC236}">
                <a16:creationId xmlns:a16="http://schemas.microsoft.com/office/drawing/2014/main" id="{C3DA5DC4-E88E-4DF8-A740-1C03803F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115175"/>
            <a:ext cx="3714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统一报告生成  report.py</a:t>
            </a:r>
          </a:p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静态报告 + 复核报告</a:t>
            </a:r>
          </a:p>
        </p:txBody>
      </p: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286875" y="7539038"/>
            <a:ext cx="1476375" cy="4763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12620625" y="5781675"/>
            <a:ext cx="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0" name="optional-queue-label">
            <a:extLst xmlns:a="http://schemas.openxmlformats.org/drawingml/2006/main">
              <a:ext uri="{FF2B5EF4-FFF2-40B4-BE49-F238E27FC236}">
                <a16:creationId xmlns:a16="http://schemas.microsoft.com/office/drawing/2014/main" id="{686B6EC6-8E60-47FA-98A5-470BE4BC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5790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常规复核：SUSPECT / UNKNOWN</a:t>
            </a:r>
          </a:p>
        </p:txBody>
      </p:sp>
    </p:spTree>
    <p:extLst>
      <p:ext uri="{BB962C8B-B14F-4D97-AF65-F5344CB8AC3E}">
        <p14:creationId xmlns:p14="http://schemas.microsoft.com/office/powerpoint/2010/main" val="125130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284BEAA1-8146-42BC-A5BA-FFC8CDEA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5518DB-DC08-4C8F-BB35-BCE813ED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一次扫描的完整时序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4FBE7E5-A084-457B-BBA2-804A2012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先生成静态结果，再按开关复核。时间沿虚线向下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AE123D7-505A-4328-8053-2E20748B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participant-用户">
            <a:extLst xmlns:a="http://schemas.openxmlformats.org/drawingml/2006/main">
              <a:ext uri="{FF2B5EF4-FFF2-40B4-BE49-F238E27FC236}">
                <a16:creationId xmlns:a16="http://schemas.microsoft.com/office/drawing/2014/main" id="{D1596818-763A-4FE9-BA2D-684DA377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3" y="2333625"/>
            <a:ext cx="2143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6" name="anchor-1">
            <a:extLst xmlns:a="http://schemas.openxmlformats.org/drawingml/2006/main">
              <a:ext uri="{FF2B5EF4-FFF2-40B4-BE49-F238E27FC236}">
                <a16:creationId xmlns:a16="http://schemas.microsoft.com/office/drawing/2014/main" id="{DD2B4367-89D5-40F4-B759-E34BFBD5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anchor-2">
            <a:extLst xmlns:a="http://schemas.openxmlformats.org/drawingml/2006/main">
              <a:ext uri="{FF2B5EF4-FFF2-40B4-BE49-F238E27FC236}">
                <a16:creationId xmlns:a16="http://schemas.microsoft.com/office/drawing/2014/main" id="{A609BA7C-412C-4A9C-A9F5-BC0BFADD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9819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381125" y="3000375"/>
            <a:ext cx="0" cy="4981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9" name="participant-CLI 调度器">
            <a:extLst xmlns:a="http://schemas.openxmlformats.org/drawingml/2006/main">
              <a:ext uri="{FF2B5EF4-FFF2-40B4-BE49-F238E27FC236}">
                <a16:creationId xmlns:a16="http://schemas.microsoft.com/office/drawing/2014/main" id="{3C2EDAB0-2B09-4D69-B995-75CF9AA1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063" y="2333625"/>
            <a:ext cx="2143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CLI 调度器</a:t>
            </a:r>
          </a:p>
        </p:txBody>
      </p:sp>
      <p:sp>
        <p:nvSpPr>
          <p:cNvPr id="10" name="anchor-3">
            <a:extLst xmlns:a="http://schemas.openxmlformats.org/drawingml/2006/main">
              <a:ext uri="{FF2B5EF4-FFF2-40B4-BE49-F238E27FC236}">
                <a16:creationId xmlns:a16="http://schemas.microsoft.com/office/drawing/2014/main" id="{8E9345EF-3DE3-4A52-B00F-B446FBE1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anchor-4">
            <a:extLst xmlns:a="http://schemas.openxmlformats.org/drawingml/2006/main">
              <a:ext uri="{FF2B5EF4-FFF2-40B4-BE49-F238E27FC236}">
                <a16:creationId xmlns:a16="http://schemas.microsoft.com/office/drawing/2014/main" id="{5DB1C7DD-20D1-4F28-99AA-3D5D0AAD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9819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857625" y="3000375"/>
            <a:ext cx="0" cy="4981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13" name="participant-构建 / 解析">
            <a:extLst xmlns:a="http://schemas.openxmlformats.org/drawingml/2006/main">
              <a:ext uri="{FF2B5EF4-FFF2-40B4-BE49-F238E27FC236}">
                <a16:creationId xmlns:a16="http://schemas.microsoft.com/office/drawing/2014/main" id="{5C025D6F-CE19-4AA9-B355-B845F91A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563" y="2333625"/>
            <a:ext cx="2143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构建 / 解析</a:t>
            </a:r>
          </a:p>
        </p:txBody>
      </p:sp>
      <p:sp>
        <p:nvSpPr>
          <p:cNvPr id="14" name="anchor-5">
            <a:extLst xmlns:a="http://schemas.openxmlformats.org/drawingml/2006/main">
              <a:ext uri="{FF2B5EF4-FFF2-40B4-BE49-F238E27FC236}">
                <a16:creationId xmlns:a16="http://schemas.microsoft.com/office/drawing/2014/main" id="{C1DB9215-31D1-4E2F-B4A6-AED6EFF1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anchor-6">
            <a:extLst xmlns:a="http://schemas.openxmlformats.org/drawingml/2006/main">
              <a:ext uri="{FF2B5EF4-FFF2-40B4-BE49-F238E27FC236}">
                <a16:creationId xmlns:a16="http://schemas.microsoft.com/office/drawing/2014/main" id="{BDA0F513-3008-4E30-BFA3-472ED26D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9819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334125" y="3000375"/>
            <a:ext cx="0" cy="4981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17" name="participant-静态引擎">
            <a:extLst xmlns:a="http://schemas.openxmlformats.org/drawingml/2006/main">
              <a:ext uri="{FF2B5EF4-FFF2-40B4-BE49-F238E27FC236}">
                <a16:creationId xmlns:a16="http://schemas.microsoft.com/office/drawing/2014/main" id="{66CF65E9-3527-4592-A0A9-3CBDA1FD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063" y="2333625"/>
            <a:ext cx="2143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静态引擎</a:t>
            </a:r>
          </a:p>
        </p:txBody>
      </p:sp>
      <p:sp>
        <p:nvSpPr>
          <p:cNvPr id="18" name="anchor-7">
            <a:extLst xmlns:a="http://schemas.openxmlformats.org/drawingml/2006/main">
              <a:ext uri="{FF2B5EF4-FFF2-40B4-BE49-F238E27FC236}">
                <a16:creationId xmlns:a16="http://schemas.microsoft.com/office/drawing/2014/main" id="{FE21E678-0D56-4A75-8BE3-E2B06BEC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anchor-8">
            <a:extLst xmlns:a="http://schemas.openxmlformats.org/drawingml/2006/main">
              <a:ext uri="{FF2B5EF4-FFF2-40B4-BE49-F238E27FC236}">
                <a16:creationId xmlns:a16="http://schemas.microsoft.com/office/drawing/2014/main" id="{2E72C55A-8D75-4077-8BFE-16E31FF1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79819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8810625" y="3000375"/>
            <a:ext cx="0" cy="4981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21" name="participant-结果存储">
            <a:extLst xmlns:a="http://schemas.openxmlformats.org/drawingml/2006/main">
              <a:ext uri="{FF2B5EF4-FFF2-40B4-BE49-F238E27FC236}">
                <a16:creationId xmlns:a16="http://schemas.microsoft.com/office/drawing/2014/main" id="{EBF8DA4D-ABB5-47A8-B00A-75E05D95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563" y="2333625"/>
            <a:ext cx="2143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结果存储</a:t>
            </a:r>
          </a:p>
        </p:txBody>
      </p:sp>
      <p:sp>
        <p:nvSpPr>
          <p:cNvPr id="22" name="anchor-9">
            <a:extLst xmlns:a="http://schemas.openxmlformats.org/drawingml/2006/main">
              <a:ext uri="{FF2B5EF4-FFF2-40B4-BE49-F238E27FC236}">
                <a16:creationId xmlns:a16="http://schemas.microsoft.com/office/drawing/2014/main" id="{6E8F2517-5B13-496F-B914-11D025B3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anchor-10">
            <a:extLst xmlns:a="http://schemas.openxmlformats.org/drawingml/2006/main">
              <a:ext uri="{FF2B5EF4-FFF2-40B4-BE49-F238E27FC236}">
                <a16:creationId xmlns:a16="http://schemas.microsoft.com/office/drawing/2014/main" id="{C6CFDF05-3225-48DD-8507-A8E25D77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9819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1287125" y="3000375"/>
            <a:ext cx="0" cy="4981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25" name="participant-复核器">
            <a:extLst xmlns:a="http://schemas.openxmlformats.org/drawingml/2006/main">
              <a:ext uri="{FF2B5EF4-FFF2-40B4-BE49-F238E27FC236}">
                <a16:creationId xmlns:a16="http://schemas.microsoft.com/office/drawing/2014/main" id="{AE015573-DF37-4F99-BD00-DDE6CE7A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063" y="2333625"/>
            <a:ext cx="2143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复核器</a:t>
            </a:r>
          </a:p>
        </p:txBody>
      </p:sp>
      <p:sp>
        <p:nvSpPr>
          <p:cNvPr id="26" name="anchor-11">
            <a:extLst xmlns:a="http://schemas.openxmlformats.org/drawingml/2006/main">
              <a:ext uri="{FF2B5EF4-FFF2-40B4-BE49-F238E27FC236}">
                <a16:creationId xmlns:a16="http://schemas.microsoft.com/office/drawing/2014/main" id="{3EA6C7CD-E899-4F62-B763-B8BD5A83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anchor-12">
            <a:extLst xmlns:a="http://schemas.openxmlformats.org/drawingml/2006/main">
              <a:ext uri="{FF2B5EF4-FFF2-40B4-BE49-F238E27FC236}">
                <a16:creationId xmlns:a16="http://schemas.microsoft.com/office/drawing/2014/main" id="{33CBE68F-4DEE-47E2-8649-65B8A260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79819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13763625" y="3000375"/>
            <a:ext cx="0" cy="4981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29" name="anchor-13">
            <a:extLst xmlns:a="http://schemas.openxmlformats.org/drawingml/2006/main">
              <a:ext uri="{FF2B5EF4-FFF2-40B4-BE49-F238E27FC236}">
                <a16:creationId xmlns:a16="http://schemas.microsoft.com/office/drawing/2014/main" id="{9BA3469C-473E-43EB-9726-07DBE556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2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14">
            <a:extLst xmlns:a="http://schemas.openxmlformats.org/drawingml/2006/main">
              <a:ext uri="{FF2B5EF4-FFF2-40B4-BE49-F238E27FC236}">
                <a16:creationId xmlns:a16="http://schemas.microsoft.com/office/drawing/2014/main" id="{021DBE56-6BFA-49FE-9431-77BEC0DE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32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390650" y="3333750"/>
            <a:ext cx="2457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2" name="message-15">
            <a:extLst xmlns:a="http://schemas.openxmlformats.org/drawingml/2006/main">
              <a:ext uri="{FF2B5EF4-FFF2-40B4-BE49-F238E27FC236}">
                <a16:creationId xmlns:a16="http://schemas.microsoft.com/office/drawing/2014/main" id="{9FDC5DE4-9E6C-4286-8AED-A60CB808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981325"/>
            <a:ext cx="2247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1 启动扫描</a:t>
            </a:r>
          </a:p>
        </p:txBody>
      </p:sp>
      <p:sp>
        <p:nvSpPr>
          <p:cNvPr id="33" name="anchor-16">
            <a:extLst xmlns:a="http://schemas.openxmlformats.org/drawingml/2006/main">
              <a:ext uri="{FF2B5EF4-FFF2-40B4-BE49-F238E27FC236}">
                <a16:creationId xmlns:a16="http://schemas.microsoft.com/office/drawing/2014/main" id="{05E2902E-44DE-4637-890A-807898B9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95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anchor-17">
            <a:extLst xmlns:a="http://schemas.openxmlformats.org/drawingml/2006/main">
              <a:ext uri="{FF2B5EF4-FFF2-40B4-BE49-F238E27FC236}">
                <a16:creationId xmlns:a16="http://schemas.microsoft.com/office/drawing/2014/main" id="{3594A604-9DA8-4E64-A143-7FDF85C2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95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3867150" y="3905250"/>
            <a:ext cx="2457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6" name="message-18">
            <a:extLst xmlns:a="http://schemas.openxmlformats.org/drawingml/2006/main">
              <a:ext uri="{FF2B5EF4-FFF2-40B4-BE49-F238E27FC236}">
                <a16:creationId xmlns:a16="http://schemas.microsoft.com/office/drawing/2014/main" id="{9D3098FC-CB22-4D28-9BC2-06E1EE60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52825"/>
            <a:ext cx="2247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2 构建并解析源码</a:t>
            </a:r>
          </a:p>
        </p:txBody>
      </p:sp>
      <p:sp>
        <p:nvSpPr>
          <p:cNvPr id="37" name="anchor-19">
            <a:extLst xmlns:a="http://schemas.openxmlformats.org/drawingml/2006/main">
              <a:ext uri="{FF2B5EF4-FFF2-40B4-BE49-F238E27FC236}">
                <a16:creationId xmlns:a16="http://schemas.microsoft.com/office/drawing/2014/main" id="{48DC4089-4B07-46C6-BB0B-5AF43E47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anchor-20">
            <a:extLst xmlns:a="http://schemas.openxmlformats.org/drawingml/2006/main">
              <a:ext uri="{FF2B5EF4-FFF2-40B4-BE49-F238E27FC236}">
                <a16:creationId xmlns:a16="http://schemas.microsoft.com/office/drawing/2014/main" id="{7408CB90-D9F1-4D2F-8676-17E6D0FA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67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5" name="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3867150" y="4476750"/>
            <a:ext cx="2457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40" name="message-21">
            <a:extLst xmlns:a="http://schemas.openxmlformats.org/drawingml/2006/main">
              <a:ext uri="{FF2B5EF4-FFF2-40B4-BE49-F238E27FC236}">
                <a16:creationId xmlns:a16="http://schemas.microsoft.com/office/drawing/2014/main" id="{E72813B0-2931-4A17-90A0-D99C066E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124325"/>
            <a:ext cx="2247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3 变量、访问、调用</a:t>
            </a:r>
          </a:p>
        </p:txBody>
      </p:sp>
      <p:sp>
        <p:nvSpPr>
          <p:cNvPr id="41" name="anchor-22">
            <a:extLst xmlns:a="http://schemas.openxmlformats.org/drawingml/2006/main">
              <a:ext uri="{FF2B5EF4-FFF2-40B4-BE49-F238E27FC236}">
                <a16:creationId xmlns:a16="http://schemas.microsoft.com/office/drawing/2014/main" id="{274640AC-406C-4F19-8DBE-2F5C7D9A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038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anchor-23">
            <a:extLst xmlns:a="http://schemas.openxmlformats.org/drawingml/2006/main">
              <a:ext uri="{FF2B5EF4-FFF2-40B4-BE49-F238E27FC236}">
                <a16:creationId xmlns:a16="http://schemas.microsoft.com/office/drawing/2014/main" id="{7489C720-B79D-4F7E-B9BE-4885453B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38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3867150" y="5048250"/>
            <a:ext cx="4933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4" name="message-24">
            <a:extLst xmlns:a="http://schemas.openxmlformats.org/drawingml/2006/main">
              <a:ext uri="{FF2B5EF4-FFF2-40B4-BE49-F238E27FC236}">
                <a16:creationId xmlns:a16="http://schemas.microsoft.com/office/drawing/2014/main" id="{633CE64A-6B3C-4457-9C81-4AA6437E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695825"/>
            <a:ext cx="4724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4 合并事实、恢复关系、逐变量判定</a:t>
            </a:r>
          </a:p>
        </p:txBody>
      </p:sp>
      <p:sp>
        <p:nvSpPr>
          <p:cNvPr id="45" name="anchor-25">
            <a:extLst xmlns:a="http://schemas.openxmlformats.org/drawingml/2006/main">
              <a:ext uri="{FF2B5EF4-FFF2-40B4-BE49-F238E27FC236}">
                <a16:creationId xmlns:a16="http://schemas.microsoft.com/office/drawing/2014/main" id="{7EE6B6D1-3B64-47CE-87D0-F848853A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562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anchor-26">
            <a:extLst xmlns:a="http://schemas.openxmlformats.org/drawingml/2006/main">
              <a:ext uri="{FF2B5EF4-FFF2-40B4-BE49-F238E27FC236}">
                <a16:creationId xmlns:a16="http://schemas.microsoft.com/office/drawing/2014/main" id="{A40A51F7-8010-479D-ABDE-9EF389AD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62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3" name=""/>
          <p:cNvCxnSpPr>
            <a:stCxn xmlns:a="http://schemas.openxmlformats.org/drawingml/2006/main" id="45" idx="1"/>
            <a:endCxn xmlns:a="http://schemas.openxmlformats.org/drawingml/2006/main" id="46" idx="3"/>
          </p:cNvCxnSpPr>
          <p:nvPr/>
        </p:nvCxnSpPr>
        <p:spPr>
          <a:xfrm xmlns:a="http://schemas.openxmlformats.org/drawingml/2006/main" flipH="1">
            <a:off x="3867150" y="5572125"/>
            <a:ext cx="4933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48" name="message-27">
            <a:extLst xmlns:a="http://schemas.openxmlformats.org/drawingml/2006/main">
              <a:ext uri="{FF2B5EF4-FFF2-40B4-BE49-F238E27FC236}">
                <a16:creationId xmlns:a16="http://schemas.microsoft.com/office/drawing/2014/main" id="{D380C416-4E97-46A6-A327-E4E33E34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19700"/>
            <a:ext cx="4000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5 分类、证据与覆盖</a:t>
            </a:r>
          </a:p>
        </p:txBody>
      </p:sp>
      <p:sp>
        <p:nvSpPr>
          <p:cNvPr id="49" name="anchor-28">
            <a:extLst xmlns:a="http://schemas.openxmlformats.org/drawingml/2006/main">
              <a:ext uri="{FF2B5EF4-FFF2-40B4-BE49-F238E27FC236}">
                <a16:creationId xmlns:a16="http://schemas.microsoft.com/office/drawing/2014/main" id="{52382BB0-02F2-446B-94FD-B9AE5606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086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anchor-29">
            <a:extLst xmlns:a="http://schemas.openxmlformats.org/drawingml/2006/main">
              <a:ext uri="{FF2B5EF4-FFF2-40B4-BE49-F238E27FC236}">
                <a16:creationId xmlns:a16="http://schemas.microsoft.com/office/drawing/2014/main" id="{74235EC7-D27E-4B01-B0E6-315B93C0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86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3867150" y="6096000"/>
            <a:ext cx="7410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2" name="message-30">
            <a:extLst xmlns:a="http://schemas.openxmlformats.org/drawingml/2006/main">
              <a:ext uri="{FF2B5EF4-FFF2-40B4-BE49-F238E27FC236}">
                <a16:creationId xmlns:a16="http://schemas.microsoft.com/office/drawing/2014/main" id="{BDF62816-C74C-44FB-9E9C-E89502B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743575"/>
            <a:ext cx="6381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6 先保存静态报告、快照与 PENDING 队列</a:t>
            </a:r>
          </a:p>
        </p:txBody>
      </p:sp>
      <p:sp>
        <p:nvSpPr>
          <p:cNvPr id="53" name="optional-review-fragment">
            <a:extLst xmlns:a="http://schemas.openxmlformats.org/drawingml/2006/main">
              <a:ext uri="{FF2B5EF4-FFF2-40B4-BE49-F238E27FC236}">
                <a16:creationId xmlns:a16="http://schemas.microsoft.com/office/drawing/2014/main" id="{C7966A60-2F79-4593-BC85-6B37921F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334125"/>
            <a:ext cx="11715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8714F"/>
            </a:solidFill>
          </a:ln>
        </p:spPr>
      </p:sp>
      <p:sp>
        <p:nvSpPr>
          <p:cNvPr id="54" name="optional-review-fragment-label">
            <a:extLst xmlns:a="http://schemas.openxmlformats.org/drawingml/2006/main">
              <a:ext uri="{FF2B5EF4-FFF2-40B4-BE49-F238E27FC236}">
                <a16:creationId xmlns:a16="http://schemas.microsoft.com/office/drawing/2014/main" id="{F71876C9-2A17-4627-AFAD-F11E3B83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381750"/>
            <a:ext cx="2190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opt  复核开启</a:t>
            </a:r>
          </a:p>
        </p:txBody>
      </p:sp>
      <p:sp>
        <p:nvSpPr>
          <p:cNvPr id="55" name="anchor-31">
            <a:extLst xmlns:a="http://schemas.openxmlformats.org/drawingml/2006/main">
              <a:ext uri="{FF2B5EF4-FFF2-40B4-BE49-F238E27FC236}">
                <a16:creationId xmlns:a16="http://schemas.microsoft.com/office/drawing/2014/main" id="{3FB11AE1-2EDA-4633-8620-418DD6DE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800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anchor-32">
            <a:extLst xmlns:a="http://schemas.openxmlformats.org/drawingml/2006/main">
              <a:ext uri="{FF2B5EF4-FFF2-40B4-BE49-F238E27FC236}">
                <a16:creationId xmlns:a16="http://schemas.microsoft.com/office/drawing/2014/main" id="{488DD3B0-68C1-46AD-B390-B5340C8B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6800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3867150" y="6810375"/>
            <a:ext cx="9886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8" name="message-33">
            <a:extLst xmlns:a="http://schemas.openxmlformats.org/drawingml/2006/main">
              <a:ext uri="{FF2B5EF4-FFF2-40B4-BE49-F238E27FC236}">
                <a16:creationId xmlns:a16="http://schemas.microsoft.com/office/drawing/2014/main" id="{FAC11DFA-B482-43AA-AE3A-C50DAF41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57950"/>
            <a:ext cx="7334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7 逐变量生成 Packet，调用模型复核</a:t>
            </a:r>
          </a:p>
        </p:txBody>
      </p:sp>
      <p:sp>
        <p:nvSpPr>
          <p:cNvPr id="59" name="anchor-34">
            <a:extLst xmlns:a="http://schemas.openxmlformats.org/drawingml/2006/main">
              <a:ext uri="{FF2B5EF4-FFF2-40B4-BE49-F238E27FC236}">
                <a16:creationId xmlns:a16="http://schemas.microsoft.com/office/drawing/2014/main" id="{24F11D1E-44B7-424C-B378-D58ACEE9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7419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anchor-35">
            <a:extLst xmlns:a="http://schemas.openxmlformats.org/drawingml/2006/main">
              <a:ext uri="{FF2B5EF4-FFF2-40B4-BE49-F238E27FC236}">
                <a16:creationId xmlns:a16="http://schemas.microsoft.com/office/drawing/2014/main" id="{A7FEBAE5-EDED-43FE-A060-5DA534E5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419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59" idx="1"/>
            <a:endCxn xmlns:a="http://schemas.openxmlformats.org/drawingml/2006/main" id="60" idx="3"/>
          </p:cNvCxnSpPr>
          <p:nvPr/>
        </p:nvCxnSpPr>
        <p:spPr>
          <a:xfrm xmlns:a="http://schemas.openxmlformats.org/drawingml/2006/main" flipH="1">
            <a:off x="11296650" y="7429500"/>
            <a:ext cx="2457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2" name="message-36">
            <a:extLst xmlns:a="http://schemas.openxmlformats.org/drawingml/2006/main">
              <a:ext uri="{FF2B5EF4-FFF2-40B4-BE49-F238E27FC236}">
                <a16:creationId xmlns:a16="http://schemas.microsoft.com/office/drawing/2014/main" id="{DBA9E828-EEFF-4007-AE21-295B62E4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7077075"/>
            <a:ext cx="2247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8 校验、归档、更新</a:t>
            </a:r>
          </a:p>
        </p:txBody>
      </p:sp>
      <p:sp>
        <p:nvSpPr>
          <p:cNvPr id="63" name="anchor-37">
            <a:extLst xmlns:a="http://schemas.openxmlformats.org/drawingml/2006/main">
              <a:ext uri="{FF2B5EF4-FFF2-40B4-BE49-F238E27FC236}">
                <a16:creationId xmlns:a16="http://schemas.microsoft.com/office/drawing/2014/main" id="{498851F4-67D4-48B3-899A-600B4C1E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79057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anchor-38">
            <a:extLst xmlns:a="http://schemas.openxmlformats.org/drawingml/2006/main">
              <a:ext uri="{FF2B5EF4-FFF2-40B4-BE49-F238E27FC236}">
                <a16:creationId xmlns:a16="http://schemas.microsoft.com/office/drawing/2014/main" id="{9E0C2E67-969A-4209-9101-A8EFFA27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9057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63" idx="1"/>
            <a:endCxn xmlns:a="http://schemas.openxmlformats.org/drawingml/2006/main" id="64" idx="3"/>
          </p:cNvCxnSpPr>
          <p:nvPr/>
        </p:nvCxnSpPr>
        <p:spPr>
          <a:xfrm xmlns:a="http://schemas.openxmlformats.org/drawingml/2006/main" flipH="1">
            <a:off x="1390650" y="7915275"/>
            <a:ext cx="9886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66" name="message-39">
            <a:extLst xmlns:a="http://schemas.openxmlformats.org/drawingml/2006/main">
              <a:ext uri="{FF2B5EF4-FFF2-40B4-BE49-F238E27FC236}">
                <a16:creationId xmlns:a16="http://schemas.microsoft.com/office/drawing/2014/main" id="{E1EC78E1-D611-4097-9132-E57B0F70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562850"/>
            <a:ext cx="6000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9 汇总 HTML 报告与完成状态</a:t>
            </a:r>
          </a:p>
        </p:txBody>
      </p:sp>
    </p:spTree>
    <p:extLst>
      <p:ext uri="{BB962C8B-B14F-4D97-AF65-F5344CB8AC3E}">
        <p14:creationId xmlns:p14="http://schemas.microsoft.com/office/powerpoint/2010/main" val="1953212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BC96294E-406C-4031-BE7B-7CA39AC7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70E175-883F-4946-AC5E-A5EBA72D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静态引擎如何生成变量证据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E778723-D80F-415F-8F42-317A71E0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示例：serial_service.c 中的 pending_events。调用链把读写语句关联到实际执行者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9A4FE31-1E20-4B86-ADCC-5810213F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column-entry">
            <a:extLst xmlns:a="http://schemas.openxmlformats.org/drawingml/2006/main">
              <a:ext uri="{FF2B5EF4-FFF2-40B4-BE49-F238E27FC236}">
                <a16:creationId xmlns:a16="http://schemas.microsoft.com/office/drawing/2014/main" id="{89F2F6E5-B852-42D7-9AF1-08CF38A6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物理执行上下文</a:t>
            </a:r>
          </a:p>
        </p:txBody>
      </p:sp>
      <p:sp>
        <p:nvSpPr>
          <p:cNvPr id="6" name="column-call">
            <a:extLst xmlns:a="http://schemas.openxmlformats.org/drawingml/2006/main">
              <a:ext uri="{FF2B5EF4-FFF2-40B4-BE49-F238E27FC236}">
                <a16:creationId xmlns:a16="http://schemas.microsoft.com/office/drawing/2014/main" id="{1D469E80-377A-42F5-AAE6-D1732C3F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43175"/>
            <a:ext cx="285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调用路径</a:t>
            </a:r>
          </a:p>
        </p:txBody>
      </p:sp>
      <p:sp>
        <p:nvSpPr>
          <p:cNvPr id="7" name="column-access">
            <a:extLst xmlns:a="http://schemas.openxmlformats.org/drawingml/2006/main">
              <a:ext uri="{FF2B5EF4-FFF2-40B4-BE49-F238E27FC236}">
                <a16:creationId xmlns:a16="http://schemas.microsoft.com/office/drawing/2014/main" id="{ED351A2E-ED06-4580-A35B-00BEA36C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43175"/>
            <a:ext cx="314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读写事实</a:t>
            </a:r>
          </a:p>
        </p:txBody>
      </p:sp>
      <p:sp>
        <p:nvSpPr>
          <p:cNvPr id="8" name="column-object">
            <a:extLst xmlns:a="http://schemas.openxmlformats.org/drawingml/2006/main">
              <a:ext uri="{FF2B5EF4-FFF2-40B4-BE49-F238E27FC236}">
                <a16:creationId xmlns:a16="http://schemas.microsoft.com/office/drawing/2014/main" id="{B9B04E58-0FFA-47B5-99FC-4334C22E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543175"/>
            <a:ext cx="295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同一存储对象</a:t>
            </a:r>
          </a:p>
        </p:txBody>
      </p:sp>
      <p:sp>
        <p:nvSpPr>
          <p:cNvPr id="9" name="main-entry">
            <a:extLst xmlns:a="http://schemas.openxmlformats.org/drawingml/2006/main">
              <a:ext uri="{FF2B5EF4-FFF2-40B4-BE49-F238E27FC236}">
                <a16:creationId xmlns:a16="http://schemas.microsoft.com/office/drawing/2014/main" id="{F3C8A972-A022-4C94-866A-117C9BED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325" b="1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main</a:t>
            </a:r>
          </a:p>
        </p:txBody>
      </p:sp>
      <p:sp>
        <p:nvSpPr>
          <p:cNvPr id="10" name="poll-call">
            <a:extLst xmlns:a="http://schemas.openxmlformats.org/drawingml/2006/main">
              <a:ext uri="{FF2B5EF4-FFF2-40B4-BE49-F238E27FC236}">
                <a16:creationId xmlns:a16="http://schemas.microsoft.com/office/drawing/2014/main" id="{75B11D86-ADB3-4578-966B-51B18C54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38525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Service_Poll</a:t>
            </a:r>
          </a:p>
        </p:txBody>
      </p:sp>
      <p:sp>
        <p:nvSpPr>
          <p:cNvPr id="11" name="read-clear">
            <a:extLst xmlns:a="http://schemas.openxmlformats.org/drawingml/2006/main">
              <a:ext uri="{FF2B5EF4-FFF2-40B4-BE49-F238E27FC236}">
                <a16:creationId xmlns:a16="http://schemas.microsoft.com/office/drawing/2014/main" id="{20F9B111-4158-4DE7-AE1F-1E4982BD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34290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snapshot = pending_events</a:t>
            </a:r>
          </a:p>
          <a:p xmlns:a="http://schemas.openxmlformats.org/drawingml/2006/main">
            <a:pPr algn="ctr">
              <a:defRPr sz="1725" b="1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1725" b="1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pending_events = 0</a:t>
            </a:r>
          </a:p>
        </p:txBody>
      </p:sp>
      <p:sp>
        <p:nvSpPr>
          <p:cNvPr id="12" name="tim2-entry">
            <a:extLst xmlns:a="http://schemas.openxmlformats.org/drawingml/2006/main">
              <a:ext uri="{FF2B5EF4-FFF2-40B4-BE49-F238E27FC236}">
                <a16:creationId xmlns:a16="http://schemas.microsoft.com/office/drawing/2014/main" id="{A129ADA9-3AF7-4548-9AF2-56641782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47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64835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B64835"/>
                </a:solidFill>
                <a:latin typeface="Consolas"/>
                <a:ea typeface="Consolas"/>
                <a:cs typeface="Consolas"/>
              </a:rPr>
              <a:t>TIM2_IRQHandler</a:t>
            </a:r>
          </a:p>
        </p:txBody>
      </p:sp>
      <p:sp>
        <p:nvSpPr>
          <p:cNvPr id="13" name="sample-call">
            <a:extLst xmlns:a="http://schemas.openxmlformats.org/drawingml/2006/main">
              <a:ext uri="{FF2B5EF4-FFF2-40B4-BE49-F238E27FC236}">
                <a16:creationId xmlns:a16="http://schemas.microsoft.com/office/drawing/2014/main" id="{BAC15C96-9D56-4C8A-A3A5-009605E4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86375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64835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B64835"/>
                </a:solidFill>
                <a:latin typeface="Consolas"/>
                <a:ea typeface="Consolas"/>
                <a:cs typeface="Consolas"/>
              </a:rPr>
              <a:t>Service_Sample</a:t>
            </a:r>
          </a:p>
        </p:txBody>
      </p:sp>
      <p:sp>
        <p:nvSpPr>
          <p:cNvPr id="14" name="rmw-access">
            <a:extLst xmlns:a="http://schemas.openxmlformats.org/drawingml/2006/main">
              <a:ext uri="{FF2B5EF4-FFF2-40B4-BE49-F238E27FC236}">
                <a16:creationId xmlns:a16="http://schemas.microsoft.com/office/drawing/2014/main" id="{F2D3E4A1-8F55-4835-993F-140F8941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86375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64835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B64835"/>
                </a:solidFill>
                <a:latin typeface="Consolas"/>
                <a:ea typeface="Consolas"/>
                <a:cs typeface="Consolas"/>
              </a:rPr>
              <a:t>pending_events |= 2U</a:t>
            </a:r>
          </a:p>
        </p:txBody>
      </p:sp>
      <p:sp>
        <p:nvSpPr>
          <p:cNvPr id="15" name="storage-identity">
            <a:extLst xmlns:a="http://schemas.openxmlformats.org/drawingml/2006/main">
              <a:ext uri="{FF2B5EF4-FFF2-40B4-BE49-F238E27FC236}">
                <a16:creationId xmlns:a16="http://schemas.microsoft.com/office/drawing/2014/main" id="{F78E6AA4-CD27-4CD0-8FC3-F8638270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28625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pending_events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serial_service.c</a:t>
            </a:r>
          </a:p>
        </p:txBody>
      </p:sp>
      <p:sp>
        <p:nvSpPr>
          <p:cNvPr id="16" name="foreground-domain">
            <a:extLst xmlns:a="http://schemas.openxmlformats.org/drawingml/2006/main">
              <a:ext uri="{FF2B5EF4-FFF2-40B4-BE49-F238E27FC236}">
                <a16:creationId xmlns:a16="http://schemas.microsoft.com/office/drawing/2014/main" id="{03A6E923-A4B9-4E5D-AAD0-D9F93996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FOREGROUND</a:t>
            </a:r>
          </a:p>
        </p:txBody>
      </p:sp>
      <p:sp>
        <p:nvSpPr>
          <p:cNvPr id="17" name="irq-domain">
            <a:extLst xmlns:a="http://schemas.openxmlformats.org/drawingml/2006/main">
              <a:ext uri="{FF2B5EF4-FFF2-40B4-BE49-F238E27FC236}">
                <a16:creationId xmlns:a16="http://schemas.microsoft.com/office/drawing/2014/main" id="{CC854995-0BFB-46AE-8ED8-7DA1D8B2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6483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B64835"/>
                </a:solidFill>
                <a:latin typeface="Consolas"/>
                <a:ea typeface="Consolas"/>
                <a:cs typeface="Consolas"/>
              </a:rPr>
              <a:t>IRQ:TIM2</a:t>
            </a:r>
          </a:p>
        </p:txBody>
      </p: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38500" y="38195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572250" y="3819525"/>
            <a:ext cx="742950" cy="4763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0744200" y="3824288"/>
            <a:ext cx="2305050" cy="461963"/>
          </a:xfrm>
          <a:prstGeom xmlns:a="http://schemas.openxmlformats.org/drawingml/2006/main" prst="bentConnector2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38500" y="5667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6483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572250" y="56673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64835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4" idx="3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10744200" y="5353050"/>
            <a:ext cx="2305050" cy="314325"/>
          </a:xfrm>
          <a:prstGeom xmlns:a="http://schemas.openxmlformats.org/drawingml/2006/main" prst="bentConnector2">
            <a:avLst/>
          </a:prstGeom>
          <a:ln xmlns:a="http://schemas.openxmlformats.org/drawingml/2006/main" w="21908">
            <a:solidFill>
              <a:srgbClr val="B6483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identity-rule">
            <a:extLst xmlns:a="http://schemas.openxmlformats.org/drawingml/2006/main">
              <a:ext uri="{FF2B5EF4-FFF2-40B4-BE49-F238E27FC236}">
                <a16:creationId xmlns:a16="http://schemas.microsoft.com/office/drawing/2014/main" id="{DA1E65E7-B47D-4B3B-83AA-D350ADA2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10375"/>
            <a:ext cx="1369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对象归一：合并 extern 声明，区分同名 static，追踪指针与成员访问</a:t>
            </a:r>
          </a:p>
        </p:txBody>
      </p:sp>
      <p:sp>
        <p:nvSpPr>
          <p:cNvPr id="25" name="physical-rule">
            <a:extLst xmlns:a="http://schemas.openxmlformats.org/drawingml/2006/main">
              <a:ext uri="{FF2B5EF4-FFF2-40B4-BE49-F238E27FC236}">
                <a16:creationId xmlns:a16="http://schemas.microsoft.com/office/drawing/2014/main" id="{C8435A36-3A66-4D5A-BBCD-E4D293CC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67600"/>
            <a:ext cx="1369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执行者恢复：沿入口、调用与回调注册传播，按物理上下文归并</a:t>
            </a:r>
          </a:p>
        </p:txBody>
      </p:sp>
    </p:spTree>
    <p:extLst>
      <p:ext uri="{BB962C8B-B14F-4D97-AF65-F5344CB8AC3E}">
        <p14:creationId xmlns:p14="http://schemas.microsoft.com/office/powerpoint/2010/main" val="179284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5A4B90C5-06FD-4F1F-8F2C-2395F0A3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5720DF-1348-4A83-9AAB-117F84A0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逐变量判定与分流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B55192A-E553-42A5-B214-A322FB16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分析同一存储上的访问关系，再核对初始化、保护范围和协议证据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C214E2C-D6DE-4EDF-8755-3DE5065A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criterion-0">
            <a:extLst xmlns:a="http://schemas.openxmlformats.org/drawingml/2006/main">
              <a:ext uri="{FF2B5EF4-FFF2-40B4-BE49-F238E27FC236}">
                <a16:creationId xmlns:a16="http://schemas.microsoft.com/office/drawing/2014/main" id="{84B0D687-B83B-4B43-B6AC-A04F10E7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同一存储对象</a:t>
            </a:r>
          </a:p>
        </p:txBody>
      </p:sp>
      <p:sp>
        <p:nvSpPr>
          <p:cNvPr id="6" name="criterion-1">
            <a:extLst xmlns:a="http://schemas.openxmlformats.org/drawingml/2006/main">
              <a:ext uri="{FF2B5EF4-FFF2-40B4-BE49-F238E27FC236}">
                <a16:creationId xmlns:a16="http://schemas.microsoft.com/office/drawing/2014/main" id="{138B18EC-AD29-4074-A280-4CC89307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跨物理上下文</a:t>
            </a:r>
          </a:p>
        </p:txBody>
      </p:sp>
      <p:sp>
        <p:nvSpPr>
          <p:cNvPr id="7" name="criterion-2">
            <a:extLst xmlns:a="http://schemas.openxmlformats.org/drawingml/2006/main">
              <a:ext uri="{FF2B5EF4-FFF2-40B4-BE49-F238E27FC236}">
                <a16:creationId xmlns:a16="http://schemas.microsoft.com/office/drawing/2014/main" id="{645A9945-E77E-44C7-971D-18E44A37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9375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写冲突与可交错性</a:t>
            </a:r>
          </a:p>
        </p:txBody>
      </p:sp>
      <p:sp>
        <p:nvSpPr>
          <p:cNvPr id="8" name="criterion-3">
            <a:extLst xmlns:a="http://schemas.openxmlformats.org/drawingml/2006/main">
              <a:ext uri="{FF2B5EF4-FFF2-40B4-BE49-F238E27FC236}">
                <a16:creationId xmlns:a16="http://schemas.microsoft.com/office/drawing/2014/main" id="{91B67A77-0257-4DCB-8AB6-C73B967E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2619375"/>
            <a:ext cx="2714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初始化 / 保护 / 协议</a:t>
            </a:r>
          </a:p>
        </p:txBody>
      </p: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33750" y="3009900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000875" y="3009900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668000" y="3009900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graphicFrame>
        <p:nvGraphicFramePr>
          <p:cNvPr id="25" name=""/>
          <p:cNvGraphicFramePr/>
          <p:nvPr/>
        </p:nvGraphicFramePr>
        <p:xfrm>
          <a:off xmlns:a="http://schemas.openxmlformats.org/drawingml/2006/main" x="762000" y="3924300"/>
          <a:ext xmlns:a="http://schemas.openxmlformats.org/drawingml/2006/main" cx="13716000" cy="34385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29000"/>
                <a:gridCol w="6334125"/>
                <a:gridCol w="3952875"/>
              </a:tblGrid>
              <a:tr h="68770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静态分类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常规复核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</a:tr>
              <a:tr h="68770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SUSPECT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存在未排除的修改冲突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进入队列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770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UNKNOWN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影响结论的关键证据不足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进入队列，按缺口补证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8770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SAFE_PROVEN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在当前模型与证据下有安全证明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保留依据，跳过常规复核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7705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SHARED_NO_REVIEW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满足严格单写者、纯只读观察门禁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免常规复核，非安全证明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3" name="coverage-independence">
            <a:extLst xmlns:a="http://schemas.openxmlformats.org/drawingml/2006/main">
              <a:ext uri="{FF2B5EF4-FFF2-40B4-BE49-F238E27FC236}">
                <a16:creationId xmlns:a16="http://schemas.microsoft.com/office/drawing/2014/main" id="{94C58992-FC8C-4E1D-B7EE-DA6D817E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29525"/>
            <a:ext cx="13696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覆盖 COMPLETE / PARTIAL 独立展示。已知冲突与覆盖缺口可以同时存在</a:t>
            </a:r>
          </a:p>
        </p:txBody>
      </p:sp>
    </p:spTree>
    <p:extLst>
      <p:ext uri="{BB962C8B-B14F-4D97-AF65-F5344CB8AC3E}">
        <p14:creationId xmlns:p14="http://schemas.microsoft.com/office/powerpoint/2010/main" val="1590923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52F46ABF-C37B-4B68-A56E-68985F5C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63096C-AECB-4FE8-B224-50D414E6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一个风险为什么成立：快照之后丢事件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49272A0-CB4A-4904-889E-6FEA8143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源码交错推演。初始 pending_events = 01，01 表示串口事件，10 表示采样事件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45A419C-1E6A-4BE9-9296-AF2217BC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participant-主循环 Service_Poll">
            <a:extLst xmlns:a="http://schemas.openxmlformats.org/drawingml/2006/main">
              <a:ext uri="{FF2B5EF4-FFF2-40B4-BE49-F238E27FC236}">
                <a16:creationId xmlns:a16="http://schemas.microsoft.com/office/drawing/2014/main" id="{128D7E19-43AF-4262-83A2-31E68806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主循环 Service_Poll</a:t>
            </a:r>
          </a:p>
        </p:txBody>
      </p:sp>
      <p:sp>
        <p:nvSpPr>
          <p:cNvPr id="6" name="anchor-40">
            <a:extLst xmlns:a="http://schemas.openxmlformats.org/drawingml/2006/main">
              <a:ext uri="{FF2B5EF4-FFF2-40B4-BE49-F238E27FC236}">
                <a16:creationId xmlns:a16="http://schemas.microsoft.com/office/drawing/2014/main" id="{A78801FE-A23D-4337-8944-4A9F364E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anchor-41">
            <a:extLst xmlns:a="http://schemas.openxmlformats.org/drawingml/2006/main">
              <a:ext uri="{FF2B5EF4-FFF2-40B4-BE49-F238E27FC236}">
                <a16:creationId xmlns:a16="http://schemas.microsoft.com/office/drawing/2014/main" id="{12813506-102A-4A9D-82B7-5318D8DA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713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714625" y="3000375"/>
            <a:ext cx="0" cy="413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9" name="participant-pending_events">
            <a:extLst xmlns:a="http://schemas.openxmlformats.org/drawingml/2006/main">
              <a:ext uri="{FF2B5EF4-FFF2-40B4-BE49-F238E27FC236}">
                <a16:creationId xmlns:a16="http://schemas.microsoft.com/office/drawing/2014/main" id="{5BEF604E-FAC2-48B4-801E-90B808E4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33625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pending_events</a:t>
            </a:r>
          </a:p>
        </p:txBody>
      </p:sp>
      <p:sp>
        <p:nvSpPr>
          <p:cNvPr id="10" name="anchor-42">
            <a:extLst xmlns:a="http://schemas.openxmlformats.org/drawingml/2006/main">
              <a:ext uri="{FF2B5EF4-FFF2-40B4-BE49-F238E27FC236}">
                <a16:creationId xmlns:a16="http://schemas.microsoft.com/office/drawing/2014/main" id="{CBEB3C77-A291-40AF-A29F-E9C2E90E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anchor-43">
            <a:extLst xmlns:a="http://schemas.openxmlformats.org/drawingml/2006/main">
              <a:ext uri="{FF2B5EF4-FFF2-40B4-BE49-F238E27FC236}">
                <a16:creationId xmlns:a16="http://schemas.microsoft.com/office/drawing/2014/main" id="{F99F6EB1-58E1-4915-B303-94350B9D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713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7620000" y="3000375"/>
            <a:ext cx="0" cy="413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13" name="participant-TIM2 / Service_Sample">
            <a:extLst xmlns:a="http://schemas.openxmlformats.org/drawingml/2006/main">
              <a:ext uri="{FF2B5EF4-FFF2-40B4-BE49-F238E27FC236}">
                <a16:creationId xmlns:a16="http://schemas.microsoft.com/office/drawing/2014/main" id="{4392B4D6-A713-418B-9FD5-36ABEDC5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33625"/>
            <a:ext cx="361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TIM2 / Service_Sample</a:t>
            </a:r>
          </a:p>
        </p:txBody>
      </p:sp>
      <p:sp>
        <p:nvSpPr>
          <p:cNvPr id="14" name="anchor-44">
            <a:extLst xmlns:a="http://schemas.openxmlformats.org/drawingml/2006/main">
              <a:ext uri="{FF2B5EF4-FFF2-40B4-BE49-F238E27FC236}">
                <a16:creationId xmlns:a16="http://schemas.microsoft.com/office/drawing/2014/main" id="{DFEF52EC-FB0A-4CFD-BD96-022900BB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anchor-45">
            <a:extLst xmlns:a="http://schemas.openxmlformats.org/drawingml/2006/main">
              <a:ext uri="{FF2B5EF4-FFF2-40B4-BE49-F238E27FC236}">
                <a16:creationId xmlns:a16="http://schemas.microsoft.com/office/drawing/2014/main" id="{BE89F7FD-31D7-4314-BD6F-00C7C94D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713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2525375" y="3000375"/>
            <a:ext cx="0" cy="41338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17" name="anchor-46">
            <a:extLst xmlns:a="http://schemas.openxmlformats.org/drawingml/2006/main">
              <a:ext uri="{FF2B5EF4-FFF2-40B4-BE49-F238E27FC236}">
                <a16:creationId xmlns:a16="http://schemas.microsoft.com/office/drawing/2014/main" id="{56F53D71-4E54-4AD2-AE71-40E10C92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57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anchor-47">
            <a:extLst xmlns:a="http://schemas.openxmlformats.org/drawingml/2006/main">
              <a:ext uri="{FF2B5EF4-FFF2-40B4-BE49-F238E27FC236}">
                <a16:creationId xmlns:a16="http://schemas.microsoft.com/office/drawing/2014/main" id="{984F7FFB-B765-4F30-8244-EF63924C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57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724150" y="3667125"/>
            <a:ext cx="48863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message-48">
            <a:extLst xmlns:a="http://schemas.openxmlformats.org/drawingml/2006/main">
              <a:ext uri="{FF2B5EF4-FFF2-40B4-BE49-F238E27FC236}">
                <a16:creationId xmlns:a16="http://schemas.microsoft.com/office/drawing/2014/main" id="{59C81778-49B1-45AA-BA6F-8A25C854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14700"/>
            <a:ext cx="4381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1 snapshot = pending_events</a:t>
            </a:r>
          </a:p>
        </p:txBody>
      </p:sp>
      <p:sp>
        <p:nvSpPr>
          <p:cNvPr id="21" name="anchor-49">
            <a:extLst xmlns:a="http://schemas.openxmlformats.org/drawingml/2006/main">
              <a:ext uri="{FF2B5EF4-FFF2-40B4-BE49-F238E27FC236}">
                <a16:creationId xmlns:a16="http://schemas.microsoft.com/office/drawing/2014/main" id="{0809DD23-9676-445D-87DB-2F7403B3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295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50">
            <a:extLst xmlns:a="http://schemas.openxmlformats.org/drawingml/2006/main">
              <a:ext uri="{FF2B5EF4-FFF2-40B4-BE49-F238E27FC236}">
                <a16:creationId xmlns:a16="http://schemas.microsoft.com/office/drawing/2014/main" id="{9EFB707C-ED4B-45C2-B9E8-AD131FC9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95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" name=""/>
          <p:cNvCxnSpPr>
            <a:stCxn xmlns:a="http://schemas.openxmlformats.org/drawingml/2006/main" id="21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2724150" y="4305300"/>
            <a:ext cx="48863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24" name="message-51">
            <a:extLst xmlns:a="http://schemas.openxmlformats.org/drawingml/2006/main">
              <a:ext uri="{FF2B5EF4-FFF2-40B4-BE49-F238E27FC236}">
                <a16:creationId xmlns:a16="http://schemas.microsoft.com/office/drawing/2014/main" id="{6FEFE64E-C9CE-4CCD-BDDF-06DCDB3B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52875"/>
            <a:ext cx="3143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snapshot = 01</a:t>
            </a:r>
          </a:p>
        </p:txBody>
      </p:sp>
      <p:sp>
        <p:nvSpPr>
          <p:cNvPr id="25" name="anchor-52">
            <a:extLst xmlns:a="http://schemas.openxmlformats.org/drawingml/2006/main">
              <a:ext uri="{FF2B5EF4-FFF2-40B4-BE49-F238E27FC236}">
                <a16:creationId xmlns:a16="http://schemas.microsoft.com/office/drawing/2014/main" id="{5C511874-4390-400B-8553-18B43627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52101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anchor-53">
            <a:extLst xmlns:a="http://schemas.openxmlformats.org/drawingml/2006/main">
              <a:ext uri="{FF2B5EF4-FFF2-40B4-BE49-F238E27FC236}">
                <a16:creationId xmlns:a16="http://schemas.microsoft.com/office/drawing/2014/main" id="{E556A5D1-F960-4674-80E8-FE67C537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2101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" name=""/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7629525" y="5219700"/>
            <a:ext cx="48863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6483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8" name="message-54">
            <a:extLst xmlns:a="http://schemas.openxmlformats.org/drawingml/2006/main">
              <a:ext uri="{FF2B5EF4-FFF2-40B4-BE49-F238E27FC236}">
                <a16:creationId xmlns:a16="http://schemas.microsoft.com/office/drawing/2014/main" id="{F191A403-1E6D-49B2-9945-E4FB8A82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67275"/>
            <a:ext cx="6286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2 |= 2U，事件位从 01 变为 11</a:t>
            </a:r>
          </a:p>
        </p:txBody>
      </p:sp>
      <p:sp>
        <p:nvSpPr>
          <p:cNvPr id="29" name="anchor-55">
            <a:extLst xmlns:a="http://schemas.openxmlformats.org/drawingml/2006/main">
              <a:ext uri="{FF2B5EF4-FFF2-40B4-BE49-F238E27FC236}">
                <a16:creationId xmlns:a16="http://schemas.microsoft.com/office/drawing/2014/main" id="{B0E37F3C-E350-410B-A1AD-9A12A8E4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410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56">
            <a:extLst xmlns:a="http://schemas.openxmlformats.org/drawingml/2006/main">
              <a:ext uri="{FF2B5EF4-FFF2-40B4-BE49-F238E27FC236}">
                <a16:creationId xmlns:a16="http://schemas.microsoft.com/office/drawing/2014/main" id="{B5B93E51-235D-4C8D-8251-10310EE5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6410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2724150" y="6419850"/>
            <a:ext cx="48863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2" name="message-57">
            <a:extLst xmlns:a="http://schemas.openxmlformats.org/drawingml/2006/main">
              <a:ext uri="{FF2B5EF4-FFF2-40B4-BE49-F238E27FC236}">
                <a16:creationId xmlns:a16="http://schemas.microsoft.com/office/drawing/2014/main" id="{93BE0015-6252-4138-9188-5E0376ED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67425"/>
            <a:ext cx="4191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3 pending_events = 0</a:t>
            </a:r>
          </a:p>
        </p:txBody>
      </p:sp>
      <p:sp>
        <p:nvSpPr>
          <p:cNvPr id="33" name="state-after-read">
            <a:extLst xmlns:a="http://schemas.openxmlformats.org/drawingml/2006/main">
              <a:ext uri="{FF2B5EF4-FFF2-40B4-BE49-F238E27FC236}">
                <a16:creationId xmlns:a16="http://schemas.microsoft.com/office/drawing/2014/main" id="{349B92CC-80EC-4094-9693-651B3098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43325"/>
            <a:ext cx="800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34" name="state-after-irq">
            <a:extLst xmlns:a="http://schemas.openxmlformats.org/drawingml/2006/main">
              <a:ext uri="{FF2B5EF4-FFF2-40B4-BE49-F238E27FC236}">
                <a16:creationId xmlns:a16="http://schemas.microsoft.com/office/drawing/2014/main" id="{58EF4C8A-650F-4F63-B452-3A5FF8CF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324475"/>
            <a:ext cx="800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648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B64835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sp>
        <p:nvSpPr>
          <p:cNvPr id="35" name="state-after-clear">
            <a:extLst xmlns:a="http://schemas.openxmlformats.org/drawingml/2006/main">
              <a:ext uri="{FF2B5EF4-FFF2-40B4-BE49-F238E27FC236}">
                <a16:creationId xmlns:a16="http://schemas.microsoft.com/office/drawing/2014/main" id="{6BD87CD3-2120-4043-A1E0-48742540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534150"/>
            <a:ext cx="800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64835"/>
                </a:solidFill>
                <a:latin typeface="Consolas"/>
                <a:ea typeface="Consolas"/>
                <a:cs typeface="Consolas"/>
              </a:defRPr>
            </a:pPr>
            <a:r>
              <a:rPr sz="2025" b="1">
                <a:solidFill>
                  <a:srgbClr val="B64835"/>
                </a:solidFill>
                <a:latin typeface="Consolas"/>
                <a:ea typeface="Consolas"/>
                <a:cs typeface="Consolas"/>
              </a:rPr>
              <a:t>00</a:t>
            </a:r>
          </a:p>
        </p:txBody>
      </p:sp>
      <p:sp>
        <p:nvSpPr>
          <p:cNvPr id="36" name="preemption-window">
            <a:extLst xmlns:a="http://schemas.openxmlformats.org/drawingml/2006/main">
              <a:ext uri="{FF2B5EF4-FFF2-40B4-BE49-F238E27FC236}">
                <a16:creationId xmlns:a16="http://schemas.microsoft.com/office/drawing/2014/main" id="{77A037F3-A840-4CC3-AAD2-42D45B17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762625"/>
            <a:ext cx="53054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中断发生在读快照后、清零前</a:t>
            </a:r>
          </a:p>
        </p:txBody>
      </p:sp>
      <p:sp>
        <p:nvSpPr>
          <p:cNvPr id="37" name="lost-event-result">
            <a:extLst xmlns:a="http://schemas.openxmlformats.org/drawingml/2006/main">
              <a:ext uri="{FF2B5EF4-FFF2-40B4-BE49-F238E27FC236}">
                <a16:creationId xmlns:a16="http://schemas.microsoft.com/office/drawing/2014/main" id="{A7E637A0-E998-401A-913A-2C2EE6C0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77125"/>
            <a:ext cx="1369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新加入的采样事件被清除，旧快照从未包含它</a:t>
            </a:r>
          </a:p>
        </p:txBody>
      </p:sp>
    </p:spTree>
    <p:extLst>
      <p:ext uri="{BB962C8B-B14F-4D97-AF65-F5344CB8AC3E}">
        <p14:creationId xmlns:p14="http://schemas.microsoft.com/office/powerpoint/2010/main" val="20318889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B5676165-77D2-47E8-A84A-C2F90F6B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5E1380-4382-4E54-A597-646E6AAE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逐变量复核的时序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CFF4C1E-CEC1-4079-909F-C961FCCD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Packet 是该变量的证据包：对象标识、全部访问、调用路径、保护、缺口与源码位置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4E1BEB-B42D-4094-BBDA-26A559E8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participant-复核调度 / 队列">
            <a:extLst xmlns:a="http://schemas.openxmlformats.org/drawingml/2006/main">
              <a:ext uri="{FF2B5EF4-FFF2-40B4-BE49-F238E27FC236}">
                <a16:creationId xmlns:a16="http://schemas.microsoft.com/office/drawing/2014/main" id="{6F1C8B6F-50BC-40CD-BA2E-A61F0B5E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33625"/>
            <a:ext cx="266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复核调度 / 队列</a:t>
            </a:r>
          </a:p>
        </p:txBody>
      </p:sp>
      <p:sp>
        <p:nvSpPr>
          <p:cNvPr id="6" name="anchor-58">
            <a:extLst xmlns:a="http://schemas.openxmlformats.org/drawingml/2006/main">
              <a:ext uri="{FF2B5EF4-FFF2-40B4-BE49-F238E27FC236}">
                <a16:creationId xmlns:a16="http://schemas.microsoft.com/office/drawing/2014/main" id="{3406F572-94CE-4133-8401-6D15068A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anchor-59">
            <a:extLst xmlns:a="http://schemas.openxmlformats.org/drawingml/2006/main">
              <a:ext uri="{FF2B5EF4-FFF2-40B4-BE49-F238E27FC236}">
                <a16:creationId xmlns:a16="http://schemas.microsoft.com/office/drawing/2014/main" id="{6ABA78F8-8E23-47FF-AD53-C675849A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6866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714500" y="3000375"/>
            <a:ext cx="0" cy="4686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9" name="participant-OpenCode">
            <a:extLst xmlns:a="http://schemas.openxmlformats.org/drawingml/2006/main">
              <a:ext uri="{FF2B5EF4-FFF2-40B4-BE49-F238E27FC236}">
                <a16:creationId xmlns:a16="http://schemas.microsoft.com/office/drawing/2014/main" id="{1AC61045-2AA9-4F1D-94D6-14B17946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3362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OpenCode</a:t>
            </a:r>
          </a:p>
        </p:txBody>
      </p:sp>
      <p:sp>
        <p:nvSpPr>
          <p:cNvPr id="10" name="anchor-60">
            <a:extLst xmlns:a="http://schemas.openxmlformats.org/drawingml/2006/main">
              <a:ext uri="{FF2B5EF4-FFF2-40B4-BE49-F238E27FC236}">
                <a16:creationId xmlns:a16="http://schemas.microsoft.com/office/drawing/2014/main" id="{2FB70BAD-4433-44B0-A4A7-7F251518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anchor-61">
            <a:extLst xmlns:a="http://schemas.openxmlformats.org/drawingml/2006/main">
              <a:ext uri="{FF2B5EF4-FFF2-40B4-BE49-F238E27FC236}">
                <a16:creationId xmlns:a16="http://schemas.microsoft.com/office/drawing/2014/main" id="{76C4004C-7ABC-440A-A84B-46D1AFDC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76866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191250" y="3000375"/>
            <a:ext cx="0" cy="4686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13" name="participant-当前源码 / 案例">
            <a:extLst xmlns:a="http://schemas.openxmlformats.org/drawingml/2006/main">
              <a:ext uri="{FF2B5EF4-FFF2-40B4-BE49-F238E27FC236}">
                <a16:creationId xmlns:a16="http://schemas.microsoft.com/office/drawing/2014/main" id="{DE3B1CF9-34EB-4DBC-A208-4FD305AC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33625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当前源码 / 案例</a:t>
            </a:r>
          </a:p>
        </p:txBody>
      </p:sp>
      <p:sp>
        <p:nvSpPr>
          <p:cNvPr id="14" name="anchor-62">
            <a:extLst xmlns:a="http://schemas.openxmlformats.org/drawingml/2006/main">
              <a:ext uri="{FF2B5EF4-FFF2-40B4-BE49-F238E27FC236}">
                <a16:creationId xmlns:a16="http://schemas.microsoft.com/office/drawing/2014/main" id="{63CC48A3-4955-43F0-A320-79CF0AE0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anchor-63">
            <a:extLst xmlns:a="http://schemas.openxmlformats.org/drawingml/2006/main">
              <a:ext uri="{FF2B5EF4-FFF2-40B4-BE49-F238E27FC236}">
                <a16:creationId xmlns:a16="http://schemas.microsoft.com/office/drawing/2014/main" id="{E9B564D5-5BB4-4F67-AD2D-C095C8E6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76866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0572750" y="3000375"/>
            <a:ext cx="0" cy="4686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17" name="participant-校验与归档">
            <a:extLst xmlns:a="http://schemas.openxmlformats.org/drawingml/2006/main">
              <a:ext uri="{FF2B5EF4-FFF2-40B4-BE49-F238E27FC236}">
                <a16:creationId xmlns:a16="http://schemas.microsoft.com/office/drawing/2014/main" id="{2685EFBB-2570-4D59-A8DB-2034B5C2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333625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校验与归档</a:t>
            </a:r>
          </a:p>
        </p:txBody>
      </p:sp>
      <p:sp>
        <p:nvSpPr>
          <p:cNvPr id="18" name="anchor-64">
            <a:extLst xmlns:a="http://schemas.openxmlformats.org/drawingml/2006/main">
              <a:ext uri="{FF2B5EF4-FFF2-40B4-BE49-F238E27FC236}">
                <a16:creationId xmlns:a16="http://schemas.microsoft.com/office/drawing/2014/main" id="{23331279-8FB6-42B0-8354-3877702B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2981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anchor-65">
            <a:extLst xmlns:a="http://schemas.openxmlformats.org/drawingml/2006/main">
              <a:ext uri="{FF2B5EF4-FFF2-40B4-BE49-F238E27FC236}">
                <a16:creationId xmlns:a16="http://schemas.microsoft.com/office/drawing/2014/main" id="{0335B466-73CE-4E9C-AEA7-B199FA47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76866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3811250" y="3000375"/>
            <a:ext cx="0" cy="46863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21" name="anchor-66">
            <a:extLst xmlns:a="http://schemas.openxmlformats.org/drawingml/2006/main">
              <a:ext uri="{FF2B5EF4-FFF2-40B4-BE49-F238E27FC236}">
                <a16:creationId xmlns:a16="http://schemas.microsoft.com/office/drawing/2014/main" id="{72BA9F03-2595-4D52-90AB-56C6A6FB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6671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67">
            <a:extLst xmlns:a="http://schemas.openxmlformats.org/drawingml/2006/main">
              <a:ext uri="{FF2B5EF4-FFF2-40B4-BE49-F238E27FC236}">
                <a16:creationId xmlns:a16="http://schemas.microsoft.com/office/drawing/2014/main" id="{37C8AE8D-6C12-4435-A9F2-1F55D0F1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6671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4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724025" y="3676650"/>
            <a:ext cx="4457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message-68">
            <a:extLst xmlns:a="http://schemas.openxmlformats.org/drawingml/2006/main">
              <a:ext uri="{FF2B5EF4-FFF2-40B4-BE49-F238E27FC236}">
                <a16:creationId xmlns:a16="http://schemas.microsoft.com/office/drawing/2014/main" id="{B4021E24-60C1-47A2-9737-D8806FA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24225"/>
            <a:ext cx="476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1 发送 Packet、背景和案例索引</a:t>
            </a:r>
          </a:p>
        </p:txBody>
      </p:sp>
      <p:sp>
        <p:nvSpPr>
          <p:cNvPr id="25" name="anchor-69">
            <a:extLst xmlns:a="http://schemas.openxmlformats.org/drawingml/2006/main">
              <a:ext uri="{FF2B5EF4-FFF2-40B4-BE49-F238E27FC236}">
                <a16:creationId xmlns:a16="http://schemas.microsoft.com/office/drawing/2014/main" id="{866905ED-D6FF-472D-B448-9FDA8667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3910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anchor-70">
            <a:extLst xmlns:a="http://schemas.openxmlformats.org/drawingml/2006/main">
              <a:ext uri="{FF2B5EF4-FFF2-40B4-BE49-F238E27FC236}">
                <a16:creationId xmlns:a16="http://schemas.microsoft.com/office/drawing/2014/main" id="{A3A00123-9692-416B-99E8-179AEE97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43910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200775" y="4400550"/>
            <a:ext cx="4362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8" name="message-71">
            <a:extLst xmlns:a="http://schemas.openxmlformats.org/drawingml/2006/main">
              <a:ext uri="{FF2B5EF4-FFF2-40B4-BE49-F238E27FC236}">
                <a16:creationId xmlns:a16="http://schemas.microsoft.com/office/drawing/2014/main" id="{2C16DF02-F376-4123-9CD2-60BB8B70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48125"/>
            <a:ext cx="457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2 只读查阅源码与相关案例</a:t>
            </a:r>
          </a:p>
        </p:txBody>
      </p:sp>
      <p:sp>
        <p:nvSpPr>
          <p:cNvPr id="29" name="anchor-72">
            <a:extLst xmlns:a="http://schemas.openxmlformats.org/drawingml/2006/main">
              <a:ext uri="{FF2B5EF4-FFF2-40B4-BE49-F238E27FC236}">
                <a16:creationId xmlns:a16="http://schemas.microsoft.com/office/drawing/2014/main" id="{A69B4134-DE5A-40CC-B8C6-069F9036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4991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73">
            <a:extLst xmlns:a="http://schemas.openxmlformats.org/drawingml/2006/main">
              <a:ext uri="{FF2B5EF4-FFF2-40B4-BE49-F238E27FC236}">
                <a16:creationId xmlns:a16="http://schemas.microsoft.com/office/drawing/2014/main" id="{02974B5E-2622-4857-9761-61DDE7AD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991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" name=""/>
          <p:cNvCxnSpPr>
            <a:stCxn xmlns:a="http://schemas.openxmlformats.org/drawingml/2006/main" id="29" idx="1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6200775" y="5000625"/>
            <a:ext cx="4362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32" name="message-74">
            <a:extLst xmlns:a="http://schemas.openxmlformats.org/drawingml/2006/main">
              <a:ext uri="{FF2B5EF4-FFF2-40B4-BE49-F238E27FC236}">
                <a16:creationId xmlns:a16="http://schemas.microsoft.com/office/drawing/2014/main" id="{82FBA16E-8A19-4001-B7AB-5FBD7450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48200"/>
            <a:ext cx="3429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文件内容与源码位置</a:t>
            </a:r>
          </a:p>
        </p:txBody>
      </p:sp>
      <p:sp>
        <p:nvSpPr>
          <p:cNvPr id="33" name="anchor-75">
            <a:extLst xmlns:a="http://schemas.openxmlformats.org/drawingml/2006/main">
              <a:ext uri="{FF2B5EF4-FFF2-40B4-BE49-F238E27FC236}">
                <a16:creationId xmlns:a16="http://schemas.microsoft.com/office/drawing/2014/main" id="{36BDD1C5-3267-457D-990B-DCE05FCF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610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anchor-76">
            <a:extLst xmlns:a="http://schemas.openxmlformats.org/drawingml/2006/main">
              <a:ext uri="{FF2B5EF4-FFF2-40B4-BE49-F238E27FC236}">
                <a16:creationId xmlns:a16="http://schemas.microsoft.com/office/drawing/2014/main" id="{439C3CAC-FA8F-4C93-A8BF-0B9AFCF5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5610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6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6200775" y="5619750"/>
            <a:ext cx="7600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6" name="message-77">
            <a:extLst xmlns:a="http://schemas.openxmlformats.org/drawingml/2006/main">
              <a:ext uri="{FF2B5EF4-FFF2-40B4-BE49-F238E27FC236}">
                <a16:creationId xmlns:a16="http://schemas.microsoft.com/office/drawing/2014/main" id="{7F19959B-D837-4989-91A1-43BA6D11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267325"/>
            <a:ext cx="5810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3 结构化结论、理由与源码证据</a:t>
            </a:r>
          </a:p>
        </p:txBody>
      </p:sp>
      <p:sp>
        <p:nvSpPr>
          <p:cNvPr id="37" name="conditional-answer-repair">
            <a:extLst xmlns:a="http://schemas.openxmlformats.org/drawingml/2006/main">
              <a:ext uri="{FF2B5EF4-FFF2-40B4-BE49-F238E27FC236}">
                <a16:creationId xmlns:a16="http://schemas.microsoft.com/office/drawing/2014/main" id="{5367EE13-67B6-4E24-83D2-33440DA2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15025"/>
            <a:ext cx="92392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9B9C8"/>
            </a:solidFill>
          </a:ln>
        </p:spPr>
      </p:sp>
      <p:sp>
        <p:nvSpPr>
          <p:cNvPr id="38" name="conditional-answer-repair-label">
            <a:extLst xmlns:a="http://schemas.openxmlformats.org/drawingml/2006/main">
              <a:ext uri="{FF2B5EF4-FFF2-40B4-BE49-F238E27FC236}">
                <a16:creationId xmlns:a16="http://schemas.microsoft.com/office/drawing/2014/main" id="{7294CE32-DEEC-44AB-9FFB-E0699A70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943600"/>
            <a:ext cx="4095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opt  答复需要补核查或修复</a:t>
            </a:r>
          </a:p>
        </p:txBody>
      </p:sp>
      <p:sp>
        <p:nvSpPr>
          <p:cNvPr id="39" name="anchor-78">
            <a:extLst xmlns:a="http://schemas.openxmlformats.org/drawingml/2006/main">
              <a:ext uri="{FF2B5EF4-FFF2-40B4-BE49-F238E27FC236}">
                <a16:creationId xmlns:a16="http://schemas.microsoft.com/office/drawing/2014/main" id="{5F038C82-A923-4308-AFDC-7EAD84EB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6600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anchor-79">
            <a:extLst xmlns:a="http://schemas.openxmlformats.org/drawingml/2006/main">
              <a:ext uri="{FF2B5EF4-FFF2-40B4-BE49-F238E27FC236}">
                <a16:creationId xmlns:a16="http://schemas.microsoft.com/office/drawing/2014/main" id="{E8B9785B-9F3F-4144-96E4-42F895BE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66008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" name=""/>
          <p:cNvCxnSpPr>
            <a:stCxn xmlns:a="http://schemas.openxmlformats.org/drawingml/2006/main" id="39" idx="1"/>
            <a:endCxn xmlns:a="http://schemas.openxmlformats.org/drawingml/2006/main" id="40" idx="3"/>
          </p:cNvCxnSpPr>
          <p:nvPr/>
        </p:nvCxnSpPr>
        <p:spPr>
          <a:xfrm xmlns:a="http://schemas.openxmlformats.org/drawingml/2006/main" flipH="1">
            <a:off x="6200775" y="6610350"/>
            <a:ext cx="7600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42" name="message-80">
            <a:extLst xmlns:a="http://schemas.openxmlformats.org/drawingml/2006/main">
              <a:ext uri="{FF2B5EF4-FFF2-40B4-BE49-F238E27FC236}">
                <a16:creationId xmlns:a16="http://schemas.microsoft.com/office/drawing/2014/main" id="{BF8E90FA-0016-4E05-8028-6A500640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57925"/>
            <a:ext cx="5810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一次安全追问 / 最多两次格式修复</a:t>
            </a:r>
          </a:p>
        </p:txBody>
      </p:sp>
      <p:sp>
        <p:nvSpPr>
          <p:cNvPr id="43" name="anchor-81">
            <a:extLst xmlns:a="http://schemas.openxmlformats.org/drawingml/2006/main">
              <a:ext uri="{FF2B5EF4-FFF2-40B4-BE49-F238E27FC236}">
                <a16:creationId xmlns:a16="http://schemas.microsoft.com/office/drawing/2014/main" id="{372F22AE-AC87-4A20-B4EE-65E652C6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70485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anchor-82">
            <a:extLst xmlns:a="http://schemas.openxmlformats.org/drawingml/2006/main">
              <a:ext uri="{FF2B5EF4-FFF2-40B4-BE49-F238E27FC236}">
                <a16:creationId xmlns:a16="http://schemas.microsoft.com/office/drawing/2014/main" id="{4B8D1BC7-C6DF-49A6-8CCB-E833A772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70485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6200775" y="7058025"/>
            <a:ext cx="7600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46" name="message-83">
            <a:extLst xmlns:a="http://schemas.openxmlformats.org/drawingml/2006/main">
              <a:ext uri="{FF2B5EF4-FFF2-40B4-BE49-F238E27FC236}">
                <a16:creationId xmlns:a16="http://schemas.microsoft.com/office/drawing/2014/main" id="{ED74BAE3-2D2A-4131-9CC6-5CCBB378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705600"/>
            <a:ext cx="3524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重新校验答复</a:t>
            </a:r>
          </a:p>
        </p:txBody>
      </p:sp>
      <p:sp>
        <p:nvSpPr>
          <p:cNvPr id="47" name="anchor-84">
            <a:extLst xmlns:a="http://schemas.openxmlformats.org/drawingml/2006/main">
              <a:ext uri="{FF2B5EF4-FFF2-40B4-BE49-F238E27FC236}">
                <a16:creationId xmlns:a16="http://schemas.microsoft.com/office/drawing/2014/main" id="{FA4C0B23-1DAE-42F6-BBCA-E27B8281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7696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anchor-85">
            <a:extLst xmlns:a="http://schemas.openxmlformats.org/drawingml/2006/main">
              <a:ext uri="{FF2B5EF4-FFF2-40B4-BE49-F238E27FC236}">
                <a16:creationId xmlns:a16="http://schemas.microsoft.com/office/drawing/2014/main" id="{3E952D4B-CE9D-4008-A8C6-DE34E50B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76962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0" name=""/>
          <p:cNvCxnSpPr>
            <a:stCxn xmlns:a="http://schemas.openxmlformats.org/drawingml/2006/main" id="47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1724025" y="7705725"/>
            <a:ext cx="120777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0" name="message-86">
            <a:extLst xmlns:a="http://schemas.openxmlformats.org/drawingml/2006/main">
              <a:ext uri="{FF2B5EF4-FFF2-40B4-BE49-F238E27FC236}">
                <a16:creationId xmlns:a16="http://schemas.microsoft.com/office/drawing/2014/main" id="{0EC892EB-0B8C-4D9B-973B-14885C8A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7353300"/>
            <a:ext cx="10096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4 DONE / TECH_FAILED，并保存 Packet、原始回答与哈希归档</a:t>
            </a:r>
          </a:p>
        </p:txBody>
      </p:sp>
      <p:sp>
        <p:nvSpPr>
          <p:cNvPr id="51" name="execution-versus-semantics">
            <a:extLst xmlns:a="http://schemas.openxmlformats.org/drawingml/2006/main">
              <a:ext uri="{FF2B5EF4-FFF2-40B4-BE49-F238E27FC236}">
                <a16:creationId xmlns:a16="http://schemas.microsoft.com/office/drawing/2014/main" id="{CFD759BD-2B1F-44B2-83D7-0D878ECC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96250"/>
            <a:ext cx="1304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DONE 只表示本项执行完成，仍需查看语义结论及其证据</a:t>
            </a:r>
          </a:p>
        </p:txBody>
      </p:sp>
    </p:spTree>
    <p:extLst>
      <p:ext uri="{BB962C8B-B14F-4D97-AF65-F5344CB8AC3E}">
        <p14:creationId xmlns:p14="http://schemas.microsoft.com/office/powerpoint/2010/main" val="1874652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8B9F80D6-095A-492D-8D6F-1D09D371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97711F-0B50-4138-9183-1B2DCB9D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报告中的状态与证据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2AAF74-E8B0-4E54-B9E0-14DF64E3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同一变量可以同时有静态分类、复核执行状态和模型语义结论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57E26E-C40E-440C-9E5C-B69AA722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dimension-0">
            <a:extLst xmlns:a="http://schemas.openxmlformats.org/drawingml/2006/main">
              <a:ext uri="{FF2B5EF4-FFF2-40B4-BE49-F238E27FC236}">
                <a16:creationId xmlns:a16="http://schemas.microsoft.com/office/drawing/2014/main" id="{C118B25A-DF4F-4892-BFE2-562556BD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静态分类</a:t>
            </a:r>
          </a:p>
        </p:txBody>
      </p:sp>
      <p:sp>
        <p:nvSpPr>
          <p:cNvPr id="6" name="dimension-1">
            <a:extLst xmlns:a="http://schemas.openxmlformats.org/drawingml/2006/main">
              <a:ext uri="{FF2B5EF4-FFF2-40B4-BE49-F238E27FC236}">
                <a16:creationId xmlns:a16="http://schemas.microsoft.com/office/drawing/2014/main" id="{772123CF-D41C-4596-9B74-0A76AA7B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86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复核执行状态</a:t>
            </a:r>
          </a:p>
        </p:txBody>
      </p:sp>
      <p:sp>
        <p:nvSpPr>
          <p:cNvPr id="7" name="dimension-2">
            <a:extLst xmlns:a="http://schemas.openxmlformats.org/drawingml/2006/main">
              <a:ext uri="{FF2B5EF4-FFF2-40B4-BE49-F238E27FC236}">
                <a16:creationId xmlns:a16="http://schemas.microsoft.com/office/drawing/2014/main" id="{4A8C2A64-4EB9-45A7-8659-DC69B9BE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860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模型语义结论</a:t>
            </a:r>
          </a:p>
        </p:txBody>
      </p:sp>
      <p:sp>
        <p:nvSpPr>
          <p:cNvPr id="8" name="example-state-0">
            <a:extLst xmlns:a="http://schemas.openxmlformats.org/drawingml/2006/main">
              <a:ext uri="{FF2B5EF4-FFF2-40B4-BE49-F238E27FC236}">
                <a16:creationId xmlns:a16="http://schemas.microsoft.com/office/drawing/2014/main" id="{D5726C66-E2AF-4DB5-95EA-27F1C371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625" b="1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SUSPECT</a:t>
            </a:r>
          </a:p>
        </p:txBody>
      </p:sp>
      <p:sp>
        <p:nvSpPr>
          <p:cNvPr id="9" name="example-state-1">
            <a:extLst xmlns:a="http://schemas.openxmlformats.org/drawingml/2006/main">
              <a:ext uri="{FF2B5EF4-FFF2-40B4-BE49-F238E27FC236}">
                <a16:creationId xmlns:a16="http://schemas.microsoft.com/office/drawing/2014/main" id="{2DE4FD60-AA45-4984-A17B-FB01CF98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30517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625" b="1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DONE</a:t>
            </a:r>
          </a:p>
        </p:txBody>
      </p:sp>
      <p:sp>
        <p:nvSpPr>
          <p:cNvPr id="10" name="example-state-2">
            <a:extLst xmlns:a="http://schemas.openxmlformats.org/drawingml/2006/main">
              <a:ext uri="{FF2B5EF4-FFF2-40B4-BE49-F238E27FC236}">
                <a16:creationId xmlns:a16="http://schemas.microsoft.com/office/drawing/2014/main" id="{45A73B3F-3B43-49E0-AEC3-BC6CA922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05175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64835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B64835"/>
                </a:solidFill>
                <a:latin typeface="Consolas"/>
                <a:ea typeface="Consolas"/>
                <a:cs typeface="Consolas"/>
              </a:rPr>
              <a:t>NEED_MORE_CONTEXT</a:t>
            </a:r>
          </a:p>
        </p:txBody>
      </p:sp>
      <p:sp>
        <p:nvSpPr>
          <p:cNvPr id="11" name="state-meaning-0">
            <a:extLst xmlns:a="http://schemas.openxmlformats.org/drawingml/2006/main">
              <a:ext uri="{FF2B5EF4-FFF2-40B4-BE49-F238E27FC236}">
                <a16:creationId xmlns:a16="http://schemas.microsoft.com/office/drawing/2014/main" id="{68E2CF79-4622-4483-B9E8-8B675278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423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有疑似修改冲突</a:t>
            </a:r>
          </a:p>
        </p:txBody>
      </p:sp>
      <p:sp>
        <p:nvSpPr>
          <p:cNvPr id="12" name="state-meaning-1">
            <a:extLst xmlns:a="http://schemas.openxmlformats.org/drawingml/2006/main">
              <a:ext uri="{FF2B5EF4-FFF2-40B4-BE49-F238E27FC236}">
                <a16:creationId xmlns:a16="http://schemas.microsoft.com/office/drawing/2014/main" id="{D82E44AC-D3E4-4FFD-AA05-9AFCFD1C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943350"/>
            <a:ext cx="423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本项复核已完成</a:t>
            </a:r>
          </a:p>
        </p:txBody>
      </p:sp>
      <p:sp>
        <p:nvSpPr>
          <p:cNvPr id="13" name="state-meaning-2">
            <a:extLst xmlns:a="http://schemas.openxmlformats.org/drawingml/2006/main">
              <a:ext uri="{FF2B5EF4-FFF2-40B4-BE49-F238E27FC236}">
                <a16:creationId xmlns:a16="http://schemas.microsoft.com/office/drawing/2014/main" id="{02D2067E-A939-4A1E-AD93-A1AFF727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943350"/>
            <a:ext cx="4238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缺决定性事实，仍需补证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762000" y="4791075"/>
          <a:ext xmlns:a="http://schemas.openxmlformats.org/drawingml/2006/main" cx="13716000" cy="2362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905500"/>
                <a:gridCol w="7810500"/>
              </a:tblGrid>
              <a:tr h="787400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报告位置（均在固件 .ecra 下）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看什么、怎么读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</a:tr>
              <a:tr h="787400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index.html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核对覆盖，再搜索变量</a:t>
                      </a:r>
                    </a:p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展开全部访问与调用链，对照源码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opencode_review.html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核对语义结论与 missing_context</a:t>
                      </a:r>
                    </a:p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查看原始证据归档，决定修复或补证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5" name="semantic-actions">
            <a:extLst xmlns:a="http://schemas.openxmlformats.org/drawingml/2006/main">
              <a:ext uri="{FF2B5EF4-FFF2-40B4-BE49-F238E27FC236}">
                <a16:creationId xmlns:a16="http://schemas.microsoft.com/office/drawing/2014/main" id="{638B20AB-98FF-4431-B9A2-8B4D06DB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77125"/>
            <a:ext cx="13668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CONFIRMED 处理风险；LIKELY / NEED_MORE_CONTEXT 补证</a:t>
            </a:r>
          </a:p>
          <a:p xmlns:a="http://schemas.openxmlformats.org/drawingml/2006/main">
            <a:pPr algn="l">
              <a:defRPr sz="18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REVIEWED_SAFE / FALSE_POSITIVE 保留依据与前提</a:t>
            </a:r>
          </a:p>
        </p:txBody>
      </p:sp>
    </p:spTree>
    <p:extLst>
      <p:ext uri="{BB962C8B-B14F-4D97-AF65-F5344CB8AC3E}">
        <p14:creationId xmlns:p14="http://schemas.microsoft.com/office/powerpoint/2010/main" val="1666985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1074A313-50E2-4AFD-81CD-73F72DB6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363B16-CC20-41C9-B6D4-80F6ECD2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首次运行：配置与静态扫描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7CD0A69-3921-483F-BAA7-241DE5F5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示例：便携包解压到 D:\ECRA，固件位于 D:\firmware\MyBoard，并已能正常构建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0335BD-BA08-46B3-85C9-4361964B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config-caption">
            <a:extLst xmlns:a="http://schemas.openxmlformats.org/drawingml/2006/main">
              <a:ext uri="{FF2B5EF4-FFF2-40B4-BE49-F238E27FC236}">
                <a16:creationId xmlns:a16="http://schemas.microsoft.com/office/drawing/2014/main" id="{FF5B5C9E-D91D-4841-AB62-4F0B94E2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修改 config/semantics.yaml 的对应字段</a:t>
            </a:r>
          </a:p>
        </p:txBody>
      </p:sp>
      <p:sp>
        <p:nvSpPr>
          <p:cNvPr id="6" name="first-run-yaml-0">
            <a:extLst xmlns:a="http://schemas.openxmlformats.org/drawingml/2006/main">
              <a:ext uri="{FF2B5EF4-FFF2-40B4-BE49-F238E27FC236}">
                <a16:creationId xmlns:a16="http://schemas.microsoft.com/office/drawing/2014/main" id="{B4801551-F964-42D5-86A0-995AEC44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project:</a:t>
            </a:r>
          </a:p>
        </p:txBody>
      </p:sp>
      <p:sp>
        <p:nvSpPr>
          <p:cNvPr id="7" name="first-run-yaml-1">
            <a:extLst xmlns:a="http://schemas.openxmlformats.org/drawingml/2006/main">
              <a:ext uri="{FF2B5EF4-FFF2-40B4-BE49-F238E27FC236}">
                <a16:creationId xmlns:a16="http://schemas.microsoft.com/office/drawing/2014/main" id="{68F77D68-2964-47C0-909E-D51799E8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root: D:/firmware/MyBoard</a:t>
            </a:r>
          </a:p>
        </p:txBody>
      </p:sp>
      <p:sp>
        <p:nvSpPr>
          <p:cNvPr id="8" name="first-run-yaml-2">
            <a:extLst xmlns:a="http://schemas.openxmlformats.org/drawingml/2006/main">
              <a:ext uri="{FF2B5EF4-FFF2-40B4-BE49-F238E27FC236}">
                <a16:creationId xmlns:a16="http://schemas.microsoft.com/office/drawing/2014/main" id="{D601DF21-59F7-4110-86DF-24C54C54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analysis:</a:t>
            </a:r>
          </a:p>
        </p:txBody>
      </p:sp>
      <p:sp>
        <p:nvSpPr>
          <p:cNvPr id="9" name="first-run-yaml-3">
            <a:extLst xmlns:a="http://schemas.openxmlformats.org/drawingml/2006/main">
              <a:ext uri="{FF2B5EF4-FFF2-40B4-BE49-F238E27FC236}">
                <a16:creationId xmlns:a16="http://schemas.microsoft.com/office/drawing/2014/main" id="{439837A6-A3C8-4CE7-8890-B7D82C15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include_dirs: [Core/Src, Core/Inc]</a:t>
            </a:r>
          </a:p>
        </p:txBody>
      </p:sp>
      <p:sp>
        <p:nvSpPr>
          <p:cNvPr id="10" name="first-run-yaml-4">
            <a:extLst xmlns:a="http://schemas.openxmlformats.org/drawingml/2006/main">
              <a:ext uri="{FF2B5EF4-FFF2-40B4-BE49-F238E27FC236}">
                <a16:creationId xmlns:a16="http://schemas.microsoft.com/office/drawing/2014/main" id="{26659B91-9EBE-41B4-ADFD-C074A73E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output_dir: .ecra</a:t>
            </a:r>
          </a:p>
        </p:txBody>
      </p:sp>
      <p:sp>
        <p:nvSpPr>
          <p:cNvPr id="11" name="first-run-yaml-5">
            <a:extLst xmlns:a="http://schemas.openxmlformats.org/drawingml/2006/main">
              <a:ext uri="{FF2B5EF4-FFF2-40B4-BE49-F238E27FC236}">
                <a16:creationId xmlns:a16="http://schemas.microsoft.com/office/drawing/2014/main" id="{A4D86BFC-224E-4A84-B3E6-D8D30386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cmake:</a:t>
            </a:r>
          </a:p>
        </p:txBody>
      </p:sp>
      <p:sp>
        <p:nvSpPr>
          <p:cNvPr id="12" name="first-run-yaml-6">
            <a:extLst xmlns:a="http://schemas.openxmlformats.org/drawingml/2006/main">
              <a:ext uri="{FF2B5EF4-FFF2-40B4-BE49-F238E27FC236}">
                <a16:creationId xmlns:a16="http://schemas.microsoft.com/office/drawing/2014/main" id="{BACB123B-3515-4A26-9369-89A32EAB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build_dir: build/ecra</a:t>
            </a:r>
          </a:p>
        </p:txBody>
      </p:sp>
      <p:sp>
        <p:nvSpPr>
          <p:cNvPr id="13" name="first-run-yaml-7">
            <a:extLst xmlns:a="http://schemas.openxmlformats.org/drawingml/2006/main">
              <a:ext uri="{FF2B5EF4-FFF2-40B4-BE49-F238E27FC236}">
                <a16:creationId xmlns:a16="http://schemas.microsoft.com/office/drawing/2014/main" id="{57F9BB2D-3C23-480E-AA89-80DE93A5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generator: Ninja</a:t>
            </a:r>
          </a:p>
        </p:txBody>
      </p:sp>
      <p:sp>
        <p:nvSpPr>
          <p:cNvPr id="14" name="first-run-yaml-8">
            <a:extLst xmlns:a="http://schemas.openxmlformats.org/drawingml/2006/main">
              <a:ext uri="{FF2B5EF4-FFF2-40B4-BE49-F238E27FC236}">
                <a16:creationId xmlns:a16="http://schemas.microsoft.com/office/drawing/2014/main" id="{F4CD9D6F-324D-40C5-B01F-82ED52BB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4832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build_type: Debug</a:t>
            </a:r>
          </a:p>
        </p:txBody>
      </p:sp>
      <p:sp>
        <p:nvSpPr>
          <p:cNvPr id="15" name="first-run-yaml-9">
            <a:extLst xmlns:a="http://schemas.openxmlformats.org/drawingml/2006/main">
              <a:ext uri="{FF2B5EF4-FFF2-40B4-BE49-F238E27FC236}">
                <a16:creationId xmlns:a16="http://schemas.microsoft.com/office/drawing/2014/main" id="{B6CEC2F7-14D8-4773-8312-FD5F57D7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toolchain_file: cmake/arm-none-eabi.cmake</a:t>
            </a:r>
          </a:p>
        </p:txBody>
      </p:sp>
      <p:sp>
        <p:nvSpPr>
          <p:cNvPr id="16" name="first-run-yaml-10">
            <a:extLst xmlns:a="http://schemas.openxmlformats.org/drawingml/2006/main">
              <a:ext uri="{FF2B5EF4-FFF2-40B4-BE49-F238E27FC236}">
                <a16:creationId xmlns:a16="http://schemas.microsoft.com/office/drawing/2014/main" id="{828A6E71-B44B-43B7-A983-55B8109F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7697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clean_before_configure: false</a:t>
            </a:r>
          </a:p>
        </p:txBody>
      </p:sp>
      <p:sp>
        <p:nvSpPr>
          <p:cNvPr id="17" name="first-run-yaml-11">
            <a:extLst xmlns:a="http://schemas.openxmlformats.org/drawingml/2006/main">
              <a:ext uri="{FF2B5EF4-FFF2-40B4-BE49-F238E27FC236}">
                <a16:creationId xmlns:a16="http://schemas.microsoft.com/office/drawing/2014/main" id="{7D4C025C-D52C-4371-9790-B7C9E2D1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9130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  build: true</a:t>
            </a:r>
          </a:p>
        </p:txBody>
      </p:sp>
      <p:sp>
        <p:nvSpPr>
          <p:cNvPr id="18" name="first-run-yaml-12">
            <a:extLst xmlns:a="http://schemas.openxmlformats.org/drawingml/2006/main">
              <a:ext uri="{FF2B5EF4-FFF2-40B4-BE49-F238E27FC236}">
                <a16:creationId xmlns:a16="http://schemas.microsoft.com/office/drawing/2014/main" id="{749D4D01-508D-4027-A5E7-8D125F31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05625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review:</a:t>
            </a:r>
          </a:p>
        </p:txBody>
      </p:sp>
      <p:sp>
        <p:nvSpPr>
          <p:cNvPr id="19" name="first-run-yaml-13">
            <a:extLst xmlns:a="http://schemas.openxmlformats.org/drawingml/2006/main">
              <a:ext uri="{FF2B5EF4-FFF2-40B4-BE49-F238E27FC236}">
                <a16:creationId xmlns:a16="http://schemas.microsoft.com/office/drawing/2014/main" id="{76B17D8F-ABDA-45CB-8C44-C0206BE3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795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  enabled: false</a:t>
            </a:r>
          </a:p>
        </p:txBody>
      </p:sp>
      <p:sp>
        <p:nvSpPr>
          <p:cNvPr id="20" name="powershell-caption">
            <a:extLst xmlns:a="http://schemas.openxmlformats.org/drawingml/2006/main">
              <a:ext uri="{FF2B5EF4-FFF2-40B4-BE49-F238E27FC236}">
                <a16:creationId xmlns:a16="http://schemas.microsoft.com/office/drawing/2014/main" id="{C6C7AE88-E6E7-4258-8798-26A619FA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86025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在 PowerShell 依次执行</a:t>
            </a:r>
          </a:p>
        </p:txBody>
      </p:sp>
      <p:sp>
        <p:nvSpPr>
          <p:cNvPr id="21" name="first-run-title-0">
            <a:extLst xmlns:a="http://schemas.openxmlformats.org/drawingml/2006/main">
              <a:ext uri="{FF2B5EF4-FFF2-40B4-BE49-F238E27FC236}">
                <a16:creationId xmlns:a16="http://schemas.microsoft.com/office/drawing/2014/main" id="{391E34EF-CE78-428C-A498-3FDD3A74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1 进入工具目录</a:t>
            </a:r>
          </a:p>
        </p:txBody>
      </p:sp>
      <p:sp>
        <p:nvSpPr>
          <p:cNvPr id="22" name="first-run-command-0">
            <a:extLst xmlns:a="http://schemas.openxmlformats.org/drawingml/2006/main">
              <a:ext uri="{FF2B5EF4-FFF2-40B4-BE49-F238E27FC236}">
                <a16:creationId xmlns:a16="http://schemas.microsoft.com/office/drawing/2014/main" id="{B867899F-EF41-408E-B512-C89C118B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48075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Set-Location "D:/ECRA"</a:t>
            </a:r>
          </a:p>
        </p:txBody>
      </p:sp>
      <p:sp>
        <p:nvSpPr>
          <p:cNvPr id="23" name="first-run-title-1">
            <a:extLst xmlns:a="http://schemas.openxmlformats.org/drawingml/2006/main">
              <a:ext uri="{FF2B5EF4-FFF2-40B4-BE49-F238E27FC236}">
                <a16:creationId xmlns:a16="http://schemas.microsoft.com/office/drawing/2014/main" id="{EF054B90-B1EE-4A4F-A945-7963FD83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33900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2 检查环境</a:t>
            </a:r>
          </a:p>
        </p:txBody>
      </p:sp>
      <p:sp>
        <p:nvSpPr>
          <p:cNvPr id="24" name="first-run-command-1">
            <a:extLst xmlns:a="http://schemas.openxmlformats.org/drawingml/2006/main">
              <a:ext uri="{FF2B5EF4-FFF2-40B4-BE49-F238E27FC236}">
                <a16:creationId xmlns:a16="http://schemas.microsoft.com/office/drawing/2014/main" id="{6D9E5DE7-D6A6-442A-BBE6-4CA24BE7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72050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.\ecra.cmd doctor</a:t>
            </a:r>
          </a:p>
        </p:txBody>
      </p:sp>
      <p:sp>
        <p:nvSpPr>
          <p:cNvPr id="25" name="first-run-result-1">
            <a:extLst xmlns:a="http://schemas.openxmlformats.org/drawingml/2006/main">
              <a:ext uri="{FF2B5EF4-FFF2-40B4-BE49-F238E27FC236}">
                <a16:creationId xmlns:a16="http://schemas.microsoft.com/office/drawing/2014/main" id="{0DC3A4FF-2E2E-48AD-ABE6-C28E492F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2925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有诊断时先按提示修正</a:t>
            </a:r>
          </a:p>
        </p:txBody>
      </p:sp>
      <p:sp>
        <p:nvSpPr>
          <p:cNvPr id="26" name="first-run-title-2">
            <a:extLst xmlns:a="http://schemas.openxmlformats.org/drawingml/2006/main">
              <a:ext uri="{FF2B5EF4-FFF2-40B4-BE49-F238E27FC236}">
                <a16:creationId xmlns:a16="http://schemas.microsoft.com/office/drawing/2014/main" id="{FD4F8825-C48A-4E02-95F1-242BF314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5787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3 执行静态扫描</a:t>
            </a:r>
          </a:p>
        </p:txBody>
      </p:sp>
      <p:sp>
        <p:nvSpPr>
          <p:cNvPr id="27" name="first-run-command-2">
            <a:extLst xmlns:a="http://schemas.openxmlformats.org/drawingml/2006/main">
              <a:ext uri="{FF2B5EF4-FFF2-40B4-BE49-F238E27FC236}">
                <a16:creationId xmlns:a16="http://schemas.microsoft.com/office/drawing/2014/main" id="{101C9C5D-67B5-49F7-AE03-545D45E8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296025"/>
            <a:ext cx="5095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.\ecra.cmd --no-review</a:t>
            </a:r>
          </a:p>
        </p:txBody>
      </p:sp>
      <p:sp>
        <p:nvSpPr>
          <p:cNvPr id="28" name="first-run-result-2">
            <a:extLst xmlns:a="http://schemas.openxmlformats.org/drawingml/2006/main">
              <a:ext uri="{FF2B5EF4-FFF2-40B4-BE49-F238E27FC236}">
                <a16:creationId xmlns:a16="http://schemas.microsoft.com/office/drawing/2014/main" id="{191C3E93-7200-4EEF-A9DF-3FD00CC4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753225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生成静态报告与待复核队列</a:t>
            </a:r>
          </a:p>
        </p:txBody>
      </p:sp>
      <p:sp>
        <p:nvSpPr>
          <p:cNvPr id="29" name="open-report-title">
            <a:extLst xmlns:a="http://schemas.openxmlformats.org/drawingml/2006/main">
              <a:ext uri="{FF2B5EF4-FFF2-40B4-BE49-F238E27FC236}">
                <a16:creationId xmlns:a16="http://schemas.microsoft.com/office/drawing/2014/main" id="{94D29C27-E4D7-4748-BF9B-BA21AF6E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10565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4 打开固件目录中的报告</a:t>
            </a:r>
          </a:p>
        </p:txBody>
      </p:sp>
      <p:sp>
        <p:nvSpPr>
          <p:cNvPr id="30" name="open-report-file">
            <a:extLst xmlns:a="http://schemas.openxmlformats.org/drawingml/2006/main">
              <a:ext uri="{FF2B5EF4-FFF2-40B4-BE49-F238E27FC236}">
                <a16:creationId xmlns:a16="http://schemas.microsoft.com/office/drawing/2014/main" id="{AC34E358-7F9C-447D-9427-600B60F7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5628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5D9C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45D9C"/>
                </a:solidFill>
                <a:latin typeface="Consolas"/>
                <a:ea typeface="Consolas"/>
                <a:cs typeface="Consolas"/>
              </a:rPr>
              <a:t>.ecra/index.html</a:t>
            </a:r>
          </a:p>
        </p:txBody>
      </p:sp>
      <p:sp>
        <p:nvSpPr>
          <p:cNvPr id="31" name="config-replace-note">
            <a:extLst xmlns:a="http://schemas.openxmlformats.org/drawingml/2006/main">
              <a:ext uri="{FF2B5EF4-FFF2-40B4-BE49-F238E27FC236}">
                <a16:creationId xmlns:a16="http://schemas.microsoft.com/office/drawing/2014/main" id="{D8A76865-9C86-4947-B740-0EF0683C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200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目录和工具链文件名改为工程实际值，配置合并到原文件</a:t>
            </a:r>
          </a:p>
        </p:txBody>
      </p:sp>
    </p:spTree>
    <p:extLst>
      <p:ext uri="{BB962C8B-B14F-4D97-AF65-F5344CB8AC3E}">
        <p14:creationId xmlns:p14="http://schemas.microsoft.com/office/powerpoint/2010/main" val="360374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5C53ACD2-C0E9-4E0E-A456-C3B2690A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用户赋能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BD0072-39B2-4B75-A8C9-B20BFDBC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复核与续跑：何时重扫，何时复用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BB6CA5C-E483-40DA-90CF-FE363D2F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所有命令仍在 D:\ECRA 执行。续跑前会校验源码、构建输入与静态配置指纹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C08AEA-2215-4DB9-9221-FFEA9327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review-prereq">
            <a:extLst xmlns:a="http://schemas.openxmlformats.org/drawingml/2006/main">
              <a:ext uri="{FF2B5EF4-FFF2-40B4-BE49-F238E27FC236}">
                <a16:creationId xmlns:a16="http://schemas.microsoft.com/office/drawing/2014/main" id="{373E677D-A985-4436-953C-0C275142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可选复核前提：本机 OpenCode 已配置可用模型</a:t>
            </a:r>
          </a:p>
        </p:txBody>
      </p:sp>
      <p:sp>
        <p:nvSpPr>
          <p:cNvPr id="6" name="context-locations">
            <a:extLst xmlns:a="http://schemas.openxmlformats.org/drawingml/2006/main">
              <a:ext uri="{FF2B5EF4-FFF2-40B4-BE49-F238E27FC236}">
                <a16:creationId xmlns:a16="http://schemas.microsoft.com/office/drawing/2014/main" id="{11D6DC70-9CAC-46A6-BEC6-BDA20300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668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补充工程约束：config/review_context.md</a:t>
            </a:r>
          </a:p>
          <a:p xmlns:a="http://schemas.openxmlformats.org/drawingml/2006/main">
            <a:pPr algn="l">
              <a:defRPr sz="2100" b="0">
                <a:solidFill>
                  <a:srgbClr val="173049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173049"/>
                </a:solidFill>
                <a:latin typeface="Consolas"/>
                <a:ea typeface="Consolas"/>
                <a:cs typeface="Consolas"/>
              </a:rPr>
              <a:t>追加并发案例：config/concurrency_cases.md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62000" y="4400550"/>
          <a:ext xmlns:a="http://schemas.openxmlformats.org/drawingml/2006/main" cx="137160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048250"/>
                <a:gridCol w="4953000"/>
                <a:gridCol w="3714750"/>
              </a:tblGrid>
              <a:tr h="609600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当前变化或目标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执行命令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</a:tr>
              <a:tr h="609600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 / 头文件 / 构建输入改变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.\ecra.cmd --no-review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重新扫描静态事实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 / 案例 / 复核规则更新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.\ecra.cmd review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复核全部当前疑似与未知项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609600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技术失败 TECH_FAILED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.\ecra.cmd review-failed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只重试技术失败项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仅重新生成报告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.\ecra.cmd report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lIns="152400" tIns="57150" rIns="15240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复用扫描和复核记录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review-output-location">
            <a:extLst xmlns:a="http://schemas.openxmlformats.org/drawingml/2006/main">
              <a:ext uri="{FF2B5EF4-FFF2-40B4-BE49-F238E27FC236}">
                <a16:creationId xmlns:a16="http://schemas.microsoft.com/office/drawing/2014/main" id="{A089CE33-831F-48E3-8145-E1E3DF9B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05725"/>
            <a:ext cx="1369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复核结果：固件目录 .ecra/opencode_review.html</a:t>
            </a:r>
          </a:p>
        </p:txBody>
      </p:sp>
    </p:spTree>
    <p:extLst>
      <p:ext uri="{BB962C8B-B14F-4D97-AF65-F5344CB8AC3E}">
        <p14:creationId xmlns:p14="http://schemas.microsoft.com/office/powerpoint/2010/main" val="117618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2026-10-18T12:47:57.9310000Z</dcterms:created>
  <dcterms:modified xsi:type="dcterms:W3CDTF">2026-10-18T12:47:57.9310000Z</dcterms:modified>
</coreProperties>
</file>