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40454f4394af4" /><Relationship Type="http://schemas.openxmlformats.org/officeDocument/2006/relationships/extended-properties" Target="/docProps/app.xml" Id="Rd4ff37a3c9b74335" /><Relationship Type="http://schemas.openxmlformats.org/officeDocument/2006/relationships/officeDocument" Target="/ppt/presentation.xml" Id="R4a1c00237a8b4f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cec061755c48e7"/>
  </p:sldMasterIdLst>
  <p:notesMasterIdLst>
    <p:notesMasterId xmlns:r="http://schemas.openxmlformats.org/officeDocument/2006/relationships" r:id="Rf338329ca7e94b8b"/>
  </p:notesMasterIdLst>
  <p:sldIdLst>
    <p:sldId xmlns:r="http://schemas.openxmlformats.org/officeDocument/2006/relationships" id="256" r:id="R944da087f4e84db4"/>
    <p:sldId xmlns:r="http://schemas.openxmlformats.org/officeDocument/2006/relationships" id="257" r:id="Rc4a85217a3934ccb"/>
    <p:sldId xmlns:r="http://schemas.openxmlformats.org/officeDocument/2006/relationships" id="258" r:id="R0a95ad8ba83d47d0"/>
    <p:sldId xmlns:r="http://schemas.openxmlformats.org/officeDocument/2006/relationships" id="259" r:id="Rce5d407941184052"/>
    <p:sldId xmlns:r="http://schemas.openxmlformats.org/officeDocument/2006/relationships" id="260" r:id="Re1b4ff6e83fa4514"/>
    <p:sldId xmlns:r="http://schemas.openxmlformats.org/officeDocument/2006/relationships" id="261" r:id="R240c61334d494360"/>
    <p:sldId xmlns:r="http://schemas.openxmlformats.org/officeDocument/2006/relationships" id="262" r:id="Rd95b97f0a7f0407d"/>
    <p:sldId xmlns:r="http://schemas.openxmlformats.org/officeDocument/2006/relationships" id="263" r:id="Rc531905157124772"/>
    <p:sldId xmlns:r="http://schemas.openxmlformats.org/officeDocument/2006/relationships" id="264" r:id="Re547766e18864a28"/>
    <p:sldId xmlns:r="http://schemas.openxmlformats.org/officeDocument/2006/relationships" id="265" r:id="R6673568f206147d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ba75dbf4534412" /><Relationship Type="http://schemas.openxmlformats.org/officeDocument/2006/relationships/slideMaster" Target="/ppt/slideMasters/slideMaster1.xml" Id="R25cec061755c48e7" /><Relationship Type="http://schemas.openxmlformats.org/officeDocument/2006/relationships/notesMaster" Target="/ppt/notesMasters/notesMaster1.xml" Id="Rf338329ca7e94b8b" /><Relationship Type="http://schemas.openxmlformats.org/officeDocument/2006/relationships/presProps" Target="/ppt/presProps.xml" Id="R1bf754689a6745a0" /><Relationship Type="http://schemas.openxmlformats.org/officeDocument/2006/relationships/tableStyles" Target="/ppt/tableStyles.xml" Id="Re93727512f4142ce" /><Relationship Type="http://schemas.openxmlformats.org/officeDocument/2006/relationships/slide" Target="/ppt/slides/slide1.xml" Id="R944da087f4e84db4" /><Relationship Type="http://schemas.openxmlformats.org/officeDocument/2006/relationships/slide" Target="/ppt/slides/slide2.xml" Id="Rc4a85217a3934ccb" /><Relationship Type="http://schemas.openxmlformats.org/officeDocument/2006/relationships/slide" Target="/ppt/slides/slide3.xml" Id="R0a95ad8ba83d47d0" /><Relationship Type="http://schemas.openxmlformats.org/officeDocument/2006/relationships/slide" Target="/ppt/slides/slide4.xml" Id="Rce5d407941184052" /><Relationship Type="http://schemas.openxmlformats.org/officeDocument/2006/relationships/slide" Target="/ppt/slides/slide5.xml" Id="Re1b4ff6e83fa4514" /><Relationship Type="http://schemas.openxmlformats.org/officeDocument/2006/relationships/slide" Target="/ppt/slides/slide6.xml" Id="R240c61334d494360" /><Relationship Type="http://schemas.openxmlformats.org/officeDocument/2006/relationships/slide" Target="/ppt/slides/slide7.xml" Id="Rd95b97f0a7f0407d" /><Relationship Type="http://schemas.openxmlformats.org/officeDocument/2006/relationships/slide" Target="/ppt/slides/slide8.xml" Id="Rc531905157124772" /><Relationship Type="http://schemas.openxmlformats.org/officeDocument/2006/relationships/slide" Target="/ppt/slides/slide9.xml" Id="Re547766e18864a28" /><Relationship Type="http://schemas.openxmlformats.org/officeDocument/2006/relationships/slide" Target="/ppt/slides/slide10.xml" Id="R6673568f206147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6998c8fb3749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caea96207546ca" /><Relationship Type="http://schemas.openxmlformats.org/officeDocument/2006/relationships/notesMaster" Target="/ppt/notesMasters/notesMaster1.xml" Id="Rd22dbebeffa5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5fba248d9548ef" /><Relationship Type="http://schemas.openxmlformats.org/officeDocument/2006/relationships/notesMaster" Target="/ppt/notesMasters/notesMaster1.xml" Id="Rcb5cb19810b146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7e313fa53649c4" /><Relationship Type="http://schemas.openxmlformats.org/officeDocument/2006/relationships/notesMaster" Target="/ppt/notesMasters/notesMaster1.xml" Id="Rf68fdae7f6844b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89171f2316441a" /><Relationship Type="http://schemas.openxmlformats.org/officeDocument/2006/relationships/notesMaster" Target="/ppt/notesMasters/notesMaster1.xml" Id="Rc33ea0b073a144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025bace8d44860" /><Relationship Type="http://schemas.openxmlformats.org/officeDocument/2006/relationships/notesMaster" Target="/ppt/notesMasters/notesMaster1.xml" Id="R1534f7bc11614c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207eafd8f44fe" /><Relationship Type="http://schemas.openxmlformats.org/officeDocument/2006/relationships/notesMaster" Target="/ppt/notesMasters/notesMaster1.xml" Id="R0033c7e22b6044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251df4656b4833" /><Relationship Type="http://schemas.openxmlformats.org/officeDocument/2006/relationships/notesMaster" Target="/ppt/notesMasters/notesMaster1.xml" Id="R0281007c6ea843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ff45cbc7994850" /><Relationship Type="http://schemas.openxmlformats.org/officeDocument/2006/relationships/notesMaster" Target="/ppt/notesMasters/notesMaster1.xml" Id="R1e3c30ba613943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70a44c1c814ab9" /><Relationship Type="http://schemas.openxmlformats.org/officeDocument/2006/relationships/notesMaster" Target="/ppt/notesMasters/notesMaster1.xml" Id="R03b7deb9de6c48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bf758aabf942f1" /><Relationship Type="http://schemas.openxmlformats.org/officeDocument/2006/relationships/notesMaster" Target="/ppt/notesMasters/notesMaster1.xml" Id="Rfeeefd8d03b94e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设动机来自项目设计文档。静态存储期并不限制调用函数的执行上下文。这里的主循环/中断为常见裸机场景示意，不代表整个工具仅识别这两类入口。工具恢复调用关系、指针别名和上下文，输出变量台账、证据、候选与缺口；工程师仍需核查业务协议及必要的目标板行为。没有工时节省比例或准确率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codex_global_static_concurrency_design.md §22 与结语</a:t>
            </a:r>
          </a:p>
          <a:p xmlns:a="http://schemas.openxmlformats.org/drawingml/2006/main">
            <a:r>
              <a:t>stm32_baremetal_concurrency_tool_design_final.md §1 建设目标</a:t>
            </a:r>
          </a:p>
          <a:p xmlns:a="http://schemas.openxmlformats.org/drawingml/2006/main">
            <a:r>
              <a:t>docs/variable-investigation-guide.md §1、§2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本图以用户需要理解的功能分层展示完整处理架构。真实工程与静态配置进入本地静态主链；工程背景、案例库和模型只进入复核层。对应实现：命令入口 run_ecra.py / cli.main；cli.run 与 workflow.saved_run 调度并验证输入；compilation.prepare 刷新真实编译库/按配置构建；独立 extract 工作进程提取 AST 及 pointer_extract 约束；points_to、context_points、storage、context_graph、physical、protection、initialization、evidence 与 analysis 共同恢复对象/执行/保护关系并形成逐变量证据。facts.json/facts.db、inventory、reports、scan_state.json、input_manifest.json、review/queue.json 组成逻辑上的共享证据与状态层，并不表示独立部署的数据库服务。report.generate 在模型前先保存静态报告，review_all 可选处理普通 SUSPECT/UNKNOWN、独立覆盖缺口及显式质量抽样，之后汇总报告。两份 HTML 都以静态事实为底稿，复核关闭时仍有待处理状态。review_context.md 与 concurrency_cases.md 是待源码核实的辅助材料。源码哈希、静态实现、分析配置和构建参数决定保存扫描是否可复用，异常及续跑见第8、10页。交付与验证支撑独立于客户日常 run：build_portable.ps1 生成离线便携包，tests 提供回归，validate_stm32_cdc.py 准备独立固件基准并调用分析/复核，预期答案与模型可读工程隔离；replay_stm32_interleavings.py 在源样例副本中插入有限调度钩子，独立检查指定观察结果。该回放不是外设仿真或目标板测试，不能据此声称任意用户固件已在板上验证。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ecra/cli.py run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ecra/extract.py</a:t>
            </a:r>
          </a:p>
          <a:p xmlns:a="http://schemas.openxmlformats.org/drawingml/2006/main">
            <a:r>
              <a:t>ecra/pointer_extract.py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ecra/points_to.py</a:t>
            </a:r>
          </a:p>
          <a:p xmlns:a="http://schemas.openxmlformats.org/drawingml/2006/main">
            <a:r>
              <a:t>ecra/context_points.py</a:t>
            </a:r>
          </a:p>
          <a:p xmlns:a="http://schemas.openxmlformats.org/drawingml/2006/main">
            <a:r>
              <a:t>ecra/storage.py</a:t>
            </a:r>
          </a:p>
          <a:p xmlns:a="http://schemas.openxmlformats.org/drawingml/2006/main">
            <a:r>
              <a:t>ecra/analysis.py context_graph</a:t>
            </a:r>
          </a:p>
          <a:p xmlns:a="http://schemas.openxmlformats.org/drawingml/2006/main">
            <a:r>
              <a:t>ecra/physical.py</a:t>
            </a:r>
          </a:p>
          <a:p xmlns:a="http://schemas.openxmlformats.org/drawingml/2006/main">
            <a:r>
              <a:t>ecra/protection.py</a:t>
            </a:r>
          </a:p>
          <a:p xmlns:a="http://schemas.openxmlformats.org/drawingml/2006/main">
            <a:r>
              <a:t>ecra/evidence.py classify</a:t>
            </a:r>
          </a:p>
          <a:p xmlns:a="http://schemas.openxmlformats.org/drawingml/2006/main">
            <a:r>
              <a:t>ecra/workflow.py</a:t>
            </a:r>
          </a:p>
          <a:p xmlns:a="http://schemas.openxmlformats.org/drawingml/2006/main">
            <a:r>
              <a:t>ecra/review.py review_all</a:t>
            </a:r>
          </a:p>
          <a:p xmlns:a="http://schemas.openxmlformats.org/drawingml/2006/main">
            <a:r>
              <a:t>ecra/report.py generate</a:t>
            </a:r>
          </a:p>
          <a:p xmlns:a="http://schemas.openxmlformats.org/drawingml/2006/main">
            <a:r>
              <a:t>build_portable.ps1</a:t>
            </a:r>
          </a:p>
          <a:p xmlns:a="http://schemas.openxmlformats.org/drawingml/2006/main">
            <a:r>
              <a:t>scripts/validate_stm32_cdc.py</a:t>
            </a:r>
          </a:p>
          <a:p xmlns:a="http://schemas.openxmlformats.org/drawingml/2006/main">
            <a:r>
              <a:t>scripts/replay_stm32_interleavings.py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这是成功完成静态阶段的总时序，异常处理在第8页展开。cli.run 加载配置、获取扫描锁、归档旧输出，调用 compilation.prepare 刷新真实 compile_commands.json 并按配置构建。逐编译单元隔离调用 extract，把各文件结果合并；analysis.analyze 完成指针/入口/物理上下文、存储、保护/初始化与逐变量判定。静态阶段输入变化或关键求解不收敛会失败，不生成有效新扫描。第一次 report.generate 与 workflow.save_scan 保存事实、静态报告、扫描快照和 PENDING 队列，发生在模型调用前。review.enabled=true 且有目标时，review_all 生成每个目标的证据包，读取项目背景/案例，调用只读 OpenCode 并逐项更新归档和状态，可输出检查点；关闭复核时跳过该框。最后再次校验输入，变更则把复核结果标过期/未完成，generate 汇总两份 HTML、JSON、Markdown 与 SQLite。返回的不只是风险结果，也包含覆盖、待处理项与完整性状态。技术失败和语义信息不足分别保留，不能把一个完成标签理解成安全。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ecra/cli.py run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ecra/workflow.py save_scan</a:t>
            </a:r>
          </a:p>
          <a:p xmlns:a="http://schemas.openxmlformats.org/drawingml/2006/main">
            <a:r>
              <a:t>ecra/review.py review_all</a:t>
            </a:r>
          </a:p>
          <a:p xmlns:a="http://schemas.openxmlformats.org/drawingml/2006/main">
            <a:r>
              <a:t>ecra/report.py generate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编译单元是一次编译所处理的 C/C++ 源文件及其实际包含的头文件，而不是把仓库所有文件拼在一起。CMake 每次正常 run 刷新编译库，是否执行固件构建由 analysis.cmake.build 控制，已有编译数据库也可接入。真实 CPU 参数、-D 宏、-I 路径、语言标准和响应文件保留给 libclang AST。AST 是按本次编译配置解析的语法树，不运行固件，也不生成运行轨迹。extract / pointer_extract 收集声明、直接读写/读改写/取址、调用、指针约束、回调注册、DMA/保护线索及源码位置。默认 build_closure_only:true，按当前构建及配置的实际链接闭包分析；范围外但参与构建的依赖继续恢复访问和调用。include/exclude 针对变量定义归属，不能据此删掉第三方对业务变量的写入路径。构建外代码只有在关闭 build_closure_only 的补充盘点模式下保留 OUT_OF_BUILD 声明，不计当前分类，不送当前固件复核。普通单文件解析失败/超时记录诊断，保留已恢复事实及相关缺口，处理见第8页。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ecra/scope.py AuditScope</a:t>
            </a:r>
          </a:p>
          <a:p xmlns:a="http://schemas.openxmlformats.org/drawingml/2006/main">
            <a:r>
              <a:t>ecra/cli.py 逐编译单元提取与 supplement 分支</a:t>
            </a:r>
          </a:p>
          <a:p xmlns:a="http://schemas.openxmlformats.org/drawingml/2006/main">
            <a:r>
              <a:t>ecra/extract.py</a:t>
            </a:r>
          </a:p>
          <a:p xmlns:a="http://schemas.openxmlformats.org/drawingml/2006/main">
            <a:r>
              <a:t>ecra/pointer_extract.py</a:t>
            </a:r>
          </a:p>
          <a:p xmlns:a="http://schemas.openxmlformats.org/drawingml/2006/main">
            <a:r>
              <a:t>ecra/supplemental.py</a:t>
            </a:r>
          </a:p>
          <a:p xmlns:a="http://schemas.openxmlformats.org/drawingml/2006/main">
            <a:r>
              <a:t>ecra/analysis.py analyze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这三条示例来自项目变量教程。main→Service_Poll；TIM2_IRQHandler→Service_Sample；USART2_IRQHandler→HAL_UART_IRQHandler→UART_Receive_IT→HAL_UART_RxCpltCallback→Service_Rx，最后一个路径需结合 huart==&amp;huart2 的真实条件核对。图将中间 HAL 调用压缩成一段分发链，不表示注册时同步执行回调。教程中其他保守传播入口仍需排除，不能把每个候选目标都当成必经运行路径。points_to 跨文件恢复指针与间接调用、注册入口及 DMA 方向；context_points 在物理执行域中细化参数/自动局部别名，全局存储仍共享；storage 处理 extern/内部链接、成员/已知数组元素及重叠；context_graph/physical 将实际入口沿调用图传播。main 的同步函数/回调仍归 FOREGROUND，同一物理 IRQ 的串行调用不因路径多就互相并发；不同 IRQ/任务实例分别保留。任务、DMA、外部异步和未知上下文也参与建模，未恢复信息进入变量相关缺口，而非推定安全。最终每个规范存储对象聚合全部访问、上下文、调用见证、保护、初始化、快照/一致性证据和相关未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docs/variable-investigation-guide.md §1.2–1.3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ecra/points_to.py</a:t>
            </a:r>
          </a:p>
          <a:p xmlns:a="http://schemas.openxmlformats.org/drawingml/2006/main">
            <a:r>
              <a:t>ecra/context_points.py</a:t>
            </a:r>
          </a:p>
          <a:p xmlns:a="http://schemas.openxmlformats.org/drawingml/2006/main">
            <a:r>
              <a:t>ecra/storage.py</a:t>
            </a:r>
          </a:p>
          <a:p xmlns:a="http://schemas.openxmlformats.org/drawingml/2006/main">
            <a:r>
              <a:t>ecra/analysis.py context_graph</a:t>
            </a:r>
          </a:p>
          <a:p xmlns:a="http://schemas.openxmlformats.org/drawingml/2006/main">
            <a:r>
              <a:t>ecra/physical.py</a:t>
            </a:r>
          </a:p>
          <a:p xmlns:a="http://schemas.openxmlformats.org/drawingml/2006/main">
            <a:r>
              <a:t>ecra/evidence.py VariableEvidenceSlice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上方沿用 pending_events：Service_Poll 读取旧快照后清零，TIM2 的 Service_Sample 在其间修改事件位，当前证据没有证明完整互斥，因而保留 SUSPECT。它是静态候选，是否实际可发生应结合源码条件、IRQ/调度约束和必要的业务测试核对。下表按证据含义分组，并非用四个短句代替全部源码门禁。classify 的实际逻辑：从可能并发且有写冲突、两端物理域已知的访问对开始；完整 EFFECTIVE 保护清除相应冲突，严格初始化在异步源启用之前的证明清除相应初始化对。无读观察的内部普通写入在严格限制下有特殊 SAFE_UNOBSERVED_WRITES 证明。之后已知破坏性冲突优先 SUSPECT；严格共享单物理写者/纯读观察证明成立时 SHARED_NO_REVIEW；变量关键缺口可给 UNKNOWN；剩余修改候选仍 SUSPECT；其余有安全理由的为 SAFE_PROVEN。SHARED 门禁还限制类型/对齐/访问方式、DMA/外部异步、重入、快照/协议一致性与相关未知，不能凭单写者或32位直接通过。SHARED 不是安全证明，没有 safe_reason_code。覆盖 COMPLETE/PARTIAL 独立于分类，相关未知不能抹掉已经恢复的冲突。有效保护要求覆盖完整的访问/协议窗口及相关执行者，出现 Lock 或关中断 API 不足以证明安全。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ecra/evidence.py classify、shared_no_review_proof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ecra/protection.py</a:t>
            </a:r>
          </a:p>
          <a:p xmlns:a="http://schemas.openxmlformats.org/drawingml/2006/main">
            <a:r>
              <a:t>docs/variable-investigation-guide.md §1.4–1.6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Packet 由 build_variable_review_packet 根据唯一变量对象聚合属性、全部访问、所有冲突/上下文、路径、保护/初始化与未知证据，并指向静态事实和当前源码；不是只把一个规则名交给模型。review_context.md 的工程声明仍需源码核实，concurrency_cases.md 通过当前快照/索引导航到相关案例。旧 AI 答案不会混入 static-report.json 充当静态事实。OpenCode 的 ecra-review agent 只读查阅源码和案例，答案包含五类语义之一、理由、缺失信息及文件/行引用。review_contract 检查 ID、枚举、结构、理由和引用证据等契约，校验来源和格式不等价证明模型推理或硬件安全。条件框包含两种独立机制：READ_THEN_WRITEBACK Packet 的安全/误报答复遗漏窗口阻断评估时最多一次 STALE_WRITEBACK_CHALLENGE；结构/契约失败可最多两次 FORMAT_FIX，格式修复只收原答复与错误，不再读取源码。调用超时/启动失败另有配置的有界技术重试，失败为 TECH_FAILED。合法答复为 DONE，但 LIKELY 与 NEED_MORE_CONTEXT 仍是语义未解决。按目标保存不可覆盖的时间戳 Packet、prompt、原始 stdout/stderr、模型、时间、SHA-256 和 receipt，队列逐项更新并可重写报告检查点。报告保留静态分类和模型结论两个维度，模型安全答复不会改写原静态证据。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ecra/review.py review_all、process、invoke</a:t>
            </a:r>
          </a:p>
          <a:p xmlns:a="http://schemas.openxmlformats.org/drawingml/2006/main">
            <a:r>
              <a:t>ecra/review.py build_variable_review_packet</a:t>
            </a:r>
          </a:p>
          <a:p xmlns:a="http://schemas.openxmlformats.org/drawingml/2006/main">
            <a:r>
              <a:t>ecra/review_contract.py</a:t>
            </a:r>
          </a:p>
          <a:p xmlns:a="http://schemas.openxmlformats.org/drawingml/2006/main">
            <a:r>
              <a:t>docs/opencode-review-format.md</a:t>
            </a:r>
          </a:p>
          <a:p xmlns:a="http://schemas.openxmlformats.org/drawingml/2006/main">
            <a:r>
              <a:t>config/review_context.md</a:t>
            </a:r>
          </a:p>
          <a:p xmlns:a="http://schemas.openxmlformats.org/drawingml/2006/main">
            <a:r>
              <a:t>config/concurrency_cases.md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致命配置/依赖/CMake 错误进入 cli.run FAILED，旧有效状态会归档且当次 scan_state 在扫描前移除；关键指针求解 POINTS_TO_LIMIT 不收敛也抛错，不能把截断访问集标安全。普通单编译单元解析失败/超时被记录为 FAILED 诊断，继续合并已经恢复的事实；未知入口、间接调用和外部调用等普通关系缺口按与变量/上游路径的相关性传播，不把项目任何缺口一律赋给所有变量，也不覆盖已知破坏性冲突。--no-review 或 review.enabled:false 默认不调用模型，PENDING 队列和静态报告仍在。单项模型启动/超时/格式无法修复等为 TECH_FAILED，其他结果与归档继续保留，review-failed 只重试该状态。KeyboardInterrupt 在已有完整静态快照时保存队列，可重新 review；静态阶段尚未完成则重新 run。review 会重评当前全部静态 SUSPECT/UNKNOWN，包括以前 DONE 的项。DONE + LIKELY/NEED_MORE_CONTEXT 是技术完成但语义未解决，补充背景或源码依据后 review。源码/头文件/编译参数、分析配置或静态实现变化会使保存扫描校验失败，须重扫；扫描/复核期间输入变化也会拒绝一致性证明或把答复标过期。CMake 诊断见 cmake-configure.log、cmake-build.log；提取/覆盖诊断见 run.log 和静态报告。静态逻辑摘要、事实/报告摘要与源文件哈希都会检查。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ecra/cli.py run 异常、快照与 finally</a:t>
            </a:r>
          </a:p>
          <a:p xmlns:a="http://schemas.openxmlformats.org/drawingml/2006/main">
            <a:r>
              <a:t>ecra/analysis.py POINTS_TO_LIMIT、SOURCE_CHANGED_DURING_SCAN</a:t>
            </a:r>
          </a:p>
          <a:p xmlns:a="http://schemas.openxmlformats.org/drawingml/2006/main">
            <a:r>
              <a:t>ecra/workflow.py checked_scan、saved_run</a:t>
            </a:r>
          </a:p>
          <a:p xmlns:a="http://schemas.openxmlformats.org/drawingml/2006/main">
            <a:r>
              <a:t>ecra/review.py review_all 及 fail</a:t>
            </a:r>
          </a:p>
          <a:p xmlns:a="http://schemas.openxmlformats.org/drawingml/2006/main">
            <a:r>
              <a:t>ecra/review_integrity.py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沿用当前目录已有的 ECRA-Portable_培训配套.zip 作为 Windows 便携包。解压后让 ecra.cmd、config、runtime、tools 同级放在 D:/ECRA，固件另放 D:/firmware/MyBoard，两个路径均为教学示例。左侧是修改原配置相应字段的可解析 YAML 摘录，不是覆盖完整配置，不应新增重复 project/analysis/review 节。include_dirs 要加入全部自有业务代码，原 exclude_dirs/exclude_files 也按所有权核对。build/ecra 是专用构建目录，generator、build_type、toolchain_file、额外 args 必须保持真实固件构建选项；工程已经加载正确工具链时可删 toolchain_file。clean_before_configure:false 保留专用缓存以便增量运行。doctor 仅作环境与编译库准备诊断，不执行变量扫描或构建固件。--no-review 关闭本次模型复核，仍保存静态候选。报告在固件 .ecra 下。后续可自动打开或通过文件管理器打开 index.html。CMake 失败查看 .ecra/cmake-configure.log、cmake-build.log，覆盖失败按报告中的诊断处理。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config/semantics.yaml</a:t>
            </a:r>
          </a:p>
          <a:p xmlns:a="http://schemas.openxmlformats.org/drawingml/2006/main">
            <a:r>
              <a:t>ecra/cli.py run doctor_only 分支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docs/one-command-tutorial.md</a:t>
            </a:r>
          </a:p>
          <a:p xmlns:a="http://schemas.openxmlformats.org/drawingml/2006/main">
            <a:r>
              <a:t>build_portable.ps1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完整输出还包括 inventory/global_static_inventory、reports/global_static_concurrency、facts.json/facts.db、scan_state.json、input_manifest.json、review/queue.json 和时间戳复核归档，两个 HTML 是用户主入口。上方状态组合是解释性示例，不是声称当前某个真实变量有此结果。静态 SUSPECT 不会被 AI 覆写，DONE 仅指执行完成，NEED_MORE_CONTEXT 表示语义信息不足。CONFIRMED 应处理风险，LIKELY/NEED_MORE_CONTEXT 应补证，REVIEWED_SAFE/FALSE_POSITIVE 应保留源码依据和安全前提。修复后重扫并通过针对性业务/交错测试验证，候选消失不等于已修复。saved_run 在 review、review-failed 和 report 前检查配置、静态实现、facts/report 摘要以及源/头/编译库指纹，过期拒绝复用。review 显式强制开启复核并重评当前全部静态 SUSPECT/UNKNOWN，即使普通 run 配置 review.enabled:false；review-failed 只选 TECH_FAILED；report 不调用模型。只改工程背景、案例、模型或复核提示词可复用静态事实，但应重新复核受影响判断；源码、构建/静态配置变更应按第9页重新扫描。首次使用模型需已安装且配置可用 OpenCode，便携包本身不提供模型账户。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ecra/report.py generate</a:t>
            </a:r>
          </a:p>
          <a:p xmlns:a="http://schemas.openxmlformats.org/drawingml/2006/main">
            <a:r>
              <a:t>ecra/workflow.py checked_scan、saved_run</a:t>
            </a:r>
          </a:p>
          <a:p xmlns:a="http://schemas.openxmlformats.org/drawingml/2006/main">
            <a:r>
              <a:t>ecra/review.py review_all mode 选择</a:t>
            </a:r>
          </a:p>
          <a:p xmlns:a="http://schemas.openxmlformats.org/drawingml/2006/main">
            <a:r>
              <a:t>docs/one-command-tutorial.md</a:t>
            </a:r>
          </a:p>
          <a:p xmlns:a="http://schemas.openxmlformats.org/drawingml/2006/main">
            <a:r>
              <a:t>docs/variable-investigation-guide.md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53c8c6139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f5b0bfac91438b" /><Relationship Type="http://schemas.openxmlformats.org/officeDocument/2006/relationships/slideLayout" Target="/ppt/slideLayouts/slideLayout1.xml" Id="R01e6b0e7817a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6b0e7817a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9116a94274dbc" /><Relationship Type="http://schemas.openxmlformats.org/officeDocument/2006/relationships/notesSlide" Target="/ppt/notesSlides/notesSlide1.xml" Id="Rfffc3a56e8a344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18aa6eefa46db" /><Relationship Type="http://schemas.openxmlformats.org/officeDocument/2006/relationships/notesSlide" Target="/ppt/notesSlides/notesSlide2.xml" Id="Refdec51ec95d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4e7f031bc4ae6" /><Relationship Type="http://schemas.openxmlformats.org/officeDocument/2006/relationships/notesSlide" Target="/ppt/notesSlides/notesSlide3.xml" Id="R9c77062bd029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26de1091447fc" /><Relationship Type="http://schemas.openxmlformats.org/officeDocument/2006/relationships/notesSlide" Target="/ppt/notesSlides/notesSlide4.xml" Id="R02cd719c7b424e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c4e1de04a44d6" /><Relationship Type="http://schemas.openxmlformats.org/officeDocument/2006/relationships/notesSlide" Target="/ppt/notesSlides/notesSlide5.xml" Id="R5a3fdc6b24e849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826896e3e403d" /><Relationship Type="http://schemas.openxmlformats.org/officeDocument/2006/relationships/notesSlide" Target="/ppt/notesSlides/notesSlide6.xml" Id="Re3f93774adba4a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3fb7ca84f4fc5" /><Relationship Type="http://schemas.openxmlformats.org/officeDocument/2006/relationships/notesSlide" Target="/ppt/notesSlides/notesSlide7.xml" Id="R333aecf7ed6948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7735fa5114531" /><Relationship Type="http://schemas.openxmlformats.org/officeDocument/2006/relationships/notesSlide" Target="/ppt/notesSlides/notesSlide8.xml" Id="R4e8041adb72e42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11df021c54d95" /><Relationship Type="http://schemas.openxmlformats.org/officeDocument/2006/relationships/notesSlide" Target="/ppt/notesSlides/notesSlide9.xml" Id="R628ca205c13744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ab409c83c4efd" /><Relationship Type="http://schemas.openxmlformats.org/officeDocument/2006/relationships/notesSlide" Target="/ppt/notesSlides/notesSlide10.xml" Id="R994a7dc738084e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D661BC31-8CC7-42DA-937A-D0AAEFB1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E2E13A-AAA2-4C6D-8701-A483A66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为什么需要 ECRA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77B5C66-1188-47D8-B33D-3EEDED27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面向 STM32 工程的全局 / static 变量并发排查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F5BB6C-4300-45D3-8F9E-6BF8870E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motivation">
            <a:extLst xmlns:a="http://schemas.openxmlformats.org/drawingml/2006/main">
              <a:ext uri="{FF2B5EF4-FFF2-40B4-BE49-F238E27FC236}">
                <a16:creationId xmlns:a16="http://schemas.microsoft.com/office/drawing/2014/main" id="{6AF4CF14-46FC-4453-8969-99DDC4F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3668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变量分散在文件中，实际读写者隐藏在调用链里</a:t>
            </a:r>
          </a:p>
        </p:txBody>
      </p:sp>
      <p:sp>
        <p:nvSpPr>
          <p:cNvPr id="6" name="foreground">
            <a:extLst xmlns:a="http://schemas.openxmlformats.org/drawingml/2006/main">
              <a:ext uri="{FF2B5EF4-FFF2-40B4-BE49-F238E27FC236}">
                <a16:creationId xmlns:a16="http://schemas.microsoft.com/office/drawing/2014/main" id="{6CAA56FD-BDDA-472D-BA92-87C57052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主循环</a:t>
            </a:r>
          </a:p>
        </p:txBody>
      </p:sp>
      <p:sp>
        <p:nvSpPr>
          <p:cNvPr id="7" name="irq-callback">
            <a:extLst xmlns:a="http://schemas.openxmlformats.org/drawingml/2006/main">
              <a:ext uri="{FF2B5EF4-FFF2-40B4-BE49-F238E27FC236}">
                <a16:creationId xmlns:a16="http://schemas.microsoft.com/office/drawing/2014/main" id="{A6677968-32DE-4018-BB3C-CAAC9625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中断 / 回调</a:t>
            </a:r>
          </a:p>
        </p:txBody>
      </p:sp>
      <p:sp>
        <p:nvSpPr>
          <p:cNvPr id="8" name="shared-object">
            <a:extLst xmlns:a="http://schemas.openxmlformats.org/drawingml/2006/main">
              <a:ext uri="{FF2B5EF4-FFF2-40B4-BE49-F238E27FC236}">
                <a16:creationId xmlns:a16="http://schemas.microsoft.com/office/drawing/2014/main" id="{AD346B5E-D59D-460B-9F2B-8E104F1E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243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同一全局 / static 变量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29000" y="3981450"/>
            <a:ext cx="1857375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29000" y="4819650"/>
            <a:ext cx="1857375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manual-work">
            <a:extLst xmlns:a="http://schemas.openxmlformats.org/drawingml/2006/main">
              <a:ext uri="{FF2B5EF4-FFF2-40B4-BE49-F238E27FC236}">
                <a16:creationId xmlns:a16="http://schemas.microsoft.com/office/drawing/2014/main" id="{F5753F40-F37A-43BE-845D-EB84813E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2481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人工排查需要追踪全部路径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源码变化后还要重新核对</a:t>
            </a:r>
          </a:p>
        </p:txBody>
      </p:sp>
      <p:sp>
        <p:nvSpPr>
          <p:cNvPr id="12" name="risk-examples">
            <a:extLst xmlns:a="http://schemas.openxmlformats.org/drawingml/2006/main">
              <a:ext uri="{FF2B5EF4-FFF2-40B4-BE49-F238E27FC236}">
                <a16:creationId xmlns:a16="http://schemas.microsoft.com/office/drawing/2014/main" id="{7204BD1A-0CF0-498B-9310-7FDF2BB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77025"/>
            <a:ext cx="13696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可能出现：丢事件、旧值覆盖、DMA 缓冲区复用冲突</a:t>
            </a:r>
          </a:p>
        </p:txBody>
      </p:sp>
      <p:sp>
        <p:nvSpPr>
          <p:cNvPr id="13" name="purpose">
            <a:extLst xmlns:a="http://schemas.openxmlformats.org/drawingml/2006/main">
              <a:ext uri="{FF2B5EF4-FFF2-40B4-BE49-F238E27FC236}">
                <a16:creationId xmlns:a16="http://schemas.microsoft.com/office/drawing/2014/main" id="{B1A8CBA8-C177-40AF-845F-80494840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86650"/>
            <a:ext cx="13696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自动生成逐变量证据与候选队列，工程师据此核查时序、验证修复</a:t>
            </a:r>
          </a:p>
        </p:txBody>
      </p:sp>
    </p:spTree>
    <p:extLst>
      <p:ext uri="{BB962C8B-B14F-4D97-AF65-F5344CB8AC3E}">
        <p14:creationId xmlns:p14="http://schemas.microsoft.com/office/powerpoint/2010/main" val="152148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5D69652D-E6D0-4B4F-896E-4C26EB31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3FFAF8-B833-421A-9DFC-EABD136F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整体架构：静态主链、证据库与可选复核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1A13D6C-51B9-4CC7-8BBB-58E92F82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上方决定本次分析对象，中间生成变量证据，下方交付报告与复核结果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12F030-7C27-4D39-A5C6-B9FCD30E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firmware-input">
            <a:extLst xmlns:a="http://schemas.openxmlformats.org/drawingml/2006/main">
              <a:ext uri="{FF2B5EF4-FFF2-40B4-BE49-F238E27FC236}">
                <a16:creationId xmlns:a16="http://schemas.microsoft.com/office/drawing/2014/main" id="{A6ABAF16-0274-43EB-A151-D7D721A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固件工程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源码、头文件、真实构建配置</a:t>
            </a:r>
          </a:p>
        </p:txBody>
      </p:sp>
      <p:sp>
        <p:nvSpPr>
          <p:cNvPr id="6" name="static-config-input">
            <a:extLst xmlns:a="http://schemas.openxmlformats.org/drawingml/2006/main">
              <a:ext uri="{FF2B5EF4-FFF2-40B4-BE49-F238E27FC236}">
                <a16:creationId xmlns:a16="http://schemas.microsoft.com/office/drawing/2014/main" id="{2BD07D5F-D978-4A20-9E1F-F703C1E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19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静态语义配置  semantics.yaml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变量范围、执行入口、注册与 API 语义</a:t>
            </a:r>
          </a:p>
        </p:txBody>
      </p:sp>
      <p:sp>
        <p:nvSpPr>
          <p:cNvPr id="7" name="static-engine-boundary">
            <a:extLst xmlns:a="http://schemas.openxmlformats.org/drawingml/2006/main">
              <a:ext uri="{FF2B5EF4-FFF2-40B4-BE49-F238E27FC236}">
                <a16:creationId xmlns:a16="http://schemas.microsoft.com/office/drawing/2014/main" id="{98F45040-14D5-469F-B2D3-24FA5BC4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1371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B9C8"/>
            </a:solidFill>
          </a:ln>
        </p:spPr>
      </p:sp>
      <p:sp>
        <p:nvSpPr>
          <p:cNvPr id="8" name="engine-label">
            <a:extLst xmlns:a="http://schemas.openxmlformats.org/drawingml/2006/main">
              <a:ext uri="{FF2B5EF4-FFF2-40B4-BE49-F238E27FC236}">
                <a16:creationId xmlns:a16="http://schemas.microsoft.com/office/drawing/2014/main" id="{376ECE58-C847-43E7-BEB8-A8B0D3A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本地静态分析</a:t>
            </a:r>
          </a:p>
        </p:txBody>
      </p:sp>
      <p:sp>
        <p:nvSpPr>
          <p:cNvPr id="9" name="anchor-1">
            <a:extLst xmlns:a="http://schemas.openxmlformats.org/drawingml/2006/main">
              <a:ext uri="{FF2B5EF4-FFF2-40B4-BE49-F238E27FC236}">
                <a16:creationId xmlns:a16="http://schemas.microsoft.com/office/drawing/2014/main" id="{1BCAEC5B-75C2-4071-AD27-FBB53DA7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048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anchor-2">
            <a:extLst xmlns:a="http://schemas.openxmlformats.org/drawingml/2006/main">
              <a:ext uri="{FF2B5EF4-FFF2-40B4-BE49-F238E27FC236}">
                <a16:creationId xmlns:a16="http://schemas.microsoft.com/office/drawing/2014/main" id="{440FC57B-1B7D-46DB-B9C5-88DF493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505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095750" y="3067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anchor-3">
            <a:extLst xmlns:a="http://schemas.openxmlformats.org/drawingml/2006/main">
              <a:ext uri="{FF2B5EF4-FFF2-40B4-BE49-F238E27FC236}">
                <a16:creationId xmlns:a16="http://schemas.microsoft.com/office/drawing/2014/main" id="{04B8462E-B04E-4FFB-8FD3-106C499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048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anchor-4">
            <a:extLst xmlns:a="http://schemas.openxmlformats.org/drawingml/2006/main">
              <a:ext uri="{FF2B5EF4-FFF2-40B4-BE49-F238E27FC236}">
                <a16:creationId xmlns:a16="http://schemas.microsoft.com/office/drawing/2014/main" id="{C4DD8138-6565-48B4-BD63-507828E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05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382375" y="3067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stage-build">
            <a:extLst xmlns:a="http://schemas.openxmlformats.org/drawingml/2006/main">
              <a:ext uri="{FF2B5EF4-FFF2-40B4-BE49-F238E27FC236}">
                <a16:creationId xmlns:a16="http://schemas.microsoft.com/office/drawing/2014/main" id="{6111B057-79D2-4A38-819D-95AFBC59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① 确定真实构建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本次文件、宏与头文件</a:t>
            </a:r>
          </a:p>
        </p:txBody>
      </p:sp>
      <p:sp>
        <p:nvSpPr>
          <p:cNvPr id="16" name="stage-extract">
            <a:extLst xmlns:a="http://schemas.openxmlformats.org/drawingml/2006/main">
              <a:ext uri="{FF2B5EF4-FFF2-40B4-BE49-F238E27FC236}">
                <a16:creationId xmlns:a16="http://schemas.microsoft.com/office/drawing/2014/main" id="{06331FC8-DEBC-46DA-A46C-D5FB1EE0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② 逐文件提取事实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变量、读写、调用</a:t>
            </a:r>
          </a:p>
        </p:txBody>
      </p:sp>
      <p:sp>
        <p:nvSpPr>
          <p:cNvPr id="17" name="stage-recover">
            <a:extLst xmlns:a="http://schemas.openxmlformats.org/drawingml/2006/main">
              <a:ext uri="{FF2B5EF4-FFF2-40B4-BE49-F238E27FC236}">
                <a16:creationId xmlns:a16="http://schemas.microsoft.com/office/drawing/2014/main" id="{9AB7486D-A37B-432F-B9F7-C4521D1D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③ 全工程关联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存储、执行者、保护</a:t>
            </a:r>
          </a:p>
        </p:txBody>
      </p:sp>
      <p:sp>
        <p:nvSpPr>
          <p:cNvPr id="18" name="stage-classify">
            <a:extLst xmlns:a="http://schemas.openxmlformats.org/drawingml/2006/main">
              <a:ext uri="{FF2B5EF4-FFF2-40B4-BE49-F238E27FC236}">
                <a16:creationId xmlns:a16="http://schemas.microsoft.com/office/drawing/2014/main" id="{02C3FB2B-6825-4EBB-9940-2319F690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057650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④ 逐变量判定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分类、缺口与依据</a:t>
            </a:r>
          </a:p>
        </p:txBody>
      </p:sp>
      <p:cxnSp>
        <p:nvCxnSpPr>
          <p:cNvPr id="6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10000" y="44624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34250" y="44624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858500" y="44624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evidence-store">
            <a:extLst xmlns:a="http://schemas.openxmlformats.org/drawingml/2006/main">
              <a:ext uri="{FF2B5EF4-FFF2-40B4-BE49-F238E27FC236}">
                <a16:creationId xmlns:a16="http://schemas.microsoft.com/office/drawing/2014/main" id="{94FBCE76-0CCF-4830-9CCD-0C5D8F03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371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共享证据库：静态事实 + 变量台账 + 覆盖缺口 + 扫描快照 + 复核队列</a:t>
            </a:r>
          </a:p>
        </p:txBody>
      </p:sp>
      <p:cxnSp>
        <p:nvCxnSpPr>
          <p:cNvPr id="71" name=""/>
          <p:cNvCxnSpPr>
            <a:stCxn xmlns:a="http://schemas.openxmlformats.org/drawingml/2006/main" id="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7620000" y="513397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static-report">
            <a:extLst xmlns:a="http://schemas.openxmlformats.org/drawingml/2006/main">
              <a:ext uri="{FF2B5EF4-FFF2-40B4-BE49-F238E27FC236}">
                <a16:creationId xmlns:a16="http://schemas.microsoft.com/office/drawing/2014/main" id="{BBE63F55-A10C-4D53-9AEB-84500AA1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3810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全量静态报告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index.html</a:t>
            </a:r>
          </a:p>
        </p:txBody>
      </p:sp>
      <p:sp>
        <p:nvSpPr>
          <p:cNvPr id="25" name="review-input">
            <a:extLst xmlns:a="http://schemas.openxmlformats.org/drawingml/2006/main">
              <a:ext uri="{FF2B5EF4-FFF2-40B4-BE49-F238E27FC236}">
                <a16:creationId xmlns:a16="http://schemas.microsoft.com/office/drawing/2014/main" id="{AF4C0556-1F96-4663-A4F7-1DC179AF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0552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工程背景 / 并发案例 / 可用模型</a:t>
            </a:r>
          </a:p>
        </p:txBody>
      </p:sp>
      <p:sp>
        <p:nvSpPr>
          <p:cNvPr id="26" name="optional-review">
            <a:extLst xmlns:a="http://schemas.openxmlformats.org/drawingml/2006/main">
              <a:ext uri="{FF2B5EF4-FFF2-40B4-BE49-F238E27FC236}">
                <a16:creationId xmlns:a16="http://schemas.microsoft.com/office/drawing/2014/main" id="{6EA5ACA2-D876-4415-8892-86F6E77B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762750"/>
            <a:ext cx="476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可选：逐变量 AI 复核</a:t>
            </a:r>
          </a:p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源码核查、答案校验与原始归档</a:t>
            </a:r>
          </a:p>
        </p:txBody>
      </p:sp>
      <p:sp>
        <p:nvSpPr>
          <p:cNvPr id="27" name="review-report">
            <a:extLst xmlns:a="http://schemas.openxmlformats.org/drawingml/2006/main">
              <a:ext uri="{FF2B5EF4-FFF2-40B4-BE49-F238E27FC236}">
                <a16:creationId xmlns:a16="http://schemas.microsoft.com/office/drawing/2014/main" id="{192186F6-1755-4049-99ED-3B1A4F0B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762750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复核报告</a:t>
            </a:r>
          </a:p>
          <a:p xmlns:a="http://schemas.openxmlformats.org/drawingml/2006/main">
            <a:pPr algn="ctr">
              <a:defRPr sz="17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opencode_review.html</a:t>
            </a:r>
          </a:p>
        </p:txBody>
      </p:sp>
      <p:sp>
        <p:nvSpPr>
          <p:cNvPr id="28" name="anchor-5">
            <a:extLst xmlns:a="http://schemas.openxmlformats.org/drawingml/2006/main">
              <a:ext uri="{FF2B5EF4-FFF2-40B4-BE49-F238E27FC236}">
                <a16:creationId xmlns:a16="http://schemas.microsoft.com/office/drawing/2014/main" id="{CEDB0CF8-B1CF-4181-949D-46C1A56A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anchor-6">
            <a:extLst xmlns:a="http://schemas.openxmlformats.org/drawingml/2006/main">
              <a:ext uri="{FF2B5EF4-FFF2-40B4-BE49-F238E27FC236}">
                <a16:creationId xmlns:a16="http://schemas.microsoft.com/office/drawing/2014/main" id="{1A3B718D-B56D-4A52-B7F9-351C784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6753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2667000" y="60293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1" name="anchor-7">
            <a:extLst xmlns:a="http://schemas.openxmlformats.org/drawingml/2006/main">
              <a:ext uri="{FF2B5EF4-FFF2-40B4-BE49-F238E27FC236}">
                <a16:creationId xmlns:a16="http://schemas.microsoft.com/office/drawing/2014/main" id="{5EF2F1E8-49F0-45EA-85AB-EA32E32E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anchor-8">
            <a:extLst xmlns:a="http://schemas.openxmlformats.org/drawingml/2006/main">
              <a:ext uri="{FF2B5EF4-FFF2-40B4-BE49-F238E27FC236}">
                <a16:creationId xmlns:a16="http://schemas.microsoft.com/office/drawing/2014/main" id="{3F6EE010-B799-4589-80FD-62EF6D66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11041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5238750" y="6029325"/>
            <a:ext cx="0" cy="108108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4" name="anchor-9">
            <a:extLst xmlns:a="http://schemas.openxmlformats.org/drawingml/2006/main">
              <a:ext uri="{FF2B5EF4-FFF2-40B4-BE49-F238E27FC236}">
                <a16:creationId xmlns:a16="http://schemas.microsoft.com/office/drawing/2014/main" id="{96E56F82-2857-447E-8802-935A2E80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11041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anchor-10">
            <a:extLst xmlns:a="http://schemas.openxmlformats.org/drawingml/2006/main">
              <a:ext uri="{FF2B5EF4-FFF2-40B4-BE49-F238E27FC236}">
                <a16:creationId xmlns:a16="http://schemas.microsoft.com/office/drawing/2014/main" id="{219047E6-9BA4-426D-A970-B91D873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11041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248275" y="711993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7" name="review-routing-label">
            <a:extLst xmlns:a="http://schemas.openxmlformats.org/drawingml/2006/main">
              <a:ext uri="{FF2B5EF4-FFF2-40B4-BE49-F238E27FC236}">
                <a16:creationId xmlns:a16="http://schemas.microsoft.com/office/drawing/2014/main" id="{B773110E-57BD-42F9-9D64-40F68425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1912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候选与</a:t>
            </a:r>
          </a:p>
          <a:p xmlns:a="http://schemas.openxmlformats.org/drawingml/2006/main">
            <a:pPr algn="l">
              <a:def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独立缺口</a:t>
            </a:r>
          </a:p>
        </p:txBody>
      </p:sp>
      <p:sp>
        <p:nvSpPr>
          <p:cNvPr id="38" name="anchor-11">
            <a:extLst xmlns:a="http://schemas.openxmlformats.org/drawingml/2006/main">
              <a:ext uri="{FF2B5EF4-FFF2-40B4-BE49-F238E27FC236}">
                <a16:creationId xmlns:a16="http://schemas.microsoft.com/office/drawing/2014/main" id="{98960B3B-A791-4016-9C7A-A810AB6E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53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anchor-12">
            <a:extLst xmlns:a="http://schemas.openxmlformats.org/drawingml/2006/main">
              <a:ext uri="{FF2B5EF4-FFF2-40B4-BE49-F238E27FC236}">
                <a16:creationId xmlns:a16="http://schemas.microsoft.com/office/drawing/2014/main" id="{1BFDCF4A-625F-401C-98B5-C9AC7906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753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8096250" y="65722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1" name="anchor-13">
            <a:extLst xmlns:a="http://schemas.openxmlformats.org/drawingml/2006/main">
              <a:ext uri="{FF2B5EF4-FFF2-40B4-BE49-F238E27FC236}">
                <a16:creationId xmlns:a16="http://schemas.microsoft.com/office/drawing/2014/main" id="{6BED25D6-7E9D-4651-B7DF-07A07E2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anchor-14">
            <a:extLst xmlns:a="http://schemas.openxmlformats.org/drawingml/2006/main">
              <a:ext uri="{FF2B5EF4-FFF2-40B4-BE49-F238E27FC236}">
                <a16:creationId xmlns:a16="http://schemas.microsoft.com/office/drawing/2014/main" id="{FBF30BA4-4F63-44F1-A481-862DA1E0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6753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13049250" y="60293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0477500" y="711993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5" name="anchor-15">
            <a:extLst xmlns:a="http://schemas.openxmlformats.org/drawingml/2006/main">
              <a:ext uri="{FF2B5EF4-FFF2-40B4-BE49-F238E27FC236}">
                <a16:creationId xmlns:a16="http://schemas.microsoft.com/office/drawing/2014/main" id="{53631DDE-B361-4D6B-B94F-F6DBD586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715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anchor-16">
            <a:extLst xmlns:a="http://schemas.openxmlformats.org/drawingml/2006/main">
              <a:ext uri="{FF2B5EF4-FFF2-40B4-BE49-F238E27FC236}">
                <a16:creationId xmlns:a16="http://schemas.microsoft.com/office/drawing/2014/main" id="{8346E2BD-12C4-4BC4-978C-40179617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7715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71525" y="7724775"/>
            <a:ext cx="13696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9C8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48" name="engineering-support">
            <a:extLst xmlns:a="http://schemas.openxmlformats.org/drawingml/2006/main">
              <a:ext uri="{FF2B5EF4-FFF2-40B4-BE49-F238E27FC236}">
                <a16:creationId xmlns:a16="http://schemas.microsoft.com/office/drawing/2014/main" id="{8349682F-16E0-45F2-9022-8D296868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86700"/>
            <a:ext cx="1304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交付与验证支撑：便携包、单元回归、CDC 固件基准、样例交错回放（独立运行）</a:t>
            </a:r>
          </a:p>
        </p:txBody>
      </p:sp>
    </p:spTree>
    <p:extLst>
      <p:ext uri="{BB962C8B-B14F-4D97-AF65-F5344CB8AC3E}">
        <p14:creationId xmlns:p14="http://schemas.microsoft.com/office/powerpoint/2010/main" val="125130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60A68BD8-F837-493A-B9D8-0408823F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0B487B-0648-478A-9183-95F45A39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完整执行时序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B0A44F3-4983-4EA0-96F6-8E011508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先保存静态证据，再按需复核，最后校验与汇总。时间自上向下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E6D36C-A024-4CE3-B643-8F246B6F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participant-用户">
            <a:extLst xmlns:a="http://schemas.openxmlformats.org/drawingml/2006/main">
              <a:ext uri="{FF2B5EF4-FFF2-40B4-BE49-F238E27FC236}">
                <a16:creationId xmlns:a16="http://schemas.microsoft.com/office/drawing/2014/main" id="{0A92A397-7271-4D13-A8D4-09E2C93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8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6" name="anchor-17">
            <a:extLst xmlns:a="http://schemas.openxmlformats.org/drawingml/2006/main">
              <a:ext uri="{FF2B5EF4-FFF2-40B4-BE49-F238E27FC236}">
                <a16:creationId xmlns:a16="http://schemas.microsoft.com/office/drawing/2014/main" id="{574C8ADD-EBA6-40E8-9F89-7CDF2DD3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nchor-18">
            <a:extLst xmlns:a="http://schemas.openxmlformats.org/drawingml/2006/main">
              <a:ext uri="{FF2B5EF4-FFF2-40B4-BE49-F238E27FC236}">
                <a16:creationId xmlns:a16="http://schemas.microsoft.com/office/drawing/2014/main" id="{4DDEA9C1-41A2-49A0-8EAC-A8AA584F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8020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524000" y="3000375"/>
            <a:ext cx="0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9" name="participant-工具调度">
            <a:extLst xmlns:a="http://schemas.openxmlformats.org/drawingml/2006/main">
              <a:ext uri="{FF2B5EF4-FFF2-40B4-BE49-F238E27FC236}">
                <a16:creationId xmlns:a16="http://schemas.microsoft.com/office/drawing/2014/main" id="{B360F145-E18D-46DB-9F38-C22CDDAC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工具调度</a:t>
            </a:r>
          </a:p>
        </p:txBody>
      </p:sp>
      <p:sp>
        <p:nvSpPr>
          <p:cNvPr id="10" name="anchor-19">
            <a:extLst xmlns:a="http://schemas.openxmlformats.org/drawingml/2006/main">
              <a:ext uri="{FF2B5EF4-FFF2-40B4-BE49-F238E27FC236}">
                <a16:creationId xmlns:a16="http://schemas.microsoft.com/office/drawing/2014/main" id="{11F1E0EE-4646-49BD-9050-8326CE5C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20">
            <a:extLst xmlns:a="http://schemas.openxmlformats.org/drawingml/2006/main">
              <a:ext uri="{FF2B5EF4-FFF2-40B4-BE49-F238E27FC236}">
                <a16:creationId xmlns:a16="http://schemas.microsoft.com/office/drawing/2014/main" id="{ED3858D5-964D-402B-9EAC-AEA4093D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8020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476750" y="3000375"/>
            <a:ext cx="0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3" name="participant-静态引擎">
            <a:extLst xmlns:a="http://schemas.openxmlformats.org/drawingml/2006/main">
              <a:ext uri="{FF2B5EF4-FFF2-40B4-BE49-F238E27FC236}">
                <a16:creationId xmlns:a16="http://schemas.microsoft.com/office/drawing/2014/main" id="{8D079F9C-D1D9-473A-B3EC-20247513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静态引擎</a:t>
            </a:r>
          </a:p>
        </p:txBody>
      </p:sp>
      <p:sp>
        <p:nvSpPr>
          <p:cNvPr id="14" name="anchor-21">
            <a:extLst xmlns:a="http://schemas.openxmlformats.org/drawingml/2006/main">
              <a:ext uri="{FF2B5EF4-FFF2-40B4-BE49-F238E27FC236}">
                <a16:creationId xmlns:a16="http://schemas.microsoft.com/office/drawing/2014/main" id="{7628FAB5-7B35-443E-BF51-1B8C000F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22">
            <a:extLst xmlns:a="http://schemas.openxmlformats.org/drawingml/2006/main">
              <a:ext uri="{FF2B5EF4-FFF2-40B4-BE49-F238E27FC236}">
                <a16:creationId xmlns:a16="http://schemas.microsoft.com/office/drawing/2014/main" id="{AF2707D4-F26B-4EE4-B722-903525A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8020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429500" y="3000375"/>
            <a:ext cx="0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7" name="participant-证据与状态">
            <a:extLst xmlns:a="http://schemas.openxmlformats.org/drawingml/2006/main">
              <a:ext uri="{FF2B5EF4-FFF2-40B4-BE49-F238E27FC236}">
                <a16:creationId xmlns:a16="http://schemas.microsoft.com/office/drawing/2014/main" id="{10A76793-67A7-41CB-B110-E34783B1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证据与状态</a:t>
            </a:r>
          </a:p>
        </p:txBody>
      </p:sp>
      <p:sp>
        <p:nvSpPr>
          <p:cNvPr id="18" name="anchor-23">
            <a:extLst xmlns:a="http://schemas.openxmlformats.org/drawingml/2006/main">
              <a:ext uri="{FF2B5EF4-FFF2-40B4-BE49-F238E27FC236}">
                <a16:creationId xmlns:a16="http://schemas.microsoft.com/office/drawing/2014/main" id="{D8CDB777-3D96-40E1-BA28-9B055DC9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24">
            <a:extLst xmlns:a="http://schemas.openxmlformats.org/drawingml/2006/main">
              <a:ext uri="{FF2B5EF4-FFF2-40B4-BE49-F238E27FC236}">
                <a16:creationId xmlns:a16="http://schemas.microsoft.com/office/drawing/2014/main" id="{9F55E01B-D472-4311-A18C-268DA10B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8020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382250" y="3000375"/>
            <a:ext cx="0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1" name="participant-可选复核">
            <a:extLst xmlns:a="http://schemas.openxmlformats.org/drawingml/2006/main">
              <a:ext uri="{FF2B5EF4-FFF2-40B4-BE49-F238E27FC236}">
                <a16:creationId xmlns:a16="http://schemas.microsoft.com/office/drawing/2014/main" id="{4F84CEAF-1FA6-4CD1-869A-604DB1F6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38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可选复核</a:t>
            </a:r>
          </a:p>
        </p:txBody>
      </p:sp>
      <p:sp>
        <p:nvSpPr>
          <p:cNvPr id="22" name="anchor-25">
            <a:extLst xmlns:a="http://schemas.openxmlformats.org/drawingml/2006/main">
              <a:ext uri="{FF2B5EF4-FFF2-40B4-BE49-F238E27FC236}">
                <a16:creationId xmlns:a16="http://schemas.microsoft.com/office/drawing/2014/main" id="{79A5B6C5-D3BF-41A3-86A7-032FC3EA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anchor-26">
            <a:extLst xmlns:a="http://schemas.openxmlformats.org/drawingml/2006/main">
              <a:ext uri="{FF2B5EF4-FFF2-40B4-BE49-F238E27FC236}">
                <a16:creationId xmlns:a16="http://schemas.microsoft.com/office/drawing/2014/main" id="{61293A9F-2585-4D76-85FD-5241E2D9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8020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3335000" y="3000375"/>
            <a:ext cx="0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5" name="anchor-27">
            <a:extLst xmlns:a="http://schemas.openxmlformats.org/drawingml/2006/main">
              <a:ext uri="{FF2B5EF4-FFF2-40B4-BE49-F238E27FC236}">
                <a16:creationId xmlns:a16="http://schemas.microsoft.com/office/drawing/2014/main" id="{DD34591E-2E5C-4918-A68B-B221A538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28">
            <a:extLst xmlns:a="http://schemas.openxmlformats.org/drawingml/2006/main">
              <a:ext uri="{FF2B5EF4-FFF2-40B4-BE49-F238E27FC236}">
                <a16:creationId xmlns:a16="http://schemas.microsoft.com/office/drawing/2014/main" id="{65A478B6-24C9-40CE-9460-4139B09A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533525" y="3333750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message-29">
            <a:extLst xmlns:a="http://schemas.openxmlformats.org/drawingml/2006/main">
              <a:ext uri="{FF2B5EF4-FFF2-40B4-BE49-F238E27FC236}">
                <a16:creationId xmlns:a16="http://schemas.microsoft.com/office/drawing/2014/main" id="{94D377C5-23F0-4557-9846-1319A1B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81325"/>
            <a:ext cx="3810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1 读取配置，启动 run</a:t>
            </a:r>
          </a:p>
        </p:txBody>
      </p:sp>
      <p:sp>
        <p:nvSpPr>
          <p:cNvPr id="29" name="anchor-30">
            <a:extLst xmlns:a="http://schemas.openxmlformats.org/drawingml/2006/main">
              <a:ext uri="{FF2B5EF4-FFF2-40B4-BE49-F238E27FC236}">
                <a16:creationId xmlns:a16="http://schemas.microsoft.com/office/drawing/2014/main" id="{63065388-DCC7-4AFD-93C4-5EE1FF8C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71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31">
            <a:extLst xmlns:a="http://schemas.openxmlformats.org/drawingml/2006/main">
              <a:ext uri="{FF2B5EF4-FFF2-40B4-BE49-F238E27FC236}">
                <a16:creationId xmlns:a16="http://schemas.microsoft.com/office/drawing/2014/main" id="{D54BBD04-2C29-42C8-BFDC-52678C61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71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486275" y="3981450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2" name="message-32">
            <a:extLst xmlns:a="http://schemas.openxmlformats.org/drawingml/2006/main">
              <a:ext uri="{FF2B5EF4-FFF2-40B4-BE49-F238E27FC236}">
                <a16:creationId xmlns:a16="http://schemas.microsoft.com/office/drawing/2014/main" id="{3F8C1185-1C6A-4169-A495-3893EFDA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29025"/>
            <a:ext cx="2714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2 构建与静态分析</a:t>
            </a:r>
          </a:p>
        </p:txBody>
      </p:sp>
      <p:sp>
        <p:nvSpPr>
          <p:cNvPr id="33" name="anchor-33">
            <a:extLst xmlns:a="http://schemas.openxmlformats.org/drawingml/2006/main">
              <a:ext uri="{FF2B5EF4-FFF2-40B4-BE49-F238E27FC236}">
                <a16:creationId xmlns:a16="http://schemas.microsoft.com/office/drawing/2014/main" id="{D25C6A29-B60F-4847-85F4-6C458537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629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34">
            <a:extLst xmlns:a="http://schemas.openxmlformats.org/drawingml/2006/main">
              <a:ext uri="{FF2B5EF4-FFF2-40B4-BE49-F238E27FC236}">
                <a16:creationId xmlns:a16="http://schemas.microsoft.com/office/drawing/2014/main" id="{757FE931-CA60-47E9-A08C-15A2A9E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29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33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4486275" y="4638675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6" name="message-35">
            <a:extLst xmlns:a="http://schemas.openxmlformats.org/drawingml/2006/main">
              <a:ext uri="{FF2B5EF4-FFF2-40B4-BE49-F238E27FC236}">
                <a16:creationId xmlns:a16="http://schemas.microsoft.com/office/drawing/2014/main" id="{1C1784FB-6F83-4B5B-9A3E-F46533D1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86250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3 返回分类与变量证据</a:t>
            </a:r>
          </a:p>
        </p:txBody>
      </p:sp>
      <p:sp>
        <p:nvSpPr>
          <p:cNvPr id="37" name="anchor-36">
            <a:extLst xmlns:a="http://schemas.openxmlformats.org/drawingml/2006/main">
              <a:ext uri="{FF2B5EF4-FFF2-40B4-BE49-F238E27FC236}">
                <a16:creationId xmlns:a16="http://schemas.microsoft.com/office/drawing/2014/main" id="{40111588-3C0D-4A35-9A25-B10F8514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86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anchor-37">
            <a:extLst xmlns:a="http://schemas.openxmlformats.org/drawingml/2006/main">
              <a:ext uri="{FF2B5EF4-FFF2-40B4-BE49-F238E27FC236}">
                <a16:creationId xmlns:a16="http://schemas.microsoft.com/office/drawing/2014/main" id="{C7CE450D-DEB5-44E4-887A-67A3EA75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286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486275" y="5295900"/>
            <a:ext cx="5886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0" name="message-38">
            <a:extLst xmlns:a="http://schemas.openxmlformats.org/drawingml/2006/main">
              <a:ext uri="{FF2B5EF4-FFF2-40B4-BE49-F238E27FC236}">
                <a16:creationId xmlns:a16="http://schemas.microsoft.com/office/drawing/2014/main" id="{3D22C4B9-EAE1-451D-99DD-DDF35B29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43475"/>
            <a:ext cx="561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4 保存静态报告、快照与待复核队列</a:t>
            </a:r>
          </a:p>
        </p:txBody>
      </p:sp>
      <p:sp>
        <p:nvSpPr>
          <p:cNvPr id="41" name="optional-review-fragment">
            <a:extLst xmlns:a="http://schemas.openxmlformats.org/drawingml/2006/main">
              <a:ext uri="{FF2B5EF4-FFF2-40B4-BE49-F238E27FC236}">
                <a16:creationId xmlns:a16="http://schemas.microsoft.com/office/drawing/2014/main" id="{645D59BF-7F51-4106-B68A-97910106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676900"/>
            <a:ext cx="1095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714F"/>
            </a:solidFill>
          </a:ln>
        </p:spPr>
      </p:sp>
      <p:sp>
        <p:nvSpPr>
          <p:cNvPr id="42" name="optional-review-condition">
            <a:extLst xmlns:a="http://schemas.openxmlformats.org/drawingml/2006/main">
              <a:ext uri="{FF2B5EF4-FFF2-40B4-BE49-F238E27FC236}">
                <a16:creationId xmlns:a16="http://schemas.microsoft.com/office/drawing/2014/main" id="{EB27D0DC-6316-426E-A806-84CE917C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435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opt  开启复核且有目标</a:t>
            </a:r>
          </a:p>
        </p:txBody>
      </p:sp>
      <p:sp>
        <p:nvSpPr>
          <p:cNvPr id="43" name="anchor-39">
            <a:extLst xmlns:a="http://schemas.openxmlformats.org/drawingml/2006/main">
              <a:ext uri="{FF2B5EF4-FFF2-40B4-BE49-F238E27FC236}">
                <a16:creationId xmlns:a16="http://schemas.microsoft.com/office/drawing/2014/main" id="{E693AFFE-8C45-4E6A-A4E5-7CA068B0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6248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anchor-40">
            <a:extLst xmlns:a="http://schemas.openxmlformats.org/drawingml/2006/main">
              <a:ext uri="{FF2B5EF4-FFF2-40B4-BE49-F238E27FC236}">
                <a16:creationId xmlns:a16="http://schemas.microsoft.com/office/drawing/2014/main" id="{500758D1-7739-4101-B450-B43BD908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6248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4486275" y="6257925"/>
            <a:ext cx="8839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6" name="message-41">
            <a:extLst xmlns:a="http://schemas.openxmlformats.org/drawingml/2006/main">
              <a:ext uri="{FF2B5EF4-FFF2-40B4-BE49-F238E27FC236}">
                <a16:creationId xmlns:a16="http://schemas.microsoft.com/office/drawing/2014/main" id="{2B00D53E-7BD6-49D9-AF22-6C3E5EA4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05500"/>
            <a:ext cx="628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5 使用静态证据，逐变量复核</a:t>
            </a:r>
          </a:p>
        </p:txBody>
      </p:sp>
      <p:sp>
        <p:nvSpPr>
          <p:cNvPr id="47" name="anchor-42">
            <a:extLst xmlns:a="http://schemas.openxmlformats.org/drawingml/2006/main">
              <a:ext uri="{FF2B5EF4-FFF2-40B4-BE49-F238E27FC236}">
                <a16:creationId xmlns:a16="http://schemas.microsoft.com/office/drawing/2014/main" id="{1204E70C-CA16-4402-8B40-A860E99E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6915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anchor-43">
            <a:extLst xmlns:a="http://schemas.openxmlformats.org/drawingml/2006/main">
              <a:ext uri="{FF2B5EF4-FFF2-40B4-BE49-F238E27FC236}">
                <a16:creationId xmlns:a16="http://schemas.microsoft.com/office/drawing/2014/main" id="{E2FF31FF-2778-4C86-958D-CD69127F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6915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47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10391775" y="6924675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0" name="message-44">
            <a:extLst xmlns:a="http://schemas.openxmlformats.org/drawingml/2006/main">
              <a:ext uri="{FF2B5EF4-FFF2-40B4-BE49-F238E27FC236}">
                <a16:creationId xmlns:a16="http://schemas.microsoft.com/office/drawing/2014/main" id="{8D8F988F-44F3-480E-AA3F-F40BC66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572250"/>
            <a:ext cx="3857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6 校验、归档、更新队列</a:t>
            </a:r>
          </a:p>
        </p:txBody>
      </p:sp>
      <p:sp>
        <p:nvSpPr>
          <p:cNvPr id="51" name="anchor-45">
            <a:extLst xmlns:a="http://schemas.openxmlformats.org/drawingml/2006/main">
              <a:ext uri="{FF2B5EF4-FFF2-40B4-BE49-F238E27FC236}">
                <a16:creationId xmlns:a16="http://schemas.microsoft.com/office/drawing/2014/main" id="{3D64DEC4-2030-428B-A836-5B85B86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524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anchor-46">
            <a:extLst xmlns:a="http://schemas.openxmlformats.org/drawingml/2006/main">
              <a:ext uri="{FF2B5EF4-FFF2-40B4-BE49-F238E27FC236}">
                <a16:creationId xmlns:a16="http://schemas.microsoft.com/office/drawing/2014/main" id="{0863D2DE-92FD-4D41-A0B3-1F65EC18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7524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4486275" y="7534275"/>
            <a:ext cx="5886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4" name="message-47">
            <a:extLst xmlns:a="http://schemas.openxmlformats.org/drawingml/2006/main">
              <a:ext uri="{FF2B5EF4-FFF2-40B4-BE49-F238E27FC236}">
                <a16:creationId xmlns:a16="http://schemas.microsoft.com/office/drawing/2014/main" id="{0FAAFB3D-FB75-4220-B5F0-7312E3FF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181850"/>
            <a:ext cx="561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7 再查输入指纹，汇总两份报告</a:t>
            </a:r>
          </a:p>
        </p:txBody>
      </p:sp>
      <p:sp>
        <p:nvSpPr>
          <p:cNvPr id="55" name="anchor-48">
            <a:extLst xmlns:a="http://schemas.openxmlformats.org/drawingml/2006/main">
              <a:ext uri="{FF2B5EF4-FFF2-40B4-BE49-F238E27FC236}">
                <a16:creationId xmlns:a16="http://schemas.microsoft.com/office/drawing/2014/main" id="{B3634F2D-0DEA-46ED-A961-72F3107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799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anchor-49">
            <a:extLst xmlns:a="http://schemas.openxmlformats.org/drawingml/2006/main">
              <a:ext uri="{FF2B5EF4-FFF2-40B4-BE49-F238E27FC236}">
                <a16:creationId xmlns:a16="http://schemas.microsoft.com/office/drawing/2014/main" id="{9C837331-C432-4E10-A117-2947997D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799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1533525" y="8001000"/>
            <a:ext cx="8839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58" name="message-50">
            <a:extLst xmlns:a="http://schemas.openxmlformats.org/drawingml/2006/main">
              <a:ext uri="{FF2B5EF4-FFF2-40B4-BE49-F238E27FC236}">
                <a16:creationId xmlns:a16="http://schemas.microsoft.com/office/drawing/2014/main" id="{17A07FFF-19A2-4454-ADFE-040AD465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648575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8 返回报告与未解决项</a:t>
            </a:r>
          </a:p>
        </p:txBody>
      </p:sp>
    </p:spTree>
    <p:extLst>
      <p:ext uri="{BB962C8B-B14F-4D97-AF65-F5344CB8AC3E}">
        <p14:creationId xmlns:p14="http://schemas.microsoft.com/office/powerpoint/2010/main" val="1953212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C6BEEA00-FF60-4138-9484-2C7696A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1E889F-F8C7-49DF-84B0-BD30122A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静态阶段①②：真实构建如何变成事实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66C1CD2-D200-48E4-88EC-382F27D5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同一份源码在不同宏或构建变体下可能有不同路径，工具沿用实际编译参数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72DFDD-EC83-4ABA-A310-A56CE54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eal-build">
            <a:extLst xmlns:a="http://schemas.openxmlformats.org/drawingml/2006/main">
              <a:ext uri="{FF2B5EF4-FFF2-40B4-BE49-F238E27FC236}">
                <a16:creationId xmlns:a16="http://schemas.microsoft.com/office/drawing/2014/main" id="{758B5D02-00D9-4DF4-AB41-D0A4666F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真实构建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CMake 或已有编译库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保持实际芯片宏与头文件</a:t>
            </a:r>
          </a:p>
        </p:txBody>
      </p:sp>
      <p:sp>
        <p:nvSpPr>
          <p:cNvPr id="6" name="parse-units">
            <a:extLst xmlns:a="http://schemas.openxmlformats.org/drawingml/2006/main">
              <a:ext uri="{FF2B5EF4-FFF2-40B4-BE49-F238E27FC236}">
                <a16:creationId xmlns:a16="http://schemas.microsoft.com/office/drawing/2014/main" id="{998BEEA3-6388-44EC-ACAE-CFDB332B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逐编译单元解析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每份 .c / .cpp 与其头文件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提取生效代码的语法事实</a:t>
            </a:r>
          </a:p>
        </p:txBody>
      </p:sp>
      <p:sp>
        <p:nvSpPr>
          <p:cNvPr id="7" name="extracted-facts">
            <a:extLst xmlns:a="http://schemas.openxmlformats.org/drawingml/2006/main">
              <a:ext uri="{FF2B5EF4-FFF2-40B4-BE49-F238E27FC236}">
                <a16:creationId xmlns:a16="http://schemas.microsoft.com/office/drawing/2014/main" id="{9370EB87-7EB9-4E02-B9E9-72C37F9E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静态事实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变量、访问与调用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指针、注册与保护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571875"/>
            <a:ext cx="1952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05875" y="3571875"/>
            <a:ext cx="21431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compile-data">
            <a:extLst xmlns:a="http://schemas.openxmlformats.org/drawingml/2006/main">
              <a:ext uri="{FF2B5EF4-FFF2-40B4-BE49-F238E27FC236}">
                <a16:creationId xmlns:a16="http://schemas.microsoft.com/office/drawing/2014/main" id="{7DC90620-7F47-4DC7-A742-6370436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86075"/>
            <a:ext cx="176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本次文件</a:t>
            </a:r>
          </a:p>
          <a:p xmlns:a="http://schemas.openxmlformats.org/drawingml/2006/main">
            <a:pPr algn="l">
              <a:defRPr sz="1875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宏、包含路径</a:t>
            </a:r>
          </a:p>
        </p:txBody>
      </p:sp>
      <p:sp>
        <p:nvSpPr>
          <p:cNvPr id="11" name="merged-data">
            <a:extLst xmlns:a="http://schemas.openxmlformats.org/drawingml/2006/main">
              <a:ext uri="{FF2B5EF4-FFF2-40B4-BE49-F238E27FC236}">
                <a16:creationId xmlns:a16="http://schemas.microsoft.com/office/drawing/2014/main" id="{8A3FA6A0-D301-4C59-8B7F-5BCC1360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86075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合并各文件</a:t>
            </a:r>
          </a:p>
          <a:p xmlns:a="http://schemas.openxmlformats.org/drawingml/2006/main">
            <a:pPr algn="l">
              <a:defRPr sz="1875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的解析结果</a:t>
            </a:r>
          </a:p>
        </p:txBody>
      </p:sp>
      <p:sp>
        <p:nvSpPr>
          <p:cNvPr id="12" name="scope-versus-build">
            <a:extLst xmlns:a="http://schemas.openxmlformats.org/drawingml/2006/main">
              <a:ext uri="{FF2B5EF4-FFF2-40B4-BE49-F238E27FC236}">
                <a16:creationId xmlns:a16="http://schemas.microsoft.com/office/drawing/2014/main" id="{A93AE6B3-BF7A-4D48-B270-3B943CAF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362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构建决定哪些代码生效，排查目录决定哪些变量属于本次台账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762000" y="5276850"/>
          <a:ext xmlns:a="http://schemas.openxmlformats.org/drawingml/2006/main" cx="13716000" cy="2552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81500"/>
                <a:gridCol w="9334500"/>
              </a:tblGrid>
              <a:tr h="6381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源码类别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怎样进入分析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6381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当前构建内 + 排查范围内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变量清单、读写、调用和保护证据均纳入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当前构建内 + 范围外依赖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不盘点其自有变量，保留对目标变量的调用和访问证据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381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本次未构建代码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不注入当前风险分类，补充盘点时标记 OUT_OF_BUILD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84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520E9EC7-AF29-42C4-BDC3-A5813A4A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2BEF3-CC9F-4358-804C-75FD1E91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静态阶段③：谁在访问同一份存储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FE833E9-7233-49B0-8269-2692F5A5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同一变量贯穿示例：pending_events。回调沿真实调用链继承执行者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B14753-0D31-4CB9-B9DE-03D55B4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main-domain">
            <a:extLst xmlns:a="http://schemas.openxmlformats.org/drawingml/2006/main">
              <a:ext uri="{FF2B5EF4-FFF2-40B4-BE49-F238E27FC236}">
                <a16:creationId xmlns:a16="http://schemas.microsoft.com/office/drawing/2014/main" id="{E88798BB-C946-4739-8230-A9022099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主循环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main</a:t>
            </a:r>
          </a:p>
        </p:txBody>
      </p:sp>
      <p:sp>
        <p:nvSpPr>
          <p:cNvPr id="6" name="tim2-domain">
            <a:extLst xmlns:a="http://schemas.openxmlformats.org/drawingml/2006/main">
              <a:ext uri="{FF2B5EF4-FFF2-40B4-BE49-F238E27FC236}">
                <a16:creationId xmlns:a16="http://schemas.microsoft.com/office/drawing/2014/main" id="{F22DDB81-A4A0-4234-BE76-4AFC7AD3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定时中断</a:t>
            </a:r>
          </a:p>
          <a:p xmlns:a="http://schemas.openxmlformats.org/drawingml/2006/main">
            <a:pPr algn="ctr">
              <a:def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TIM2_IRQHandler</a:t>
            </a:r>
          </a:p>
        </p:txBody>
      </p:sp>
      <p:sp>
        <p:nvSpPr>
          <p:cNvPr id="7" name="usart-domain">
            <a:extLst xmlns:a="http://schemas.openxmlformats.org/drawingml/2006/main">
              <a:ext uri="{FF2B5EF4-FFF2-40B4-BE49-F238E27FC236}">
                <a16:creationId xmlns:a16="http://schemas.microsoft.com/office/drawing/2014/main" id="{DA9D6147-96D6-4E83-84E9-BAEE7F4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接收中断</a:t>
            </a:r>
          </a:p>
          <a:p xmlns:a="http://schemas.openxmlformats.org/drawingml/2006/main">
            <a:pPr algn="ctr">
              <a:def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USART2_IRQHandler</a:t>
            </a:r>
          </a:p>
        </p:txBody>
      </p:sp>
      <p:sp>
        <p:nvSpPr>
          <p:cNvPr id="8" name="poll-path">
            <a:extLst xmlns:a="http://schemas.openxmlformats.org/drawingml/2006/main">
              <a:ext uri="{FF2B5EF4-FFF2-40B4-BE49-F238E27FC236}">
                <a16:creationId xmlns:a16="http://schemas.microsoft.com/office/drawing/2014/main" id="{052271CF-AD2C-4778-AA9A-0EDF7B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Service_Poll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读取事件快照，再清零</a:t>
            </a:r>
          </a:p>
        </p:txBody>
      </p:sp>
      <p:sp>
        <p:nvSpPr>
          <p:cNvPr id="9" name="sample-path">
            <a:extLst xmlns:a="http://schemas.openxmlformats.org/drawingml/2006/main">
              <a:ext uri="{FF2B5EF4-FFF2-40B4-BE49-F238E27FC236}">
                <a16:creationId xmlns:a16="http://schemas.microsoft.com/office/drawing/2014/main" id="{6BC8E149-EA12-4D60-8CFA-02099676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Service_Sample</a:t>
            </a:r>
          </a:p>
          <a:p xmlns:a="http://schemas.openxmlformats.org/drawingml/2006/main">
            <a:pPr algn="ctr">
              <a:def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先读旧值再改写，设置采样事件位</a:t>
            </a:r>
          </a:p>
        </p:txBody>
      </p:sp>
      <p:sp>
        <p:nvSpPr>
          <p:cNvPr id="10" name="rx-callback-path">
            <a:extLst xmlns:a="http://schemas.openxmlformats.org/drawingml/2006/main">
              <a:ext uri="{FF2B5EF4-FFF2-40B4-BE49-F238E27FC236}">
                <a16:creationId xmlns:a16="http://schemas.microsoft.com/office/drawing/2014/main" id="{91B5271D-6336-4675-B03B-260E372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72125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HAL 分发链、完成回调、Service_Rx</a:t>
            </a:r>
          </a:p>
          <a:p xmlns:a="http://schemas.openxmlformats.org/drawingml/2006/main">
            <a:pPr algn="ctr">
              <a:def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先读旧值再改写，设置串口事件位</a:t>
            </a:r>
          </a:p>
        </p:txBody>
      </p:sp>
      <p:sp>
        <p:nvSpPr>
          <p:cNvPr id="11" name="canonical-storage">
            <a:extLst xmlns:a="http://schemas.openxmlformats.org/drawingml/2006/main">
              <a:ext uri="{FF2B5EF4-FFF2-40B4-BE49-F238E27FC236}">
                <a16:creationId xmlns:a16="http://schemas.microsoft.com/office/drawing/2014/main" id="{A2ACE1B4-F5B8-41BD-8543-56E34C16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576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pending_events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serial_service.c</a:t>
            </a:r>
          </a:p>
        </p:txBody>
      </p:sp>
      <p:cxnSp>
        <p:nvCxnSpPr>
          <p:cNvPr id="5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3333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14750" y="466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14750" y="6000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anchor-51">
            <a:extLst xmlns:a="http://schemas.openxmlformats.org/drawingml/2006/main">
              <a:ext uri="{FF2B5EF4-FFF2-40B4-BE49-F238E27FC236}">
                <a16:creationId xmlns:a16="http://schemas.microsoft.com/office/drawing/2014/main" id="{9796EBF9-FFD1-41E6-9DCA-CD5183F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anchor-52">
            <a:extLst xmlns:a="http://schemas.openxmlformats.org/drawingml/2006/main">
              <a:ext uri="{FF2B5EF4-FFF2-40B4-BE49-F238E27FC236}">
                <a16:creationId xmlns:a16="http://schemas.microsoft.com/office/drawing/2014/main" id="{B2F6EC23-893A-4F4C-8A3C-9A1239B0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677525" y="33337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8" name="anchor-53">
            <a:extLst xmlns:a="http://schemas.openxmlformats.org/drawingml/2006/main">
              <a:ext uri="{FF2B5EF4-FFF2-40B4-BE49-F238E27FC236}">
                <a16:creationId xmlns:a16="http://schemas.microsoft.com/office/drawing/2014/main" id="{80D7424A-3144-4228-80D0-305ABDF5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54">
            <a:extLst xmlns:a="http://schemas.openxmlformats.org/drawingml/2006/main">
              <a:ext uri="{FF2B5EF4-FFF2-40B4-BE49-F238E27FC236}">
                <a16:creationId xmlns:a16="http://schemas.microsoft.com/office/drawing/2014/main" id="{8E36C1B9-1EBD-4636-BD7A-B2E6FB2D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438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1287125" y="33432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1" name="anchor-55">
            <a:extLst xmlns:a="http://schemas.openxmlformats.org/drawingml/2006/main">
              <a:ext uri="{FF2B5EF4-FFF2-40B4-BE49-F238E27FC236}">
                <a16:creationId xmlns:a16="http://schemas.microsoft.com/office/drawing/2014/main" id="{A63D92A3-AC63-4BC7-B879-6B8A268A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438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56">
            <a:extLst xmlns:a="http://schemas.openxmlformats.org/drawingml/2006/main">
              <a:ext uri="{FF2B5EF4-FFF2-40B4-BE49-F238E27FC236}">
                <a16:creationId xmlns:a16="http://schemas.microsoft.com/office/drawing/2014/main" id="{60315A7D-A37B-4B26-92BA-58FD0125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4438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1296650" y="44481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anchor-57">
            <a:extLst xmlns:a="http://schemas.openxmlformats.org/drawingml/2006/main">
              <a:ext uri="{FF2B5EF4-FFF2-40B4-BE49-F238E27FC236}">
                <a16:creationId xmlns:a16="http://schemas.microsoft.com/office/drawing/2014/main" id="{43099910-C737-4BFD-8CAC-FF04A3EC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657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anchor-58">
            <a:extLst xmlns:a="http://schemas.openxmlformats.org/drawingml/2006/main">
              <a:ext uri="{FF2B5EF4-FFF2-40B4-BE49-F238E27FC236}">
                <a16:creationId xmlns:a16="http://schemas.microsoft.com/office/drawing/2014/main" id="{F3621B4D-690E-4391-9561-3C2C0561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657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677525" y="46672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7" name="anchor-59">
            <a:extLst xmlns:a="http://schemas.openxmlformats.org/drawingml/2006/main">
              <a:ext uri="{FF2B5EF4-FFF2-40B4-BE49-F238E27FC236}">
                <a16:creationId xmlns:a16="http://schemas.microsoft.com/office/drawing/2014/main" id="{1B85A6A3-6E3E-4CE9-80F8-9A2558E4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657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anchor-60">
            <a:extLst xmlns:a="http://schemas.openxmlformats.org/drawingml/2006/main">
              <a:ext uri="{FF2B5EF4-FFF2-40B4-BE49-F238E27FC236}">
                <a16:creationId xmlns:a16="http://schemas.microsoft.com/office/drawing/2014/main" id="{38E65544-1F5B-4035-A5F7-EB1845D0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72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1287125" y="46767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0" name="anchor-61">
            <a:extLst xmlns:a="http://schemas.openxmlformats.org/drawingml/2006/main">
              <a:ext uri="{FF2B5EF4-FFF2-40B4-BE49-F238E27FC236}">
                <a16:creationId xmlns:a16="http://schemas.microsoft.com/office/drawing/2014/main" id="{0779ADAB-956E-4F15-99E8-CCD9D67A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72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anchor-62">
            <a:extLst xmlns:a="http://schemas.openxmlformats.org/drawingml/2006/main">
              <a:ext uri="{FF2B5EF4-FFF2-40B4-BE49-F238E27FC236}">
                <a16:creationId xmlns:a16="http://schemas.microsoft.com/office/drawing/2014/main" id="{4BC85C25-A593-44B6-BBF6-D52209B2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4772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1296650" y="47815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anchor-63">
            <a:extLst xmlns:a="http://schemas.openxmlformats.org/drawingml/2006/main">
              <a:ext uri="{FF2B5EF4-FFF2-40B4-BE49-F238E27FC236}">
                <a16:creationId xmlns:a16="http://schemas.microsoft.com/office/drawing/2014/main" id="{831CA6E5-489B-450F-983F-2AA8EDB5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991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64">
            <a:extLst xmlns:a="http://schemas.openxmlformats.org/drawingml/2006/main">
              <a:ext uri="{FF2B5EF4-FFF2-40B4-BE49-F238E27FC236}">
                <a16:creationId xmlns:a16="http://schemas.microsoft.com/office/drawing/2014/main" id="{49C90BC2-03D2-4295-BC21-37E68545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91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0677525" y="60007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6" name="anchor-65">
            <a:extLst xmlns:a="http://schemas.openxmlformats.org/drawingml/2006/main">
              <a:ext uri="{FF2B5EF4-FFF2-40B4-BE49-F238E27FC236}">
                <a16:creationId xmlns:a16="http://schemas.microsoft.com/office/drawing/2014/main" id="{91862467-8D21-40E7-A010-A679514C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91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anchor-66">
            <a:extLst xmlns:a="http://schemas.openxmlformats.org/drawingml/2006/main">
              <a:ext uri="{FF2B5EF4-FFF2-40B4-BE49-F238E27FC236}">
                <a16:creationId xmlns:a16="http://schemas.microsoft.com/office/drawing/2014/main" id="{1F2CF0ED-6806-4D01-A093-A086810F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105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36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V="1">
            <a:off x="11287125" y="5124450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9" name="anchor-67">
            <a:extLst xmlns:a="http://schemas.openxmlformats.org/drawingml/2006/main">
              <a:ext uri="{FF2B5EF4-FFF2-40B4-BE49-F238E27FC236}">
                <a16:creationId xmlns:a16="http://schemas.microsoft.com/office/drawing/2014/main" id="{901499E3-D71F-4445-9C4B-8C357C5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105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anchor-68">
            <a:extLst xmlns:a="http://schemas.openxmlformats.org/drawingml/2006/main">
              <a:ext uri="{FF2B5EF4-FFF2-40B4-BE49-F238E27FC236}">
                <a16:creationId xmlns:a16="http://schemas.microsoft.com/office/drawing/2014/main" id="{D6A647EF-12FA-49F9-A73A-69193FEA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105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11296650" y="51149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storage-identity">
            <a:extLst xmlns:a="http://schemas.openxmlformats.org/drawingml/2006/main">
              <a:ext uri="{FF2B5EF4-FFF2-40B4-BE49-F238E27FC236}">
                <a16:creationId xmlns:a16="http://schemas.microsoft.com/office/drawing/2014/main" id="{13343D52-F68B-43E8-9B7B-71BB2AA3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24675"/>
            <a:ext cx="1366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存储归一：合并 extern，区分同名 static，将指针访问归回可达对象</a:t>
            </a:r>
          </a:p>
        </p:txBody>
      </p:sp>
      <p:sp>
        <p:nvSpPr>
          <p:cNvPr id="43" name="context-inference">
            <a:extLst xmlns:a="http://schemas.openxmlformats.org/drawingml/2006/main">
              <a:ext uri="{FF2B5EF4-FFF2-40B4-BE49-F238E27FC236}">
                <a16:creationId xmlns:a16="http://schemas.microsoft.com/office/drawing/2014/main" id="{D679CA02-E753-4945-BA37-0DE5F81D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34275"/>
            <a:ext cx="1366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执行者来自主循环、任务、IRQ、DMA 合同与注册语义，未知关系保留缺口</a:t>
            </a:r>
          </a:p>
        </p:txBody>
      </p:sp>
    </p:spTree>
    <p:extLst>
      <p:ext uri="{BB962C8B-B14F-4D97-AF65-F5344CB8AC3E}">
        <p14:creationId xmlns:p14="http://schemas.microsoft.com/office/powerpoint/2010/main" val="1590923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CCFD2350-A55B-4B0C-888D-8B4CBBE7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889818-7FE5-48E8-A5FA-813A680E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静态阶段④：证据怎样形成变量结论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FA5D2DB-42D5-42B6-AEBF-1B39F18E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比较全部相关访问，核对可交错性、初始化先后和完整保护，再按证据分流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BF3F51-529D-4CB8-9789-2E0C070A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example-accesses">
            <a:extLst xmlns:a="http://schemas.openxmlformats.org/drawingml/2006/main">
              <a:ext uri="{FF2B5EF4-FFF2-40B4-BE49-F238E27FC236}">
                <a16:creationId xmlns:a16="http://schemas.microsoft.com/office/drawing/2014/main" id="{FB036EDD-94D9-40D8-99D3-8E56F3EA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主循环：读快照后清零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TIM2：读改写增加事件</a:t>
            </a:r>
          </a:p>
        </p:txBody>
      </p:sp>
      <p:sp>
        <p:nvSpPr>
          <p:cNvPr id="6" name="example-evidence">
            <a:extLst xmlns:a="http://schemas.openxmlformats.org/drawingml/2006/main">
              <a:ext uri="{FF2B5EF4-FFF2-40B4-BE49-F238E27FC236}">
                <a16:creationId xmlns:a16="http://schemas.microsoft.com/office/drawing/2014/main" id="{C4F677D8-5565-478E-9C00-D462C8E8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504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同一存储，可能被抢占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尚未证明完整保护</a:t>
            </a:r>
          </a:p>
        </p:txBody>
      </p:sp>
      <p:sp>
        <p:nvSpPr>
          <p:cNvPr id="7" name="example-suspect">
            <a:extLst xmlns:a="http://schemas.openxmlformats.org/drawingml/2006/main">
              <a:ext uri="{FF2B5EF4-FFF2-40B4-BE49-F238E27FC236}">
                <a16:creationId xmlns:a16="http://schemas.microsoft.com/office/drawing/2014/main" id="{D86EECD9-0F73-4F7A-BB75-AFFACE03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762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SUSPECT</a:t>
            </a:r>
          </a:p>
        </p:txBody>
      </p: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30956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0956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effective-protection">
            <a:extLst xmlns:a="http://schemas.openxmlformats.org/drawingml/2006/main">
              <a:ext uri="{FF2B5EF4-FFF2-40B4-BE49-F238E27FC236}">
                <a16:creationId xmlns:a16="http://schemas.microsoft.com/office/drawing/2014/main" id="{3C41BB3C-BC12-4B3F-8721-75899853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13668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保护需覆盖全部相关访问和完整事务，volatile 或出现锁名不足以证明安全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62000" y="4076700"/>
          <a:ext xmlns:a="http://schemas.openxmlformats.org/drawingml/2006/main" cx="137160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572250"/>
                <a:gridCol w="3524250"/>
                <a:gridCol w="3619500"/>
              </a:tblGrid>
              <a:tr h="70485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证据情况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静态结果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后续路径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70485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存在未排除的破坏性修改冲突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疑似风险 SUSPECT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进入常规复核队列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暂无上述已知冲突，但关键证据不足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证据不足 UNKNOWN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保留缺口并进入复核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70485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具有完整且适用的严格安全证明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已证安全 SAFE_PROVEN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保留证明，跳过常规复核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对齐标量、单物理写者、纯读观察等</a:t>
                      </a:r>
                    </a:p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严格门禁全部通过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共享免复核</a:t>
                      </a:r>
                    </a:p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SHARED_NO_REVIEW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免常规复核</a:t>
                      </a:r>
                    </a:p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保留门禁证据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classification-boundary">
            <a:extLst xmlns:a="http://schemas.openxmlformats.org/drawingml/2006/main">
              <a:ext uri="{FF2B5EF4-FFF2-40B4-BE49-F238E27FC236}">
                <a16:creationId xmlns:a16="http://schemas.microsoft.com/office/drawing/2014/main" id="{95CE4141-6A97-40FE-B6BB-D4EBA518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77175"/>
            <a:ext cx="1366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已知冲突可与 PARTIAL 共存。SHARED_NO_REVIEW 只表示通过免复核门禁</a:t>
            </a:r>
          </a:p>
        </p:txBody>
      </p:sp>
    </p:spTree>
    <p:extLst>
      <p:ext uri="{BB962C8B-B14F-4D97-AF65-F5344CB8AC3E}">
        <p14:creationId xmlns:p14="http://schemas.microsoft.com/office/powerpoint/2010/main" val="2031888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3E58CEDD-FD82-40C8-B2E2-D7EC2D5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105A6B-0783-4388-AD92-C6F23D1C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可选复核：模型收到什么，答案怎样落地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550C8C5-85E0-4C94-951A-A94A2837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每个变量只用一份证据包聚合全部访问与冲突，独立覆盖缺口也保留为目标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286A55-9747-4C67-A6C5-A50A30C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participant-复核调度">
            <a:extLst xmlns:a="http://schemas.openxmlformats.org/drawingml/2006/main">
              <a:ext uri="{FF2B5EF4-FFF2-40B4-BE49-F238E27FC236}">
                <a16:creationId xmlns:a16="http://schemas.microsoft.com/office/drawing/2014/main" id="{57857C9B-A4FF-4320-BE6D-141D8745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复核调度</a:t>
            </a:r>
          </a:p>
        </p:txBody>
      </p:sp>
      <p:sp>
        <p:nvSpPr>
          <p:cNvPr id="6" name="anchor-69">
            <a:extLst xmlns:a="http://schemas.openxmlformats.org/drawingml/2006/main">
              <a:ext uri="{FF2B5EF4-FFF2-40B4-BE49-F238E27FC236}">
                <a16:creationId xmlns:a16="http://schemas.microsoft.com/office/drawing/2014/main" id="{F0D31A76-2C0B-4389-839E-2CCEA279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nchor-70">
            <a:extLst xmlns:a="http://schemas.openxmlformats.org/drawingml/2006/main">
              <a:ext uri="{FF2B5EF4-FFF2-40B4-BE49-F238E27FC236}">
                <a16:creationId xmlns:a16="http://schemas.microsoft.com/office/drawing/2014/main" id="{BB9C18F5-961C-4E3E-B436-19067F3D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72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666875" y="3000375"/>
            <a:ext cx="0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9" name="participant-OpenCode">
            <a:extLst xmlns:a="http://schemas.openxmlformats.org/drawingml/2006/main">
              <a:ext uri="{FF2B5EF4-FFF2-40B4-BE49-F238E27FC236}">
                <a16:creationId xmlns:a16="http://schemas.microsoft.com/office/drawing/2014/main" id="{37B6B377-48AE-4239-AA66-EB7A7195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10" name="anchor-71">
            <a:extLst xmlns:a="http://schemas.openxmlformats.org/drawingml/2006/main">
              <a:ext uri="{FF2B5EF4-FFF2-40B4-BE49-F238E27FC236}">
                <a16:creationId xmlns:a16="http://schemas.microsoft.com/office/drawing/2014/main" id="{F9D5A6FB-2C21-4445-9A22-41F07CA4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72">
            <a:extLst xmlns:a="http://schemas.openxmlformats.org/drawingml/2006/main">
              <a:ext uri="{FF2B5EF4-FFF2-40B4-BE49-F238E27FC236}">
                <a16:creationId xmlns:a16="http://schemas.microsoft.com/office/drawing/2014/main" id="{283FA59B-CB3B-4160-B113-7314123F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772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143625" y="3000375"/>
            <a:ext cx="0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3" name="participant-源码 / 案例">
            <a:extLst xmlns:a="http://schemas.openxmlformats.org/drawingml/2006/main">
              <a:ext uri="{FF2B5EF4-FFF2-40B4-BE49-F238E27FC236}">
                <a16:creationId xmlns:a16="http://schemas.microsoft.com/office/drawing/2014/main" id="{EB3E1C1B-B1AC-439C-BD76-F02E3DF0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源码 / 案例</a:t>
            </a:r>
          </a:p>
        </p:txBody>
      </p:sp>
      <p:sp>
        <p:nvSpPr>
          <p:cNvPr id="14" name="anchor-73">
            <a:extLst xmlns:a="http://schemas.openxmlformats.org/drawingml/2006/main">
              <a:ext uri="{FF2B5EF4-FFF2-40B4-BE49-F238E27FC236}">
                <a16:creationId xmlns:a16="http://schemas.microsoft.com/office/drawing/2014/main" id="{32996597-3AE1-44BF-AB25-6A50B1B9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74">
            <a:extLst xmlns:a="http://schemas.openxmlformats.org/drawingml/2006/main">
              <a:ext uri="{FF2B5EF4-FFF2-40B4-BE49-F238E27FC236}">
                <a16:creationId xmlns:a16="http://schemas.microsoft.com/office/drawing/2014/main" id="{26CFED11-4B5D-49BB-AC6F-EBBB01D7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772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0525125" y="3000375"/>
            <a:ext cx="0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7" name="participant-校验与归档">
            <a:extLst xmlns:a="http://schemas.openxmlformats.org/drawingml/2006/main">
              <a:ext uri="{FF2B5EF4-FFF2-40B4-BE49-F238E27FC236}">
                <a16:creationId xmlns:a16="http://schemas.microsoft.com/office/drawing/2014/main" id="{1558B4BA-4269-4B85-BE92-E2AF6C43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6813" y="2333625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校验与归档</a:t>
            </a:r>
          </a:p>
        </p:txBody>
      </p:sp>
      <p:sp>
        <p:nvSpPr>
          <p:cNvPr id="18" name="anchor-75">
            <a:extLst xmlns:a="http://schemas.openxmlformats.org/drawingml/2006/main">
              <a:ext uri="{FF2B5EF4-FFF2-40B4-BE49-F238E27FC236}">
                <a16:creationId xmlns:a16="http://schemas.microsoft.com/office/drawing/2014/main" id="{08539A66-F8AC-4154-BDBD-D54EE355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76">
            <a:extLst xmlns:a="http://schemas.openxmlformats.org/drawingml/2006/main">
              <a:ext uri="{FF2B5EF4-FFF2-40B4-BE49-F238E27FC236}">
                <a16:creationId xmlns:a16="http://schemas.microsoft.com/office/drawing/2014/main" id="{6FC0CF1D-8A29-48E8-9419-FA8935F5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772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3763625" y="3000375"/>
            <a:ext cx="0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1" name="anchor-77">
            <a:extLst xmlns:a="http://schemas.openxmlformats.org/drawingml/2006/main">
              <a:ext uri="{FF2B5EF4-FFF2-40B4-BE49-F238E27FC236}">
                <a16:creationId xmlns:a16="http://schemas.microsoft.com/office/drawing/2014/main" id="{BA86AE3E-4F74-411D-BA40-B765FF6A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78">
            <a:extLst xmlns:a="http://schemas.openxmlformats.org/drawingml/2006/main">
              <a:ext uri="{FF2B5EF4-FFF2-40B4-BE49-F238E27FC236}">
                <a16:creationId xmlns:a16="http://schemas.microsoft.com/office/drawing/2014/main" id="{B6AAC78E-1DBE-40D4-8525-6F9B17CE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676400" y="3724275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message-79">
            <a:extLst xmlns:a="http://schemas.openxmlformats.org/drawingml/2006/main">
              <a:ext uri="{FF2B5EF4-FFF2-40B4-BE49-F238E27FC236}">
                <a16:creationId xmlns:a16="http://schemas.microsoft.com/office/drawing/2014/main" id="{1624EC42-3BA6-4D94-A247-CEE69381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14675"/>
            <a:ext cx="519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1 变量包：访问、执行者、保护与缺口</a:t>
            </a:r>
          </a:p>
          <a:p xmlns:a="http://schemas.openxmlformats.org/drawingml/2006/main">
            <a:pPr algn="l">
              <a:def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附背景、案例索引与源码位置</a:t>
            </a:r>
          </a:p>
        </p:txBody>
      </p:sp>
      <p:sp>
        <p:nvSpPr>
          <p:cNvPr id="25" name="anchor-80">
            <a:extLst xmlns:a="http://schemas.openxmlformats.org/drawingml/2006/main">
              <a:ext uri="{FF2B5EF4-FFF2-40B4-BE49-F238E27FC236}">
                <a16:creationId xmlns:a16="http://schemas.microsoft.com/office/drawing/2014/main" id="{A90E946D-DC6C-43AB-92D0-F1E0A1F8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19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81">
            <a:extLst xmlns:a="http://schemas.openxmlformats.org/drawingml/2006/main">
              <a:ext uri="{FF2B5EF4-FFF2-40B4-BE49-F238E27FC236}">
                <a16:creationId xmlns:a16="http://schemas.microsoft.com/office/drawing/2014/main" id="{67E02F92-FD63-4BFE-8224-59EFE8E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419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153150" y="4429125"/>
            <a:ext cx="436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message-82">
            <a:extLst xmlns:a="http://schemas.openxmlformats.org/drawingml/2006/main">
              <a:ext uri="{FF2B5EF4-FFF2-40B4-BE49-F238E27FC236}">
                <a16:creationId xmlns:a16="http://schemas.microsoft.com/office/drawing/2014/main" id="{532ACB65-45FA-43B2-A1B8-F0C8FC1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6700"/>
            <a:ext cx="457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2 只读核查源码与相关案例</a:t>
            </a:r>
          </a:p>
        </p:txBody>
      </p:sp>
      <p:sp>
        <p:nvSpPr>
          <p:cNvPr id="29" name="anchor-83">
            <a:extLst xmlns:a="http://schemas.openxmlformats.org/drawingml/2006/main">
              <a:ext uri="{FF2B5EF4-FFF2-40B4-BE49-F238E27FC236}">
                <a16:creationId xmlns:a16="http://schemas.microsoft.com/office/drawing/2014/main" id="{60A76421-5F76-414A-959D-A224216F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91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84">
            <a:extLst xmlns:a="http://schemas.openxmlformats.org/drawingml/2006/main">
              <a:ext uri="{FF2B5EF4-FFF2-40B4-BE49-F238E27FC236}">
                <a16:creationId xmlns:a16="http://schemas.microsoft.com/office/drawing/2014/main" id="{9AAB23D3-38D4-4790-A74C-B879E56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29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6153150" y="5000625"/>
            <a:ext cx="436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2" name="message-85">
            <a:extLst xmlns:a="http://schemas.openxmlformats.org/drawingml/2006/main">
              <a:ext uri="{FF2B5EF4-FFF2-40B4-BE49-F238E27FC236}">
                <a16:creationId xmlns:a16="http://schemas.microsoft.com/office/drawing/2014/main" id="{E7FDFE6C-B402-4041-93E2-EB7F9093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48200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文件内容与源码行证据</a:t>
            </a:r>
          </a:p>
        </p:txBody>
      </p:sp>
      <p:sp>
        <p:nvSpPr>
          <p:cNvPr id="33" name="anchor-86">
            <a:extLst xmlns:a="http://schemas.openxmlformats.org/drawingml/2006/main">
              <a:ext uri="{FF2B5EF4-FFF2-40B4-BE49-F238E27FC236}">
                <a16:creationId xmlns:a16="http://schemas.microsoft.com/office/drawing/2014/main" id="{8DE1C9C5-D26D-4F3D-A633-09FC4FC4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87">
            <a:extLst xmlns:a="http://schemas.openxmlformats.org/drawingml/2006/main">
              <a:ext uri="{FF2B5EF4-FFF2-40B4-BE49-F238E27FC236}">
                <a16:creationId xmlns:a16="http://schemas.microsoft.com/office/drawing/2014/main" id="{E3409C9E-D0F9-4AFA-B049-50CF935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6007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153150" y="5610225"/>
            <a:ext cx="7600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6" name="message-88">
            <a:extLst xmlns:a="http://schemas.openxmlformats.org/drawingml/2006/main">
              <a:ext uri="{FF2B5EF4-FFF2-40B4-BE49-F238E27FC236}">
                <a16:creationId xmlns:a16="http://schemas.microsoft.com/office/drawing/2014/main" id="{35AC5F15-08DB-4FEB-922C-33CA2DEC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581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3 结论、理由与源码引用</a:t>
            </a:r>
          </a:p>
        </p:txBody>
      </p:sp>
      <p:sp>
        <p:nvSpPr>
          <p:cNvPr id="37" name="answer-check-fragment">
            <a:extLst xmlns:a="http://schemas.openxmlformats.org/drawingml/2006/main">
              <a:ext uri="{FF2B5EF4-FFF2-40B4-BE49-F238E27FC236}">
                <a16:creationId xmlns:a16="http://schemas.microsoft.com/office/drawing/2014/main" id="{ECE9A2D9-C35C-42DB-9DBC-1B0B99F8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53125"/>
            <a:ext cx="9239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B9C8"/>
            </a:solidFill>
          </a:ln>
        </p:spPr>
      </p:sp>
      <p:sp>
        <p:nvSpPr>
          <p:cNvPr id="38" name="answer-check-condition">
            <a:extLst xmlns:a="http://schemas.openxmlformats.org/drawingml/2006/main">
              <a:ext uri="{FF2B5EF4-FFF2-40B4-BE49-F238E27FC236}">
                <a16:creationId xmlns:a16="http://schemas.microsoft.com/office/drawing/2014/main" id="{ABB2269D-F0F1-48F8-BB9D-1934EAB3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0007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opt  答案需补核查或修复格式</a:t>
            </a:r>
          </a:p>
        </p:txBody>
      </p:sp>
      <p:sp>
        <p:nvSpPr>
          <p:cNvPr id="39" name="anchor-89">
            <a:extLst xmlns:a="http://schemas.openxmlformats.org/drawingml/2006/main">
              <a:ext uri="{FF2B5EF4-FFF2-40B4-BE49-F238E27FC236}">
                <a16:creationId xmlns:a16="http://schemas.microsoft.com/office/drawing/2014/main" id="{52B92A1F-814F-490E-9192-D3B7093E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629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anchor-90">
            <a:extLst xmlns:a="http://schemas.openxmlformats.org/drawingml/2006/main">
              <a:ext uri="{FF2B5EF4-FFF2-40B4-BE49-F238E27FC236}">
                <a16:creationId xmlns:a16="http://schemas.microsoft.com/office/drawing/2014/main" id="{84990D5F-99E2-4CDB-9FCA-91BB85E7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629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6153150" y="6638925"/>
            <a:ext cx="7600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2" name="message-91">
            <a:extLst xmlns:a="http://schemas.openxmlformats.org/drawingml/2006/main">
              <a:ext uri="{FF2B5EF4-FFF2-40B4-BE49-F238E27FC236}">
                <a16:creationId xmlns:a16="http://schemas.microsoft.com/office/drawing/2014/main" id="{3A44628A-85A6-4BA0-8A85-E5CE100D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286500"/>
            <a:ext cx="571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要求补核查，或修复结构化格式</a:t>
            </a:r>
          </a:p>
        </p:txBody>
      </p:sp>
      <p:sp>
        <p:nvSpPr>
          <p:cNvPr id="43" name="anchor-92">
            <a:extLst xmlns:a="http://schemas.openxmlformats.org/drawingml/2006/main">
              <a:ext uri="{FF2B5EF4-FFF2-40B4-BE49-F238E27FC236}">
                <a16:creationId xmlns:a16="http://schemas.microsoft.com/office/drawing/2014/main" id="{CFACE0CF-5D36-4AA3-9CC3-B7AF2A91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7077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anchor-93">
            <a:extLst xmlns:a="http://schemas.openxmlformats.org/drawingml/2006/main">
              <a:ext uri="{FF2B5EF4-FFF2-40B4-BE49-F238E27FC236}">
                <a16:creationId xmlns:a16="http://schemas.microsoft.com/office/drawing/2014/main" id="{11AACA96-5DBD-4BFB-BAC8-691BAF7E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7077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153150" y="7086600"/>
            <a:ext cx="7600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6" name="message-94">
            <a:extLst xmlns:a="http://schemas.openxmlformats.org/drawingml/2006/main">
              <a:ext uri="{FF2B5EF4-FFF2-40B4-BE49-F238E27FC236}">
                <a16:creationId xmlns:a16="http://schemas.microsoft.com/office/drawing/2014/main" id="{C0DC8543-3A42-4A55-A20F-FB5C943C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734175"/>
            <a:ext cx="3286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新答复重新校验</a:t>
            </a:r>
          </a:p>
        </p:txBody>
      </p:sp>
      <p:sp>
        <p:nvSpPr>
          <p:cNvPr id="47" name="anchor-95">
            <a:extLst xmlns:a="http://schemas.openxmlformats.org/drawingml/2006/main">
              <a:ext uri="{FF2B5EF4-FFF2-40B4-BE49-F238E27FC236}">
                <a16:creationId xmlns:a16="http://schemas.microsoft.com/office/drawing/2014/main" id="{8B1B93AD-042B-40E5-9AB0-E2288A5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765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anchor-96">
            <a:extLst xmlns:a="http://schemas.openxmlformats.org/drawingml/2006/main">
              <a:ext uri="{FF2B5EF4-FFF2-40B4-BE49-F238E27FC236}">
                <a16:creationId xmlns:a16="http://schemas.microsoft.com/office/drawing/2014/main" id="{477F80D1-9469-4DFC-9643-EBAA2AE1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5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47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1676400" y="7667625"/>
            <a:ext cx="1207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0" name="message-97">
            <a:extLst xmlns:a="http://schemas.openxmlformats.org/drawingml/2006/main">
              <a:ext uri="{FF2B5EF4-FFF2-40B4-BE49-F238E27FC236}">
                <a16:creationId xmlns:a16="http://schemas.microsoft.com/office/drawing/2014/main" id="{38338EB3-1396-4065-831F-DD65CBC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315200"/>
            <a:ext cx="10668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4 有效答复记为 DONE，技术失败记为 TECH_FAILED，原始记录均保留</a:t>
            </a:r>
          </a:p>
        </p:txBody>
      </p:sp>
      <p:sp>
        <p:nvSpPr>
          <p:cNvPr id="51" name="semantic-status-legend">
            <a:extLst xmlns:a="http://schemas.openxmlformats.org/drawingml/2006/main">
              <a:ext uri="{FF2B5EF4-FFF2-40B4-BE49-F238E27FC236}">
                <a16:creationId xmlns:a16="http://schemas.microsoft.com/office/drawing/2014/main" id="{4020E7DC-89F7-4184-948D-10F13180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954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语义：CONFIRMED 确认 / LIKELY 可能 / REVIEWED_SAFE 可排除</a:t>
            </a:r>
          </a:p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FALSE_POSITIVE 误报 / NEED_MORE_CONTEXT 需补证</a:t>
            </a:r>
          </a:p>
        </p:txBody>
      </p:sp>
    </p:spTree>
    <p:extLst>
      <p:ext uri="{BB962C8B-B14F-4D97-AF65-F5344CB8AC3E}">
        <p14:creationId xmlns:p14="http://schemas.microsoft.com/office/powerpoint/2010/main" val="1874652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405CF239-F7CB-473E-A47A-FC00F23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8A47D3-2E16-4ADF-9275-AD0B401B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异常与未完成项：工具保留什么，用户如何继续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B610978-C3D0-4FE6-ADA2-7741B04D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流程失败、证据缺口、关闭复核和单项技术失败分别处理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458BCD-5EAE-40C4-8F54-0FA37C13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752725"/>
          <a:ext xmlns:a="http://schemas.openxmlformats.org/drawingml/2006/main" cx="13716000" cy="4667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81500"/>
                <a:gridCol w="5524500"/>
                <a:gridCol w="3810000"/>
              </a:tblGrid>
              <a:tr h="7778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发生什么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工具怎样处理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用户怎样继续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7778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 / 构建 / 关键求解失败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终止本轮，不生成可复用的新扫描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修正诊断后重新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单文件解析 / 普通关系缺口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保留已知事实，将相关缺口写入报告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补编译参数或入口语义，再扫描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7778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本次关闭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静态结果保留，候选为 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人工核查，或执行 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某项模型执行失败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该项 TECH_FAILED，其他结果保留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 review-failed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7778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 / 构建 / 静态配置变化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旧快照不能复用，要求重新扫描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 run 或 --no-review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emantic-unresolved-route">
            <a:extLst xmlns:a="http://schemas.openxmlformats.org/drawingml/2006/main">
              <a:ext uri="{FF2B5EF4-FFF2-40B4-BE49-F238E27FC236}">
                <a16:creationId xmlns:a16="http://schemas.microsoft.com/office/drawing/2014/main" id="{3326968E-1DF5-4917-B84F-91843774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53350"/>
            <a:ext cx="1362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AI 已答复但信息不足：补证后执行 review，不能按技术失败重试</a:t>
            </a:r>
          </a:p>
        </p:txBody>
      </p:sp>
    </p:spTree>
    <p:extLst>
      <p:ext uri="{BB962C8B-B14F-4D97-AF65-F5344CB8AC3E}">
        <p14:creationId xmlns:p14="http://schemas.microsoft.com/office/powerpoint/2010/main" val="1666985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1074A313-50E2-4AFD-81CD-73F72DB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363B16-CC20-41C9-B6D4-80F6ECD2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首次运行：配置与静态扫描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7CD0A69-3921-483F-BAA7-241DE5F5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示例：便携包解压到 D:\ECRA，固件位于 D:\firmware\MyBoard，并已能正常构建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0335BD-BA08-46B3-85C9-4361964B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config-caption">
            <a:extLst xmlns:a="http://schemas.openxmlformats.org/drawingml/2006/main">
              <a:ext uri="{FF2B5EF4-FFF2-40B4-BE49-F238E27FC236}">
                <a16:creationId xmlns:a16="http://schemas.microsoft.com/office/drawing/2014/main" id="{FF5B5C9E-D91D-4841-AB62-4F0B94E2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修改 config/semantics.yaml 的对应字段</a:t>
            </a:r>
          </a:p>
        </p:txBody>
      </p:sp>
      <p:sp>
        <p:nvSpPr>
          <p:cNvPr id="6" name="first-run-yaml-0">
            <a:extLst xmlns:a="http://schemas.openxmlformats.org/drawingml/2006/main">
              <a:ext uri="{FF2B5EF4-FFF2-40B4-BE49-F238E27FC236}">
                <a16:creationId xmlns:a16="http://schemas.microsoft.com/office/drawing/2014/main" id="{B4801551-F964-42D5-86A0-995AEC44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project:</a:t>
            </a:r>
          </a:p>
        </p:txBody>
      </p:sp>
      <p:sp>
        <p:nvSpPr>
          <p:cNvPr id="7" name="first-run-yaml-1">
            <a:extLst xmlns:a="http://schemas.openxmlformats.org/drawingml/2006/main">
              <a:ext uri="{FF2B5EF4-FFF2-40B4-BE49-F238E27FC236}">
                <a16:creationId xmlns:a16="http://schemas.microsoft.com/office/drawing/2014/main" id="{68F77D68-2964-47C0-909E-D51799E8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root: D:/firmware/MyBoard</a:t>
            </a:r>
          </a:p>
        </p:txBody>
      </p:sp>
      <p:sp>
        <p:nvSpPr>
          <p:cNvPr id="8" name="first-run-yaml-2">
            <a:extLst xmlns:a="http://schemas.openxmlformats.org/drawingml/2006/main">
              <a:ext uri="{FF2B5EF4-FFF2-40B4-BE49-F238E27FC236}">
                <a16:creationId xmlns:a16="http://schemas.microsoft.com/office/drawing/2014/main" id="{D601DF21-59F7-4110-86DF-24C54C54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analysis:</a:t>
            </a:r>
          </a:p>
        </p:txBody>
      </p:sp>
      <p:sp>
        <p:nvSpPr>
          <p:cNvPr id="9" name="first-run-yaml-3">
            <a:extLst xmlns:a="http://schemas.openxmlformats.org/drawingml/2006/main">
              <a:ext uri="{FF2B5EF4-FFF2-40B4-BE49-F238E27FC236}">
                <a16:creationId xmlns:a16="http://schemas.microsoft.com/office/drawing/2014/main" id="{439837A6-A3C8-4CE7-8890-B7D82C15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include_dirs: [Core/Src, Core/Inc]</a:t>
            </a:r>
          </a:p>
        </p:txBody>
      </p:sp>
      <p:sp>
        <p:nvSpPr>
          <p:cNvPr id="10" name="first-run-yaml-4">
            <a:extLst xmlns:a="http://schemas.openxmlformats.org/drawingml/2006/main">
              <a:ext uri="{FF2B5EF4-FFF2-40B4-BE49-F238E27FC236}">
                <a16:creationId xmlns:a16="http://schemas.microsoft.com/office/drawing/2014/main" id="{26659B91-9EBE-41B4-ADFD-C074A73E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output_dir: .ecra</a:t>
            </a:r>
          </a:p>
        </p:txBody>
      </p:sp>
      <p:sp>
        <p:nvSpPr>
          <p:cNvPr id="11" name="first-run-yaml-5">
            <a:extLst xmlns:a="http://schemas.openxmlformats.org/drawingml/2006/main">
              <a:ext uri="{FF2B5EF4-FFF2-40B4-BE49-F238E27FC236}">
                <a16:creationId xmlns:a16="http://schemas.microsoft.com/office/drawing/2014/main" id="{A4D86BFC-224E-4A84-B3E6-D8D3038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cmake:</a:t>
            </a:r>
          </a:p>
        </p:txBody>
      </p:sp>
      <p:sp>
        <p:nvSpPr>
          <p:cNvPr id="12" name="first-run-yaml-6">
            <a:extLst xmlns:a="http://schemas.openxmlformats.org/drawingml/2006/main">
              <a:ext uri="{FF2B5EF4-FFF2-40B4-BE49-F238E27FC236}">
                <a16:creationId xmlns:a16="http://schemas.microsoft.com/office/drawing/2014/main" id="{BACB123B-3515-4A26-9369-89A32EAB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build_dir: build/ecra</a:t>
            </a:r>
          </a:p>
        </p:txBody>
      </p:sp>
      <p:sp>
        <p:nvSpPr>
          <p:cNvPr id="13" name="first-run-yaml-7">
            <a:extLst xmlns:a="http://schemas.openxmlformats.org/drawingml/2006/main">
              <a:ext uri="{FF2B5EF4-FFF2-40B4-BE49-F238E27FC236}">
                <a16:creationId xmlns:a16="http://schemas.microsoft.com/office/drawing/2014/main" id="{57F9BB2D-3C23-480E-AA89-80DE93A5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generator: Ninja</a:t>
            </a:r>
          </a:p>
        </p:txBody>
      </p:sp>
      <p:sp>
        <p:nvSpPr>
          <p:cNvPr id="14" name="first-run-yaml-8">
            <a:extLst xmlns:a="http://schemas.openxmlformats.org/drawingml/2006/main">
              <a:ext uri="{FF2B5EF4-FFF2-40B4-BE49-F238E27FC236}">
                <a16:creationId xmlns:a16="http://schemas.microsoft.com/office/drawing/2014/main" id="{F4CD9D6F-324D-40C5-B01F-82ED52BB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build_type: Debug</a:t>
            </a:r>
          </a:p>
        </p:txBody>
      </p:sp>
      <p:sp>
        <p:nvSpPr>
          <p:cNvPr id="15" name="first-run-yaml-9">
            <a:extLst xmlns:a="http://schemas.openxmlformats.org/drawingml/2006/main">
              <a:ext uri="{FF2B5EF4-FFF2-40B4-BE49-F238E27FC236}">
                <a16:creationId xmlns:a16="http://schemas.microsoft.com/office/drawing/2014/main" id="{B6CEC2F7-14D8-4773-8312-FD5F57D7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toolchain_file: cmake/arm-none-eabi.cmake</a:t>
            </a:r>
          </a:p>
        </p:txBody>
      </p:sp>
      <p:sp>
        <p:nvSpPr>
          <p:cNvPr id="16" name="first-run-yaml-10">
            <a:extLst xmlns:a="http://schemas.openxmlformats.org/drawingml/2006/main">
              <a:ext uri="{FF2B5EF4-FFF2-40B4-BE49-F238E27FC236}">
                <a16:creationId xmlns:a16="http://schemas.microsoft.com/office/drawing/2014/main" id="{828A6E71-B44B-43B7-A983-55B8109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769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clean_before_configure: false</a:t>
            </a:r>
          </a:p>
        </p:txBody>
      </p:sp>
      <p:sp>
        <p:nvSpPr>
          <p:cNvPr id="17" name="first-run-yaml-11">
            <a:extLst xmlns:a="http://schemas.openxmlformats.org/drawingml/2006/main">
              <a:ext uri="{FF2B5EF4-FFF2-40B4-BE49-F238E27FC236}">
                <a16:creationId xmlns:a16="http://schemas.microsoft.com/office/drawing/2014/main" id="{7D4C025C-D52C-4371-9790-B7C9E2D1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913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build: true</a:t>
            </a:r>
          </a:p>
        </p:txBody>
      </p:sp>
      <p:sp>
        <p:nvSpPr>
          <p:cNvPr id="18" name="first-run-yaml-12">
            <a:extLst xmlns:a="http://schemas.openxmlformats.org/drawingml/2006/main">
              <a:ext uri="{FF2B5EF4-FFF2-40B4-BE49-F238E27FC236}">
                <a16:creationId xmlns:a16="http://schemas.microsoft.com/office/drawing/2014/main" id="{749D4D01-508D-4027-A5E7-8D125F31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review:</a:t>
            </a:r>
          </a:p>
        </p:txBody>
      </p:sp>
      <p:sp>
        <p:nvSpPr>
          <p:cNvPr id="19" name="first-run-yaml-13">
            <a:extLst xmlns:a="http://schemas.openxmlformats.org/drawingml/2006/main">
              <a:ext uri="{FF2B5EF4-FFF2-40B4-BE49-F238E27FC236}">
                <a16:creationId xmlns:a16="http://schemas.microsoft.com/office/drawing/2014/main" id="{76B17D8F-ABDA-45CB-8C44-C0206BE3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enabled: false</a:t>
            </a:r>
          </a:p>
        </p:txBody>
      </p:sp>
      <p:sp>
        <p:nvSpPr>
          <p:cNvPr id="20" name="powershell-caption">
            <a:extLst xmlns:a="http://schemas.openxmlformats.org/drawingml/2006/main">
              <a:ext uri="{FF2B5EF4-FFF2-40B4-BE49-F238E27FC236}">
                <a16:creationId xmlns:a16="http://schemas.microsoft.com/office/drawing/2014/main" id="{C6C7AE88-E6E7-4258-8798-26A619F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860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在 PowerShell 依次执行</a:t>
            </a:r>
          </a:p>
        </p:txBody>
      </p:sp>
      <p:sp>
        <p:nvSpPr>
          <p:cNvPr id="21" name="first-run-title-0">
            <a:extLst xmlns:a="http://schemas.openxmlformats.org/drawingml/2006/main">
              <a:ext uri="{FF2B5EF4-FFF2-40B4-BE49-F238E27FC236}">
                <a16:creationId xmlns:a16="http://schemas.microsoft.com/office/drawing/2014/main" id="{391E34EF-CE78-428C-A498-3FDD3A74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1 进入工具目录</a:t>
            </a:r>
          </a:p>
        </p:txBody>
      </p:sp>
      <p:sp>
        <p:nvSpPr>
          <p:cNvPr id="22" name="first-run-command-0">
            <a:extLst xmlns:a="http://schemas.openxmlformats.org/drawingml/2006/main">
              <a:ext uri="{FF2B5EF4-FFF2-40B4-BE49-F238E27FC236}">
                <a16:creationId xmlns:a16="http://schemas.microsoft.com/office/drawing/2014/main" id="{B867899F-EF41-408E-B512-C89C118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4807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Set-Location "D:/ECRA"</a:t>
            </a:r>
          </a:p>
        </p:txBody>
      </p:sp>
      <p:sp>
        <p:nvSpPr>
          <p:cNvPr id="23" name="first-run-title-1">
            <a:extLst xmlns:a="http://schemas.openxmlformats.org/drawingml/2006/main">
              <a:ext uri="{FF2B5EF4-FFF2-40B4-BE49-F238E27FC236}">
                <a16:creationId xmlns:a16="http://schemas.microsoft.com/office/drawing/2014/main" id="{EF054B90-B1EE-4A4F-A945-7963FD83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33900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2 检查环境</a:t>
            </a:r>
          </a:p>
        </p:txBody>
      </p:sp>
      <p:sp>
        <p:nvSpPr>
          <p:cNvPr id="24" name="first-run-command-1">
            <a:extLst xmlns:a="http://schemas.openxmlformats.org/drawingml/2006/main">
              <a:ext uri="{FF2B5EF4-FFF2-40B4-BE49-F238E27FC236}">
                <a16:creationId xmlns:a16="http://schemas.microsoft.com/office/drawing/2014/main" id="{6D9E5DE7-D6A6-442A-BBE6-4CA24BE7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720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.\ecra.cmd doctor</a:t>
            </a:r>
          </a:p>
        </p:txBody>
      </p:sp>
      <p:sp>
        <p:nvSpPr>
          <p:cNvPr id="25" name="first-run-result-1">
            <a:extLst xmlns:a="http://schemas.openxmlformats.org/drawingml/2006/main">
              <a:ext uri="{FF2B5EF4-FFF2-40B4-BE49-F238E27FC236}">
                <a16:creationId xmlns:a16="http://schemas.microsoft.com/office/drawing/2014/main" id="{0DC3A4FF-2E2E-48AD-ABE6-C28E492F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2925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有诊断时先按提示修正</a:t>
            </a:r>
          </a:p>
        </p:txBody>
      </p:sp>
      <p:sp>
        <p:nvSpPr>
          <p:cNvPr id="26" name="first-run-title-2">
            <a:extLst xmlns:a="http://schemas.openxmlformats.org/drawingml/2006/main">
              <a:ext uri="{FF2B5EF4-FFF2-40B4-BE49-F238E27FC236}">
                <a16:creationId xmlns:a16="http://schemas.microsoft.com/office/drawing/2014/main" id="{FD4F8825-C48A-4E02-95F1-242BF31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578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3 执行静态扫描</a:t>
            </a:r>
          </a:p>
        </p:txBody>
      </p:sp>
      <p:sp>
        <p:nvSpPr>
          <p:cNvPr id="27" name="first-run-command-2">
            <a:extLst xmlns:a="http://schemas.openxmlformats.org/drawingml/2006/main">
              <a:ext uri="{FF2B5EF4-FFF2-40B4-BE49-F238E27FC236}">
                <a16:creationId xmlns:a16="http://schemas.microsoft.com/office/drawing/2014/main" id="{101C9C5D-67B5-49F7-AE03-545D45E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9602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.\ecra.cmd --no-review</a:t>
            </a:r>
          </a:p>
        </p:txBody>
      </p:sp>
      <p:sp>
        <p:nvSpPr>
          <p:cNvPr id="28" name="first-run-result-2">
            <a:extLst xmlns:a="http://schemas.openxmlformats.org/drawingml/2006/main">
              <a:ext uri="{FF2B5EF4-FFF2-40B4-BE49-F238E27FC236}">
                <a16:creationId xmlns:a16="http://schemas.microsoft.com/office/drawing/2014/main" id="{191C3E93-7200-4EEF-A9DF-3FD00CC4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75322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生成静态报告与待复核队列</a:t>
            </a:r>
          </a:p>
        </p:txBody>
      </p:sp>
      <p:sp>
        <p:nvSpPr>
          <p:cNvPr id="29" name="open-report-title">
            <a:extLst xmlns:a="http://schemas.openxmlformats.org/drawingml/2006/main">
              <a:ext uri="{FF2B5EF4-FFF2-40B4-BE49-F238E27FC236}">
                <a16:creationId xmlns:a16="http://schemas.microsoft.com/office/drawing/2014/main" id="{94D29C27-E4D7-4748-BF9B-BA21AF6E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1056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4 打开固件目录中的报告</a:t>
            </a:r>
          </a:p>
        </p:txBody>
      </p:sp>
      <p:sp>
        <p:nvSpPr>
          <p:cNvPr id="30" name="open-report-file">
            <a:extLst xmlns:a="http://schemas.openxmlformats.org/drawingml/2006/main">
              <a:ext uri="{FF2B5EF4-FFF2-40B4-BE49-F238E27FC236}">
                <a16:creationId xmlns:a16="http://schemas.microsoft.com/office/drawing/2014/main" id="{AC34E358-7F9C-447D-9427-600B60F7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5628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.ecra/index.html</a:t>
            </a:r>
          </a:p>
        </p:txBody>
      </p:sp>
      <p:sp>
        <p:nvSpPr>
          <p:cNvPr id="31" name="config-replace-note">
            <a:extLst xmlns:a="http://schemas.openxmlformats.org/drawingml/2006/main">
              <a:ext uri="{FF2B5EF4-FFF2-40B4-BE49-F238E27FC236}">
                <a16:creationId xmlns:a16="http://schemas.microsoft.com/office/drawing/2014/main" id="{D8A76865-9C86-4947-B740-0EF0683C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200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目录和工具链文件名改为工程实际值，配置合并到原文件</a:t>
            </a:r>
          </a:p>
        </p:txBody>
      </p:sp>
    </p:spTree>
    <p:extLst>
      <p:ext uri="{BB962C8B-B14F-4D97-AF65-F5344CB8AC3E}">
        <p14:creationId xmlns:p14="http://schemas.microsoft.com/office/powerpoint/2010/main" val="36037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00E3E43E-0687-4689-82CC-430F6BC3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30A70F-C9D9-42D3-9B25-548F76E8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读报告与复用已有扫描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18B80F-9732-4B3F-B332-233BB23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所有输出位于固件目录 .ecra 下，所有命令仍在 D:\ECRA 执行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497FFF-0A56-4A64-8128-EAE6AF34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524125"/>
          <a:ext xmlns:a="http://schemas.openxmlformats.org/drawingml/2006/main" cx="13716000" cy="2257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715000"/>
                <a:gridCol w="8001000"/>
              </a:tblGrid>
              <a:tr h="7524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阅读顺序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7524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index.html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先看覆盖诊断，再搜变量</a:t>
                      </a:r>
                    </a:p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展开全部读写、执行者与调用链，对照源码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opencode_review.html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看语义结论、missing_context 与原始归档</a:t>
                      </a:r>
                    </a:p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决定修复、补证或保留安全前提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state-example">
            <a:extLst xmlns:a="http://schemas.openxmlformats.org/drawingml/2006/main">
              <a:ext uri="{FF2B5EF4-FFF2-40B4-BE49-F238E27FC236}">
                <a16:creationId xmlns:a16="http://schemas.microsoft.com/office/drawing/2014/main" id="{E0F3BAAF-4F2A-4E9B-A93F-B508E563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366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示例：SUSPECT（静态） + DONE（执行） + NEED_MORE_CONTEXT（语义）</a:t>
            </a:r>
          </a:p>
        </p:txBody>
      </p:sp>
      <p:sp>
        <p:nvSpPr>
          <p:cNvPr id="7" name="state-example-meaning">
            <a:extLst xmlns:a="http://schemas.openxmlformats.org/drawingml/2006/main">
              <a:ext uri="{FF2B5EF4-FFF2-40B4-BE49-F238E27FC236}">
                <a16:creationId xmlns:a16="http://schemas.microsoft.com/office/drawing/2014/main" id="{B2271D6F-4518-4C8C-B2E2-CE1812DD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366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表示：静态疑似项已经完成复核，但仍缺决定性证据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62000" y="6191250"/>
          <a:ext xmlns:a="http://schemas.openxmlformats.org/drawingml/2006/main" cx="13716000" cy="1714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43500"/>
                <a:gridCol w="4857750"/>
                <a:gridCol w="3714750"/>
              </a:tblGrid>
              <a:tr h="42862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日常目标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执行命令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42862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更新背景 / 案例，或补充证据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.\ecra.cmd 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重评当前全部疑似 / 未知项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只重试技术失败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.\ecra.cmd review-failed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仅重试 TECH_FAILED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42862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只重新生成报告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.\ecra.cmd report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复用记录，不调用模型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use-precondition">
            <a:extLst xmlns:a="http://schemas.openxmlformats.org/drawingml/2006/main">
              <a:ext uri="{FF2B5EF4-FFF2-40B4-BE49-F238E27FC236}">
                <a16:creationId xmlns:a16="http://schemas.microsoft.com/office/drawing/2014/main" id="{331EDF32-DCE5-4DA1-BD47-D3CD64E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96250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修复后做针对性验证并重扫；仅更新背景 / 案例可 review。OpenCode 需预先配置可用</a:t>
            </a:r>
          </a:p>
        </p:txBody>
      </p:sp>
    </p:spTree>
    <p:extLst>
      <p:ext uri="{BB962C8B-B14F-4D97-AF65-F5344CB8AC3E}">
        <p14:creationId xmlns:p14="http://schemas.microsoft.com/office/powerpoint/2010/main" val="117618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2026-10-18T13:19:30.9150000Z</dcterms:created>
  <dcterms:modified xsi:type="dcterms:W3CDTF">2026-10-18T13:19:30.9150000Z</dcterms:modified>
</coreProperties>
</file>