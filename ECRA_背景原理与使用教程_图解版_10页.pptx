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508e99c7324285" /><Relationship Type="http://schemas.openxmlformats.org/officeDocument/2006/relationships/extended-properties" Target="/docProps/app.xml" Id="R964f0c57f23144fc" /><Relationship Type="http://schemas.openxmlformats.org/officeDocument/2006/relationships/officeDocument" Target="/ppt/presentation.xml" Id="R84b1798ec5c645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aa564db28c4e5a"/>
  </p:sldMasterIdLst>
  <p:notesMasterIdLst>
    <p:notesMasterId xmlns:r="http://schemas.openxmlformats.org/officeDocument/2006/relationships" r:id="Rf0387ea665c14245"/>
  </p:notesMasterIdLst>
  <p:sldIdLst>
    <p:sldId xmlns:r="http://schemas.openxmlformats.org/officeDocument/2006/relationships" id="256" r:id="Rbbca3a77dfea4095"/>
    <p:sldId xmlns:r="http://schemas.openxmlformats.org/officeDocument/2006/relationships" id="257" r:id="R427dc2f6260f4b83"/>
    <p:sldId xmlns:r="http://schemas.openxmlformats.org/officeDocument/2006/relationships" id="258" r:id="Rfe623e0273e942c8"/>
    <p:sldId xmlns:r="http://schemas.openxmlformats.org/officeDocument/2006/relationships" id="259" r:id="R4c9954af13654c68"/>
    <p:sldId xmlns:r="http://schemas.openxmlformats.org/officeDocument/2006/relationships" id="260" r:id="Rdedaaecf7e9b425f"/>
    <p:sldId xmlns:r="http://schemas.openxmlformats.org/officeDocument/2006/relationships" id="261" r:id="R7ddff69bbc354417"/>
    <p:sldId xmlns:r="http://schemas.openxmlformats.org/officeDocument/2006/relationships" id="262" r:id="R02eeab708d824735"/>
    <p:sldId xmlns:r="http://schemas.openxmlformats.org/officeDocument/2006/relationships" id="263" r:id="R806024b321e24745"/>
    <p:sldId xmlns:r="http://schemas.openxmlformats.org/officeDocument/2006/relationships" id="264" r:id="R1cf2d1576ec84154"/>
    <p:sldId xmlns:r="http://schemas.openxmlformats.org/officeDocument/2006/relationships" id="265" r:id="R042ff75e75c44d07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9b08280eda4640" /><Relationship Type="http://schemas.openxmlformats.org/officeDocument/2006/relationships/slideMaster" Target="/ppt/slideMasters/slideMaster1.xml" Id="R82aa564db28c4e5a" /><Relationship Type="http://schemas.openxmlformats.org/officeDocument/2006/relationships/notesMaster" Target="/ppt/notesMasters/notesMaster1.xml" Id="Rf0387ea665c14245" /><Relationship Type="http://schemas.openxmlformats.org/officeDocument/2006/relationships/presProps" Target="/ppt/presProps.xml" Id="R6efa2b41acc94d73" /><Relationship Type="http://schemas.openxmlformats.org/officeDocument/2006/relationships/tableStyles" Target="/ppt/tableStyles.xml" Id="R17fec43688054a50" /><Relationship Type="http://schemas.openxmlformats.org/officeDocument/2006/relationships/slide" Target="/ppt/slides/slide1.xml" Id="Rbbca3a77dfea4095" /><Relationship Type="http://schemas.openxmlformats.org/officeDocument/2006/relationships/slide" Target="/ppt/slides/slide2.xml" Id="R427dc2f6260f4b83" /><Relationship Type="http://schemas.openxmlformats.org/officeDocument/2006/relationships/slide" Target="/ppt/slides/slide3.xml" Id="Rfe623e0273e942c8" /><Relationship Type="http://schemas.openxmlformats.org/officeDocument/2006/relationships/slide" Target="/ppt/slides/slide4.xml" Id="R4c9954af13654c68" /><Relationship Type="http://schemas.openxmlformats.org/officeDocument/2006/relationships/slide" Target="/ppt/slides/slide5.xml" Id="Rdedaaecf7e9b425f" /><Relationship Type="http://schemas.openxmlformats.org/officeDocument/2006/relationships/slide" Target="/ppt/slides/slide6.xml" Id="R7ddff69bbc354417" /><Relationship Type="http://schemas.openxmlformats.org/officeDocument/2006/relationships/slide" Target="/ppt/slides/slide7.xml" Id="R02eeab708d824735" /><Relationship Type="http://schemas.openxmlformats.org/officeDocument/2006/relationships/slide" Target="/ppt/slides/slide8.xml" Id="R806024b321e24745" /><Relationship Type="http://schemas.openxmlformats.org/officeDocument/2006/relationships/slide" Target="/ppt/slides/slide9.xml" Id="R1cf2d1576ec84154" /><Relationship Type="http://schemas.openxmlformats.org/officeDocument/2006/relationships/slide" Target="/ppt/slides/slide10.xml" Id="R042ff75e75c44d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afa53b202f4a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99e36833f344f9" /><Relationship Type="http://schemas.openxmlformats.org/officeDocument/2006/relationships/notesMaster" Target="/ppt/notesMasters/notesMaster1.xml" Id="R2f68ed08dc9540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df4588a88a415a" /><Relationship Type="http://schemas.openxmlformats.org/officeDocument/2006/relationships/notesMaster" Target="/ppt/notesMasters/notesMaster1.xml" Id="R86a2c84b69b949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92be7c5f7a4849" /><Relationship Type="http://schemas.openxmlformats.org/officeDocument/2006/relationships/notesMaster" Target="/ppt/notesMasters/notesMaster1.xml" Id="R2af29f6e30dc4a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87a8831d2e4ca7" /><Relationship Type="http://schemas.openxmlformats.org/officeDocument/2006/relationships/notesMaster" Target="/ppt/notesMasters/notesMaster1.xml" Id="R2dbeb7ac150a44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a5681078714b3e" /><Relationship Type="http://schemas.openxmlformats.org/officeDocument/2006/relationships/notesMaster" Target="/ppt/notesMasters/notesMaster1.xml" Id="Ra72d1a2a761041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e735f1fb504028" /><Relationship Type="http://schemas.openxmlformats.org/officeDocument/2006/relationships/notesMaster" Target="/ppt/notesMasters/notesMaster1.xml" Id="R5d566b9cfdaa42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079dc296e348dc" /><Relationship Type="http://schemas.openxmlformats.org/officeDocument/2006/relationships/notesMaster" Target="/ppt/notesMasters/notesMaster1.xml" Id="R9e9e5f2cc9da40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5741a4fe3734803" /><Relationship Type="http://schemas.openxmlformats.org/officeDocument/2006/relationships/notesMaster" Target="/ppt/notesMasters/notesMaster1.xml" Id="R39efa2bf602d49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92d6475dd984cf1" /><Relationship Type="http://schemas.openxmlformats.org/officeDocument/2006/relationships/notesMaster" Target="/ppt/notesMasters/notesMaster1.xml" Id="R36ad2943d9db45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5df4fc39ed435a" /><Relationship Type="http://schemas.openxmlformats.org/officeDocument/2006/relationships/notesMaster" Target="/ppt/notesMasters/notesMaster1.xml" Id="Rd6a9b0f04c1144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ECRA 面向 STM32 全局与 static 变量的并发排查。培训围绕三个问题：为什么需要排查、工具怎样分析、用户怎样完成第一次扫描。主要演示单核裸机 CMake 工程，也兼容已有真实 compile_commands.json 的工程。最后应能从一个变量的读写和执行上下文解释风险。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项目资料</a:t>
            </a:r>
          </a:p>
          <a:p xmlns:a="http://schemas.openxmlformats.org/drawingml/2006/main">
            <a:r>
              <a:t>H:/global_static_concurrency_design/README.md</a:t>
            </a:r>
          </a:p>
          <a:p xmlns:a="http://schemas.openxmlformats.org/drawingml/2006/main">
            <a:r>
              <a:t>H:/global_static_concurrency_design/docs/one-command-tutorial.md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关系图表达可能的访问关系，不表示三者在每个工程中都存在或都会同时运行。主循环和可抢占中断在单核上以交错方式执行，DMA 则可独立进行内存传输。文件 static 仍可能经不同入口调用的函数而共享。volatile 不能提供互斥，单次对齐的机器指令原子也不等于完整业务事务原子。实际分析必须恢复当前源码中的真实入口和访问关系。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项目资料</a:t>
            </a:r>
          </a:p>
          <a:p xmlns:a="http://schemas.openxmlformats.org/drawingml/2006/main">
            <a:r>
              <a:t>H:/global_static_concurrency_design/README.md</a:t>
            </a:r>
          </a:p>
          <a:p xmlns:a="http://schemas.openxmlformats.org/drawingml/2006/main">
            <a:r>
              <a:t>H:/global_static_concurrency_design/docs/variable-investigation-guide.md</a:t>
            </a:r>
          </a:p>
          <a:p xmlns:a="http://schemas.openxmlformats.org/drawingml/2006/main">
            <a:r>
              <a:t>H:/global_static_concurrency_design/docs/concurrency-tool-design.md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这是为讲解读改写机制而简化的计数器示意，未声称来自目标板实测。count++ 包含读取、计算和写回。主循环读到 0 后，中断也读取 0 并写入 1。主循环恢复后用自己的旧值算出并写入 1，因而两次增加只得到 1。该示意要求中断确实可以在相应窗口抢占且没有共同有效保护。项目的 pending_events 教程展示了另一种读快照后清零丢事件的实际源码模式。volatile 不会封闭这些事务窗口。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项目资料</a:t>
            </a:r>
          </a:p>
          <a:p xmlns:a="http://schemas.openxmlformats.org/drawingml/2006/main">
            <a:r>
              <a:t>H:/global_static_concurrency_design/docs/variable-investigation-guide.md</a:t>
            </a:r>
          </a:p>
          <a:p xmlns:a="http://schemas.openxmlformats.org/drawingml/2006/main">
            <a:r>
              <a:t>H:/global_static_concurrency_design/config/concurrency_cases.md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完整流水线基于真实 compile_commands.json，CMake 模式自动生成或刷新数据库。libclang 提取静态存储期对象和访问、调用、注册、保护等事实。跨翻译单元别名与函数指针分析及调用图传播用于关联 main、IRQ、回调、DMA 等实际上下文。随后逐变量判断已恢复的冲突和相关覆盖缺口。报告可离线读取。OpenCode 是可选的只读复核层，根据静态证据导航回到源码核对语义。它不会因看到相似案例就直接确认风险，也不替代目标板验证。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项目资料</a:t>
            </a:r>
          </a:p>
          <a:p xmlns:a="http://schemas.openxmlformats.org/drawingml/2006/main">
            <a:r>
              <a:t>H:/global_static_concurrency_design/README.md</a:t>
            </a:r>
          </a:p>
          <a:p xmlns:a="http://schemas.openxmlformats.org/drawingml/2006/main">
            <a:r>
              <a:t>H:/global_static_concurrency_design/docs/concurrency-tool-design.md</a:t>
            </a:r>
          </a:p>
          <a:p xmlns:a="http://schemas.openxmlformats.org/drawingml/2006/main">
            <a:r>
              <a:t>H:/global_static_concurrency_design/docs/opencode-review-format.md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判定顺序来自当前 README：先保留已恢复的同一存储、跨物理执行上下文、至少一方修改、可能交错且未证明完整保护的冲突为 SUSPECT。即使保护细节或优先级还有缺口，也不把已发现冲突降为 UNKNOWN。没有上述冲突，但存在可能隐藏额外冲突的变量相关缺口时为 UNKNOWN。证据充分证明无冲突时为 SAFE，必须保留具体安全依据。仅有 volatile、字长、单个源码写点或出现关中断 API 不构成安全证明。SAFE 只适用于当前构建与证据范围。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项目资料</a:t>
            </a:r>
          </a:p>
          <a:p xmlns:a="http://schemas.openxmlformats.org/drawingml/2006/main">
            <a:r>
              <a:t>H:/global_static_concurrency_design/README.md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这是源码版接入路径，默认使用已安装的 Python 3.10。其他受支持版本可用对应启动命令。CMake 工程需要正常使用的 CMake、生成器和 Arm GCC；不要因为运行 ECRA 而更换真实构建方式。Windows 便携包预装依赖时无需再安装系统 Python 依赖。表格是对现有唯一配置的关键项说明，不是可整体替换 YAML 的完整配置。新的空配置可先使用 run_ecra.py init --project 创建模板。当前仓库已有 semantics.yaml，切换工程直接编辑 project.root 和相关字段。include_dirs 要覆盖全部自有代码和头文件，exclude_dirs 按实际归属排除第三方；范围外 HAL 函数仍可参与调用链恢复。cmake.build_dir 使用专用目录，工具链和宏与真实固件保持一致。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项目资料</a:t>
            </a:r>
          </a:p>
          <a:p xmlns:a="http://schemas.openxmlformats.org/drawingml/2006/main">
            <a:r>
              <a:t>H:/global_static_concurrency_design/docs/one-command-tutorial.md</a:t>
            </a:r>
          </a:p>
          <a:p xmlns:a="http://schemas.openxmlformats.org/drawingml/2006/main">
            <a:r>
              <a:t>H:/global_static_concurrency_design/config/semantics.yaml</a:t>
            </a:r>
          </a:p>
          <a:p xmlns:a="http://schemas.openxmlformats.org/drawingml/2006/main">
            <a:r>
              <a:t>H:/global_static_concurrency_design/README.md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先处理 doctor 提示的配置、依赖或构建问题，再执行完整扫描。--no-review 显式关闭本次 AI 复核，因此不需要模型账户；当前配置中 review.enabled 即使为 true，也由这个参数覆盖。CMake 模式根据配置生成真实编译数据库，并可编译固件。ECRA 不修改固件源码，不执行烧录。打开 project.root 对应目录下的 .ecra/index.html 查看结果。静态扫描后仍有 PENDING 复核任务是正常情况，不能将未调用模型当成模型复核通过。便携包可使用 ecra.cmd doctor 和 ecra.cmd --no-review。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项目资料</a:t>
            </a:r>
          </a:p>
          <a:p xmlns:a="http://schemas.openxmlformats.org/drawingml/2006/main">
            <a:r>
              <a:t>H:/global_static_concurrency_design/README.md</a:t>
            </a:r>
          </a:p>
          <a:p xmlns:a="http://schemas.openxmlformats.org/drawingml/2006/main">
            <a:r>
              <a:t>H:/global_static_concurrency_design/docs/one-command-tutorial.md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此图是项目变量教程的源码证据摘录，不是假装实时报告截图。pending_events 的主循环路径为 main 到 Service_Poll，后者先读取 snapshot 后清零。TIM2_IRQHandler 到 Service_Sample 使用 |= 2U 加入采样位。观众在报告中搜索变量名，再展开变量属性、全部访问与调用链，核对定义文件、编译单元和具体源码行。候选路径可能含静态保守传播，不能仅凭候选入口认定它一定执行，还需核对句柄和条件。对同名 static 或头文件实例必须按唯一身份区分。报告的可能交错是推演，用于指导测试，不是已经捕获的板上轨迹。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项目资料</a:t>
            </a:r>
          </a:p>
          <a:p xmlns:a="http://schemas.openxmlformats.org/drawingml/2006/main">
            <a:r>
              <a:t>H:/global_static_concurrency_design/docs/variable-investigation-guide.md</a:t>
            </a:r>
          </a:p>
          <a:p xmlns:a="http://schemas.openxmlformats.org/drawingml/2006/main">
            <a:r>
              <a:t>H:/global_static_concurrency_design/README.md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先有一致且有效的静态扫描，再进行只读模型复核。自动完整运行的开关为 review.enabled，review 命令本身则表示显式请求复核。OpenCode 需要已配置且可用的模型提供商。工程补充背景写在 semantics.yaml 旁的 review_context.md，案例库为 concurrency_cases.md，默认均位于 config/。它们作为待源码核实的信息和审查方法，不授予额外执行权限。当前图的三种处理方向归纳具体语义状态：CONFIRMED 处理风险，REVIEWED_SAFE 和 FALSE_POSITIVE 保留排除依据，LIKELY 和 NEED_MORE_CONTEXT 补齐缺失事实。模型复核页为 .ecra/opencode_review.html。复核答案仍需对照源码和适用前提，目标板验证另行完成。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项目资料</a:t>
            </a:r>
          </a:p>
          <a:p xmlns:a="http://schemas.openxmlformats.org/drawingml/2006/main">
            <a:r>
              <a:t>H:/global_static_concurrency_design/README.md</a:t>
            </a:r>
          </a:p>
          <a:p xmlns:a="http://schemas.openxmlformats.org/drawingml/2006/main">
            <a:r>
              <a:t>H:/global_static_concurrency_design/docs/opencode-review-format.md</a:t>
            </a:r>
          </a:p>
          <a:p xmlns:a="http://schemas.openxmlformats.org/drawingml/2006/main">
            <a:r>
              <a:t>H:/global_static_concurrency_design/config/concurrency_cases.md</a:t>
            </a:r>
          </a:p>
          <a:p xmlns:a="http://schemas.openxmlformats.org/drawingml/2006/main">
            <a:r>
              <a:t>H:/global_static_concurrency_design/config/review_context.md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源码、头文件、构建输入、分析配置或静态提取与分类实现变化后，应重新扫描获取当前事实。只有案例库、提示词或工程背景变化时，可以直接 review 重评全部当前 SUSPECT/UNKNOWN。review-failed 只重试 TECH_FAILED，不会重评已有 NEED_MORE_CONTEXT 的变量。修复验收应验证原来的错误交错和业务结果，候选消失或模型给出安全结论本身不足以替代测试。以事件位图为例，修复要保护完整读快照并清零的事务，所有事件发布者的读改写也应有一致有效的保护。适用单核普通可屏蔽 IRQ 时，应保存并恢复原 PRIMASK，耗时业务放在临界区外。DMA、NMI 和多核需单独分析。进一步操作见 docs/one-command-tutorial.md，案例练习见 docs/variable-investigation-guide.md。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项目资料</a:t>
            </a:r>
          </a:p>
          <a:p xmlns:a="http://schemas.openxmlformats.org/drawingml/2006/main">
            <a:r>
              <a:t>H:/global_static_concurrency_design/README.md</a:t>
            </a:r>
          </a:p>
          <a:p xmlns:a="http://schemas.openxmlformats.org/drawingml/2006/main">
            <a:r>
              <a:t>H:/global_static_concurrency_design/docs/one-command-tutorial.md</a:t>
            </a:r>
          </a:p>
          <a:p xmlns:a="http://schemas.openxmlformats.org/drawingml/2006/main">
            <a:r>
              <a:t>H:/global_static_concurrency_design/docs/variable-investigation-guide.md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92c82c70574f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73110c49b24e14" /><Relationship Type="http://schemas.openxmlformats.org/officeDocument/2006/relationships/slideLayout" Target="/ppt/slideLayouts/slideLayout1.xml" Id="R370a427ddcdc4e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0a427ddcdc4e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0ae2fbfc243f9" /><Relationship Type="http://schemas.openxmlformats.org/officeDocument/2006/relationships/notesSlide" Target="/ppt/notesSlides/notesSlide1.xml" Id="R2115d43355434a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21b9988ef4be0" /><Relationship Type="http://schemas.openxmlformats.org/officeDocument/2006/relationships/notesSlide" Target="/ppt/notesSlides/notesSlide2.xml" Id="R09a7643abc094e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ebe4582784d10" /><Relationship Type="http://schemas.openxmlformats.org/officeDocument/2006/relationships/notesSlide" Target="/ppt/notesSlides/notesSlide3.xml" Id="R1784c33f462e44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ed55c49994a5c" /><Relationship Type="http://schemas.openxmlformats.org/officeDocument/2006/relationships/notesSlide" Target="/ppt/notesSlides/notesSlide4.xml" Id="R3e8b4daea64440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01db1daad04913" /><Relationship Type="http://schemas.openxmlformats.org/officeDocument/2006/relationships/notesSlide" Target="/ppt/notesSlides/notesSlide5.xml" Id="R583d5187f0244b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6d4f21d694e7a" /><Relationship Type="http://schemas.openxmlformats.org/officeDocument/2006/relationships/notesSlide" Target="/ppt/notesSlides/notesSlide6.xml" Id="Rff3b6b4ef66547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63922c0476409f" /><Relationship Type="http://schemas.openxmlformats.org/officeDocument/2006/relationships/notesSlide" Target="/ppt/notesSlides/notesSlide7.xml" Id="R8d7dd9ca5f614a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b7ed7781d4bdf" /><Relationship Type="http://schemas.openxmlformats.org/officeDocument/2006/relationships/notesSlide" Target="/ppt/notesSlides/notesSlide8.xml" Id="R8009362021974f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fce73e272145a3" /><Relationship Type="http://schemas.openxmlformats.org/officeDocument/2006/relationships/notesSlide" Target="/ppt/notesSlides/notesSlide9.xml" Id="R80c961fd92564be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703e4b66d6479b" /><Relationship Type="http://schemas.openxmlformats.org/officeDocument/2006/relationships/notesSlide" Target="/ppt/notesSlides/notesSlide10.xml" Id="R8c796695d03744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rand">
            <a:extLst xmlns:a="http://schemas.openxmlformats.org/drawingml/2006/main">
              <a:ext uri="{FF2B5EF4-FFF2-40B4-BE49-F238E27FC236}">
                <a16:creationId xmlns:a16="http://schemas.microsoft.com/office/drawing/2014/main" id="{81262FD4-44AB-4945-A7E2-F16E2B6B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"/>
            <a:ext cx="904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425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425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rPr>
              <a:t>ECRA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8BCC5E8-FD4B-4B5D-A03F-926F6B9C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8810625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05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STM32</a:t>
            </a:r>
          </a:p>
          <a:p xmlns:a="http://schemas.openxmlformats.org/drawingml/2006/main">
            <a:pPr algn="l">
              <a:defRPr sz="705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并发排查</a:t>
            </a:r>
          </a:p>
        </p:txBody>
      </p:sp>
      <p:sp>
        <p:nvSpPr>
          <p:cNvPr id="3" name="cover-scope">
            <a:extLst xmlns:a="http://schemas.openxmlformats.org/drawingml/2006/main">
              <a:ext uri="{FF2B5EF4-FFF2-40B4-BE49-F238E27FC236}">
                <a16:creationId xmlns:a16="http://schemas.microsoft.com/office/drawing/2014/main" id="{D979EC29-04D2-4D6C-8AFC-EB2040CC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933950"/>
            <a:ext cx="847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全局变量与 static 变量</a:t>
            </a:r>
          </a:p>
        </p:txBody>
      </p:sp>
      <p:sp>
        <p:nvSpPr>
          <p:cNvPr id="4" name="cover-purpose">
            <a:extLst xmlns:a="http://schemas.openxmlformats.org/drawingml/2006/main">
              <a:ext uri="{FF2B5EF4-FFF2-40B4-BE49-F238E27FC236}">
                <a16:creationId xmlns:a16="http://schemas.microsoft.com/office/drawing/2014/main" id="{B384D72B-B75B-46DE-AD50-16D5EB15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0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0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rPr>
              <a:t>背景、原理与使用教程</a:t>
            </a:r>
          </a:p>
        </p:txBody>
      </p:sp>
      <p:sp>
        <p:nvSpPr>
          <p:cNvPr id="5" name="cover-source">
            <a:extLst xmlns:a="http://schemas.openxmlformats.org/drawingml/2006/main">
              <a:ext uri="{FF2B5EF4-FFF2-40B4-BE49-F238E27FC236}">
                <a16:creationId xmlns:a16="http://schemas.microsoft.com/office/drawing/2014/main" id="{31DF4331-95EC-48F2-9314-C00F26D9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343150"/>
            <a:ext cx="3143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2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固件源码</a:t>
            </a:r>
          </a:p>
        </p:txBody>
      </p:sp>
      <p:sp>
        <p:nvSpPr>
          <p:cNvPr id="6" name="cover-evidence">
            <a:extLst xmlns:a="http://schemas.openxmlformats.org/drawingml/2006/main">
              <a:ext uri="{FF2B5EF4-FFF2-40B4-BE49-F238E27FC236}">
                <a16:creationId xmlns:a16="http://schemas.microsoft.com/office/drawing/2014/main" id="{67054C84-B3B5-4816-BEEE-B85DCB8C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48125"/>
            <a:ext cx="3143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rPr>
              <a:t>访问证据</a:t>
            </a:r>
          </a:p>
        </p:txBody>
      </p:sp>
      <p:sp>
        <p:nvSpPr>
          <p:cNvPr id="7" name="cover-verdict">
            <a:extLst xmlns:a="http://schemas.openxmlformats.org/drawingml/2006/main">
              <a:ext uri="{FF2B5EF4-FFF2-40B4-BE49-F238E27FC236}">
                <a16:creationId xmlns:a16="http://schemas.microsoft.com/office/drawing/2014/main" id="{28521BD0-2A6E-4744-BAC4-ECE00CD4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753100"/>
            <a:ext cx="3143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63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风险结论</a:t>
            </a:r>
          </a:p>
        </p:txBody>
      </p:sp>
      <p:cxnSp>
        <p:nvCxnSpPr>
          <p:cNvPr id="17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12430125" y="3352800"/>
            <a:ext cx="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D5E4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18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2430125" y="5057775"/>
            <a:ext cx="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D5E4"/>
            </a:solidFill>
            <a:prstDash val="solid"/>
            <a:headEnd type="none" w="sm" len="sm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521489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hapter">
            <a:extLst xmlns:a="http://schemas.openxmlformats.org/drawingml/2006/main">
              <a:ext uri="{FF2B5EF4-FFF2-40B4-BE49-F238E27FC236}">
                <a16:creationId xmlns:a16="http://schemas.microsoft.com/office/drawing/2014/main" id="{2B9A3A74-82C8-4C11-9399-58A9B2E9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"/>
            <a:ext cx="1238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rPr>
              <a:t>01  背景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88BE40-F7CA-4702-BC75-05F9610E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76325"/>
            <a:ext cx="136683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共享变量连接了多个执行环境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D24F2E2-3FF4-4B21-895C-AA04CD2D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71675"/>
            <a:ext cx="1360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主循环、中断和 DMA 都可能访问同一块存储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090FA85-C548-44F0-870D-F06554F4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799147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foreground">
            <a:extLst xmlns:a="http://schemas.openxmlformats.org/drawingml/2006/main">
              <a:ext uri="{FF2B5EF4-FFF2-40B4-BE49-F238E27FC236}">
                <a16:creationId xmlns:a16="http://schemas.microsoft.com/office/drawing/2014/main" id="{755BAB30-2EE8-4FBD-B7C3-7C8B808C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00375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rPr>
              <a:t>主循环</a:t>
            </a:r>
          </a:p>
        </p:txBody>
      </p:sp>
      <p:sp>
        <p:nvSpPr>
          <p:cNvPr id="6" name="interrupt">
            <a:extLst xmlns:a="http://schemas.openxmlformats.org/drawingml/2006/main">
              <a:ext uri="{FF2B5EF4-FFF2-40B4-BE49-F238E27FC236}">
                <a16:creationId xmlns:a16="http://schemas.microsoft.com/office/drawing/2014/main" id="{9CA3E825-A66C-4FC2-804A-AE691B41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3875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rPr>
              <a:t>中断</a:t>
            </a:r>
          </a:p>
        </p:txBody>
      </p:sp>
      <p:sp>
        <p:nvSpPr>
          <p:cNvPr id="7" name="shared-storage">
            <a:extLst xmlns:a="http://schemas.openxmlformats.org/drawingml/2006/main">
              <a:ext uri="{FF2B5EF4-FFF2-40B4-BE49-F238E27FC236}">
                <a16:creationId xmlns:a16="http://schemas.microsoft.com/office/drawing/2014/main" id="{79CD3078-9D91-4E5E-BB4A-55AD4F47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857625"/>
            <a:ext cx="34290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63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全局 / static</a:t>
            </a:r>
          </a:p>
          <a:p xmlns:a="http://schemas.openxmlformats.org/drawingml/2006/main">
            <a:pPr algn="ctr">
              <a:def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共享变量</a:t>
            </a:r>
          </a:p>
        </p:txBody>
      </p:sp>
      <p:sp>
        <p:nvSpPr>
          <p:cNvPr id="8" name="dma">
            <a:extLst xmlns:a="http://schemas.openxmlformats.org/drawingml/2006/main">
              <a:ext uri="{FF2B5EF4-FFF2-40B4-BE49-F238E27FC236}">
                <a16:creationId xmlns:a16="http://schemas.microsoft.com/office/drawing/2014/main" id="{94D3D57D-DAD2-4520-B844-2264040F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095750"/>
            <a:ext cx="2619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2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4048125" y="3524250"/>
            <a:ext cx="3714750" cy="333375"/>
          </a:xfrm>
          <a:prstGeom xmlns:a="http://schemas.openxmlformats.org/drawingml/2006/main" prst="bentConnector2">
            <a:avLst/>
          </a:prstGeom>
          <a:ln xmlns:a="http://schemas.openxmlformats.org/drawingml/2006/main" w="28575">
            <a:solidFill>
              <a:srgbClr val="215DE0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6" idx="3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4048125" y="5334000"/>
            <a:ext cx="3714750" cy="428625"/>
          </a:xfrm>
          <a:prstGeom xmlns:a="http://schemas.openxmlformats.org/drawingml/2006/main" prst="bentConnector2">
            <a:avLst/>
          </a:prstGeom>
          <a:ln xmlns:a="http://schemas.openxmlformats.org/drawingml/2006/main" w="28575">
            <a:solidFill>
              <a:srgbClr val="215DE0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477375" y="4595813"/>
            <a:ext cx="1952625" cy="2381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5758B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12" name="foreground-access">
            <a:extLst xmlns:a="http://schemas.openxmlformats.org/drawingml/2006/main">
              <a:ext uri="{FF2B5EF4-FFF2-40B4-BE49-F238E27FC236}">
                <a16:creationId xmlns:a16="http://schemas.microsoft.com/office/drawing/2014/main" id="{265E4FAE-EE7A-4F3B-A40E-0244F80C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876550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读取 / 修改</a:t>
            </a:r>
          </a:p>
        </p:txBody>
      </p:sp>
      <p:sp>
        <p:nvSpPr>
          <p:cNvPr id="13" name="interrupt-access">
            <a:extLst xmlns:a="http://schemas.openxmlformats.org/drawingml/2006/main">
              <a:ext uri="{FF2B5EF4-FFF2-40B4-BE49-F238E27FC236}">
                <a16:creationId xmlns:a16="http://schemas.microsoft.com/office/drawing/2014/main" id="{173A5EB0-A017-491C-95CE-9005F5E1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6067425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抢占后更新</a:t>
            </a:r>
          </a:p>
        </p:txBody>
      </p:sp>
      <p:sp>
        <p:nvSpPr>
          <p:cNvPr id="14" name="dma-access">
            <a:extLst xmlns:a="http://schemas.openxmlformats.org/drawingml/2006/main">
              <a:ext uri="{FF2B5EF4-FFF2-40B4-BE49-F238E27FC236}">
                <a16:creationId xmlns:a16="http://schemas.microsoft.com/office/drawing/2014/main" id="{484205EF-9ED0-42FB-BC49-632DEFA3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4766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异步读写</a:t>
            </a:r>
          </a:p>
        </p:txBody>
      </p:sp>
      <p:sp>
        <p:nvSpPr>
          <p:cNvPr id="15" name="background-main-point">
            <a:extLst xmlns:a="http://schemas.openxmlformats.org/drawingml/2006/main">
              <a:ext uri="{FF2B5EF4-FFF2-40B4-BE49-F238E27FC236}">
                <a16:creationId xmlns:a16="http://schemas.microsoft.com/office/drawing/2014/main" id="{CE23ED14-3F98-4717-9BA1-72EF6C68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96125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读写交错可能丢事件、覆盖新值，或破坏缓冲区数据</a:t>
            </a:r>
          </a:p>
        </p:txBody>
      </p:sp>
    </p:spTree>
    <p:extLst>
      <p:ext uri="{BB962C8B-B14F-4D97-AF65-F5344CB8AC3E}">
        <p14:creationId xmlns:p14="http://schemas.microsoft.com/office/powerpoint/2010/main" val="1251309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hapter">
            <a:extLst xmlns:a="http://schemas.openxmlformats.org/drawingml/2006/main">
              <a:ext uri="{FF2B5EF4-FFF2-40B4-BE49-F238E27FC236}">
                <a16:creationId xmlns:a16="http://schemas.microsoft.com/office/drawing/2014/main" id="{241213D5-93AF-4821-9705-8F6B4C6A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"/>
            <a:ext cx="1238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rPr>
              <a:t>01  背景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32B96D-E3AA-438E-B6B6-73261109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76325"/>
            <a:ext cx="136683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一次中断，丢掉一次更新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5AD07B4-C034-425F-90E7-F22C2000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71675"/>
            <a:ext cx="1360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示意：主循环与中断各执行一次 count++，初始 count = 0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60980677-C9EB-446F-9291-16AEADB7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799147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main-lane">
            <a:extLst xmlns:a="http://schemas.openxmlformats.org/drawingml/2006/main">
              <a:ext uri="{FF2B5EF4-FFF2-40B4-BE49-F238E27FC236}">
                <a16:creationId xmlns:a16="http://schemas.microsoft.com/office/drawing/2014/main" id="{B01AF495-82DF-4F03-90C3-91AE6D83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67075"/>
            <a:ext cx="2143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主循环</a:t>
            </a:r>
          </a:p>
        </p:txBody>
      </p:sp>
      <p:sp>
        <p:nvSpPr>
          <p:cNvPr id="6" name="irq-lane">
            <a:extLst xmlns:a="http://schemas.openxmlformats.org/drawingml/2006/main">
              <a:ext uri="{FF2B5EF4-FFF2-40B4-BE49-F238E27FC236}">
                <a16:creationId xmlns:a16="http://schemas.microsoft.com/office/drawing/2014/main" id="{4E69791B-AFB9-4815-ACF6-421BA0AE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14925"/>
            <a:ext cx="2143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中断</a:t>
            </a:r>
          </a:p>
        </p:txBody>
      </p:sp>
      <p:sp>
        <p:nvSpPr>
          <p:cNvPr id="7" name="main-time">
            <a:extLst xmlns:a="http://schemas.openxmlformats.org/drawingml/2006/main">
              <a:ext uri="{FF2B5EF4-FFF2-40B4-BE49-F238E27FC236}">
                <a16:creationId xmlns:a16="http://schemas.microsoft.com/office/drawing/2014/main" id="{EF7C96CB-FA8F-4FCF-B5E9-4AAA22A7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7147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5E4"/>
            </a:solidFill>
          </a:ln>
        </p:spPr>
      </p:sp>
      <p:sp>
        <p:nvSpPr>
          <p:cNvPr id="8" name="irq-time">
            <a:extLst xmlns:a="http://schemas.openxmlformats.org/drawingml/2006/main">
              <a:ext uri="{FF2B5EF4-FFF2-40B4-BE49-F238E27FC236}">
                <a16:creationId xmlns:a16="http://schemas.microsoft.com/office/drawing/2014/main" id="{983CC207-2DE8-4C42-8A7B-7E140EF5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553402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5E4"/>
            </a:solidFill>
          </a:ln>
        </p:spPr>
      </p:sp>
      <p:sp>
        <p:nvSpPr>
          <p:cNvPr id="9" name="read-old">
            <a:extLst xmlns:a="http://schemas.openxmlformats.org/drawingml/2006/main">
              <a:ext uri="{FF2B5EF4-FFF2-40B4-BE49-F238E27FC236}">
                <a16:creationId xmlns:a16="http://schemas.microsoft.com/office/drawing/2014/main" id="{D7A177FC-2AF2-405D-9292-C6B7DE49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48025"/>
            <a:ext cx="2381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rPr>
              <a:t>1  读取 0</a:t>
            </a:r>
          </a:p>
        </p:txBody>
      </p:sp>
      <p:sp>
        <p:nvSpPr>
          <p:cNvPr id="10" name="irq-increment">
            <a:extLst xmlns:a="http://schemas.openxmlformats.org/drawingml/2006/main">
              <a:ext uri="{FF2B5EF4-FFF2-40B4-BE49-F238E27FC236}">
                <a16:creationId xmlns:a16="http://schemas.microsoft.com/office/drawing/2014/main" id="{9FC764EB-EBD0-49CA-B260-C46CB964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067300"/>
            <a:ext cx="3143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63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  加 1，写入 1</a:t>
            </a:r>
          </a:p>
        </p:txBody>
      </p:sp>
      <p:sp>
        <p:nvSpPr>
          <p:cNvPr id="11" name="stale-write">
            <a:extLst xmlns:a="http://schemas.openxmlformats.org/drawingml/2006/main">
              <a:ext uri="{FF2B5EF4-FFF2-40B4-BE49-F238E27FC236}">
                <a16:creationId xmlns:a16="http://schemas.microsoft.com/office/drawing/2014/main" id="{B833829F-A125-4EB4-BCC4-6B41F145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48025"/>
            <a:ext cx="3238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DE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C5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54536"/>
                </a:solidFill>
                <a:latin typeface="Microsoft YaHei"/>
                <a:ea typeface="Microsoft YaHei"/>
                <a:cs typeface="Microsoft YaHei"/>
              </a:rPr>
              <a:t>3  用旧值写入 1</a:t>
            </a:r>
          </a:p>
        </p:txBody>
      </p:sp>
      <p:cxnSp>
        <p:nvCxnSpPr>
          <p:cNvPr id="27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619750" y="3714750"/>
            <a:ext cx="1095375" cy="1819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65758B"/>
            </a:solidFill>
            <a:prstDash val="dash"/>
            <a:headEnd type="none" w="sm" len="sm"/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9858375" y="3714750"/>
            <a:ext cx="1000125" cy="1819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65758B"/>
            </a:solidFill>
            <a:prstDash val="dash"/>
            <a:headEnd type="none" w="sm" len="sm"/>
            <a:tailEnd type="triangle" w="sm" len="sm"/>
          </a:ln>
        </p:spPr>
      </p:cxnSp>
      <p:sp>
        <p:nvSpPr>
          <p:cNvPr id="14" name="expected">
            <a:extLst xmlns:a="http://schemas.openxmlformats.org/drawingml/2006/main">
              <a:ext uri="{FF2B5EF4-FFF2-40B4-BE49-F238E27FC236}">
                <a16:creationId xmlns:a16="http://schemas.microsoft.com/office/drawing/2014/main" id="{F980E159-D7EC-4F5F-8D8A-8B066F0A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8389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37B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37B62"/>
                </a:solidFill>
                <a:latin typeface="Microsoft YaHei"/>
                <a:ea typeface="Microsoft YaHei"/>
                <a:cs typeface="Microsoft YaHei"/>
              </a:rPr>
              <a:t>期望结果  2</a:t>
            </a:r>
          </a:p>
        </p:txBody>
      </p:sp>
      <p:sp>
        <p:nvSpPr>
          <p:cNvPr id="15" name="actual">
            <a:extLst xmlns:a="http://schemas.openxmlformats.org/drawingml/2006/main">
              <a:ext uri="{FF2B5EF4-FFF2-40B4-BE49-F238E27FC236}">
                <a16:creationId xmlns:a16="http://schemas.microsoft.com/office/drawing/2014/main" id="{81D60281-58D4-46C4-A3A7-B5F506D7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68389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C5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C54536"/>
                </a:solidFill>
                <a:latin typeface="Microsoft YaHei"/>
                <a:ea typeface="Microsoft YaHei"/>
                <a:cs typeface="Microsoft YaHei"/>
              </a:rPr>
              <a:t>实际结果  1</a:t>
            </a:r>
          </a:p>
        </p:txBody>
      </p:sp>
    </p:spTree>
    <p:extLst>
      <p:ext uri="{BB962C8B-B14F-4D97-AF65-F5344CB8AC3E}">
        <p14:creationId xmlns:p14="http://schemas.microsoft.com/office/powerpoint/2010/main" val="19532124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hapter">
            <a:extLst xmlns:a="http://schemas.openxmlformats.org/drawingml/2006/main">
              <a:ext uri="{FF2B5EF4-FFF2-40B4-BE49-F238E27FC236}">
                <a16:creationId xmlns:a16="http://schemas.microsoft.com/office/drawing/2014/main" id="{345C66BD-FFAE-47D6-AECC-84D59D7E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"/>
            <a:ext cx="1238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rPr>
              <a:t>02  原理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5BAB85E-3B88-43B9-930D-A2BB1B57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76325"/>
            <a:ext cx="136683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ECRA 如何找到风险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5E429EB-957D-4CFB-9FDD-64028FE6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71675"/>
            <a:ext cx="1360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沿真实构建还原变量、读写位置和执行关系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142B92A7-913F-41FF-B6EB-22540650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799147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pipeline-0">
            <a:extLst xmlns:a="http://schemas.openxmlformats.org/drawingml/2006/main">
              <a:ext uri="{FF2B5EF4-FFF2-40B4-BE49-F238E27FC236}">
                <a16:creationId xmlns:a16="http://schemas.microsoft.com/office/drawing/2014/main" id="{EE4F3C4F-1AF4-4997-A76D-B47B1B5A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05175"/>
            <a:ext cx="24098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rPr>
              <a:t>真实构建</a:t>
            </a:r>
          </a:p>
        </p:txBody>
      </p:sp>
      <p:sp>
        <p:nvSpPr>
          <p:cNvPr id="6" name="pipeline-caption-0">
            <a:extLst xmlns:a="http://schemas.openxmlformats.org/drawingml/2006/main">
              <a:ext uri="{FF2B5EF4-FFF2-40B4-BE49-F238E27FC236}">
                <a16:creationId xmlns:a16="http://schemas.microsoft.com/office/drawing/2014/main" id="{5D4C2275-C6C8-444E-B413-98E891B0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695825"/>
            <a:ext cx="2562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源码与编译参数</a:t>
            </a:r>
          </a:p>
        </p:txBody>
      </p:sp>
      <p:sp>
        <p:nvSpPr>
          <p:cNvPr id="7" name="pipeline-1">
            <a:extLst xmlns:a="http://schemas.openxmlformats.org/drawingml/2006/main">
              <a:ext uri="{FF2B5EF4-FFF2-40B4-BE49-F238E27FC236}">
                <a16:creationId xmlns:a16="http://schemas.microsoft.com/office/drawing/2014/main" id="{C53ACA68-4327-45BE-AE07-13BBDA1B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05175"/>
            <a:ext cx="24098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rPr>
              <a:t>Clang 解析</a:t>
            </a:r>
          </a:p>
        </p:txBody>
      </p:sp>
      <p:sp>
        <p:nvSpPr>
          <p:cNvPr id="8" name="pipeline-caption-1">
            <a:extLst xmlns:a="http://schemas.openxmlformats.org/drawingml/2006/main">
              <a:ext uri="{FF2B5EF4-FFF2-40B4-BE49-F238E27FC236}">
                <a16:creationId xmlns:a16="http://schemas.microsoft.com/office/drawing/2014/main" id="{B322B345-CE11-4266-8658-A8150C52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95825"/>
            <a:ext cx="2562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变量、读写、调用</a:t>
            </a:r>
          </a:p>
        </p:txBody>
      </p:sp>
      <p:sp>
        <p:nvSpPr>
          <p:cNvPr id="9" name="pipeline-2">
            <a:extLst xmlns:a="http://schemas.openxmlformats.org/drawingml/2006/main">
              <a:ext uri="{FF2B5EF4-FFF2-40B4-BE49-F238E27FC236}">
                <a16:creationId xmlns:a16="http://schemas.microsoft.com/office/drawing/2014/main" id="{DB369F27-1660-4834-9BBB-1C263BFF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305175"/>
            <a:ext cx="24098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rPr>
              <a:t>关系还原</a:t>
            </a:r>
          </a:p>
        </p:txBody>
      </p:sp>
      <p:sp>
        <p:nvSpPr>
          <p:cNvPr id="10" name="pipeline-caption-2">
            <a:extLst xmlns:a="http://schemas.openxmlformats.org/drawingml/2006/main">
              <a:ext uri="{FF2B5EF4-FFF2-40B4-BE49-F238E27FC236}">
                <a16:creationId xmlns:a16="http://schemas.microsoft.com/office/drawing/2014/main" id="{AE8E8269-0285-4E95-BC2B-BC105548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695825"/>
            <a:ext cx="2562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入口、保护、别名</a:t>
            </a:r>
          </a:p>
        </p:txBody>
      </p:sp>
      <p:sp>
        <p:nvSpPr>
          <p:cNvPr id="11" name="pipeline-3">
            <a:extLst xmlns:a="http://schemas.openxmlformats.org/drawingml/2006/main">
              <a:ext uri="{FF2B5EF4-FFF2-40B4-BE49-F238E27FC236}">
                <a16:creationId xmlns:a16="http://schemas.microsoft.com/office/drawing/2014/main" id="{9D3AC36D-DDB4-4F77-BAC1-BEF3A902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05175"/>
            <a:ext cx="24098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rPr>
              <a:t>风险判定</a:t>
            </a:r>
          </a:p>
        </p:txBody>
      </p:sp>
      <p:sp>
        <p:nvSpPr>
          <p:cNvPr id="12" name="pipeline-caption-3">
            <a:extLst xmlns:a="http://schemas.openxmlformats.org/drawingml/2006/main">
              <a:ext uri="{FF2B5EF4-FFF2-40B4-BE49-F238E27FC236}">
                <a16:creationId xmlns:a16="http://schemas.microsoft.com/office/drawing/2014/main" id="{BE3528A4-95F9-49C1-ABB4-209A927B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95825"/>
            <a:ext cx="2562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冲突与证据缺口</a:t>
            </a:r>
          </a:p>
        </p:txBody>
      </p:sp>
      <p:sp>
        <p:nvSpPr>
          <p:cNvPr id="13" name="pipeline-4">
            <a:extLst xmlns:a="http://schemas.openxmlformats.org/drawingml/2006/main">
              <a:ext uri="{FF2B5EF4-FFF2-40B4-BE49-F238E27FC236}">
                <a16:creationId xmlns:a16="http://schemas.microsoft.com/office/drawing/2014/main" id="{C9FF9E67-156E-4469-A178-9DE96A6B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6725" y="3305175"/>
            <a:ext cx="24098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63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本地报告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HTML / JSON</a:t>
            </a:r>
          </a:p>
        </p:txBody>
      </p:sp>
      <p:cxnSp>
        <p:nvCxnSpPr>
          <p:cNvPr id="34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19450" y="3852863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5DE0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991225" y="3852863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5DE0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763000" y="3852863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5DE0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11534775" y="3852863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5DE0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18" name="optional-review">
            <a:extLst xmlns:a="http://schemas.openxmlformats.org/drawingml/2006/main">
              <a:ext uri="{FF2B5EF4-FFF2-40B4-BE49-F238E27FC236}">
                <a16:creationId xmlns:a16="http://schemas.microsoft.com/office/drawing/2014/main" id="{0E6F2528-187B-4C25-9A2D-A8E8DDA7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35718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E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37B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37B62"/>
                </a:solidFill>
                <a:latin typeface="Microsoft YaHei"/>
                <a:ea typeface="Microsoft YaHei"/>
                <a:cs typeface="Microsoft YaHei"/>
              </a:rPr>
              <a:t>AI 复核（可选）</a:t>
            </a:r>
          </a:p>
        </p:txBody>
      </p:sp>
      <p:cxnSp>
        <p:nvCxnSpPr>
          <p:cNvPr id="39" name=""/>
          <p:cNvCxnSpPr>
            <a:stCxn xmlns:a="http://schemas.openxmlformats.org/drawingml/2006/main" id="13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12453938" y="4400550"/>
            <a:ext cx="647700" cy="1981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137B62"/>
            </a:solidFill>
            <a:prstDash val="dash"/>
            <a:headEnd type="none" w="sm" len="sm"/>
            <a:tailEnd type="triangle" w="sm" len="sm"/>
          </a:ln>
        </p:spPr>
      </p:cxnSp>
      <p:sp>
        <p:nvSpPr>
          <p:cNvPr id="20" name="review-support">
            <a:extLst xmlns:a="http://schemas.openxmlformats.org/drawingml/2006/main">
              <a:ext uri="{FF2B5EF4-FFF2-40B4-BE49-F238E27FC236}">
                <a16:creationId xmlns:a16="http://schemas.microsoft.com/office/drawing/2014/main" id="{2F2A64DC-3184-4DAE-A220-85B7DB68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8652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结合当前源码、工程背景和案例库</a:t>
            </a:r>
          </a:p>
        </p:txBody>
      </p:sp>
    </p:spTree>
    <p:extLst>
      <p:ext uri="{BB962C8B-B14F-4D97-AF65-F5344CB8AC3E}">
        <p14:creationId xmlns:p14="http://schemas.microsoft.com/office/powerpoint/2010/main" val="1792847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chapter">
            <a:extLst xmlns:a="http://schemas.openxmlformats.org/drawingml/2006/main">
              <a:ext uri="{FF2B5EF4-FFF2-40B4-BE49-F238E27FC236}">
                <a16:creationId xmlns:a16="http://schemas.microsoft.com/office/drawing/2014/main" id="{D23562BD-9FCC-49BC-9756-6796A141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"/>
            <a:ext cx="1238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rPr>
              <a:t>02  原理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C93414B-6969-4ABD-8F3B-7AAF388E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76325"/>
            <a:ext cx="136683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三个结论，三种处理方式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4A1BD44-F19C-4931-9D05-DB5AD136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71675"/>
            <a:ext cx="1360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风险结论与 COMPLETE / PARTIAL 覆盖状态分开记录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2776F0E9-B51C-4AA2-B725-BC9BACC4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799147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conflict-test">
            <a:extLst xmlns:a="http://schemas.openxmlformats.org/drawingml/2006/main">
              <a:ext uri="{FF2B5EF4-FFF2-40B4-BE49-F238E27FC236}">
                <a16:creationId xmlns:a16="http://schemas.microsoft.com/office/drawing/2014/main" id="{CA585B6B-9763-4A7E-8A88-B7D25B2A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695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rPr>
              <a:t>已恢复可能交错的冲突</a:t>
            </a:r>
          </a:p>
        </p:txBody>
      </p:sp>
      <p:sp>
        <p:nvSpPr>
          <p:cNvPr id="6" name="gap-test">
            <a:extLst xmlns:a="http://schemas.openxmlformats.org/drawingml/2006/main">
              <a:ext uri="{FF2B5EF4-FFF2-40B4-BE49-F238E27FC236}">
                <a16:creationId xmlns:a16="http://schemas.microsoft.com/office/drawing/2014/main" id="{B964FEFD-7FED-4CB1-B126-55DCD8D8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95825"/>
            <a:ext cx="695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rPr>
              <a:t>存在影响该变量的证据缺口</a:t>
            </a:r>
          </a:p>
        </p:txBody>
      </p:sp>
      <p:sp>
        <p:nvSpPr>
          <p:cNvPr id="7" name="safety-proof">
            <a:extLst xmlns:a="http://schemas.openxmlformats.org/drawingml/2006/main">
              <a:ext uri="{FF2B5EF4-FFF2-40B4-BE49-F238E27FC236}">
                <a16:creationId xmlns:a16="http://schemas.microsoft.com/office/drawing/2014/main" id="{A3988411-FBF1-4FCF-B30C-1587746A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534150"/>
            <a:ext cx="695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E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37B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7B62"/>
                </a:solidFill>
                <a:latin typeface="Microsoft YaHei"/>
                <a:ea typeface="Microsoft YaHei"/>
                <a:cs typeface="Microsoft YaHei"/>
              </a:rPr>
              <a:t>证据足以证明无冲突</a:t>
            </a:r>
          </a:p>
        </p:txBody>
      </p:sp>
      <p:sp>
        <p:nvSpPr>
          <p:cNvPr id="8" name="suspect-result">
            <a:extLst xmlns:a="http://schemas.openxmlformats.org/drawingml/2006/main">
              <a:ext uri="{FF2B5EF4-FFF2-40B4-BE49-F238E27FC236}">
                <a16:creationId xmlns:a16="http://schemas.microsoft.com/office/drawing/2014/main" id="{E223D394-A8A8-48E6-B0AF-84273158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14625"/>
            <a:ext cx="4191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DE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C5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C54536"/>
                </a:solidFill>
                <a:latin typeface="Microsoft YaHei"/>
                <a:ea typeface="Microsoft YaHei"/>
                <a:cs typeface="Microsoft YaHei"/>
              </a:rPr>
              <a:t>SUSPECT</a:t>
            </a:r>
          </a:p>
          <a:p xmlns:a="http://schemas.openxmlformats.org/drawingml/2006/main">
            <a:pPr algn="ctr">
              <a:defRPr sz="2475" b="1">
                <a:solidFill>
                  <a:srgbClr val="C5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C54536"/>
                </a:solidFill>
                <a:latin typeface="Microsoft YaHei"/>
                <a:ea typeface="Microsoft YaHei"/>
                <a:cs typeface="Microsoft YaHei"/>
              </a:rPr>
              <a:t>疑似风险，核对交错</a:t>
            </a:r>
          </a:p>
        </p:txBody>
      </p:sp>
      <p:sp>
        <p:nvSpPr>
          <p:cNvPr id="9" name="unknown-result">
            <a:extLst xmlns:a="http://schemas.openxmlformats.org/drawingml/2006/main">
              <a:ext uri="{FF2B5EF4-FFF2-40B4-BE49-F238E27FC236}">
                <a16:creationId xmlns:a16="http://schemas.microsoft.com/office/drawing/2014/main" id="{945E0D39-F4CC-4639-8494-8F3531F7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52950"/>
            <a:ext cx="4191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2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UNKNOWN</a:t>
            </a:r>
          </a:p>
          <a:p xmlns:a="http://schemas.openxmlformats.org/drawingml/2006/main">
            <a:pPr algn="ctr">
              <a:defRPr sz="24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缺少证据，补充信息</a:t>
            </a:r>
          </a:p>
        </p:txBody>
      </p:sp>
      <p:sp>
        <p:nvSpPr>
          <p:cNvPr id="10" name="safe-result">
            <a:extLst xmlns:a="http://schemas.openxmlformats.org/drawingml/2006/main">
              <a:ext uri="{FF2B5EF4-FFF2-40B4-BE49-F238E27FC236}">
                <a16:creationId xmlns:a16="http://schemas.microsoft.com/office/drawing/2014/main" id="{FAE78BF0-DA63-412F-AA28-EAB45A25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391275"/>
            <a:ext cx="4191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E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37B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37B62"/>
                </a:solidFill>
                <a:latin typeface="Microsoft YaHei"/>
                <a:ea typeface="Microsoft YaHei"/>
                <a:cs typeface="Microsoft YaHei"/>
              </a:rPr>
              <a:t>SAFE</a:t>
            </a:r>
          </a:p>
          <a:p xmlns:a="http://schemas.openxmlformats.org/drawingml/2006/main">
            <a:pPr algn="ctr">
              <a:defRPr sz="2475" b="1">
                <a:solidFill>
                  <a:srgbClr val="137B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37B62"/>
                </a:solidFill>
                <a:latin typeface="Microsoft YaHei"/>
                <a:ea typeface="Microsoft YaHei"/>
                <a:cs typeface="Microsoft YaHei"/>
              </a:rPr>
              <a:t>保留安全依据</a:t>
            </a:r>
          </a:p>
        </p:txBody>
      </p:sp>
      <p:cxnSp>
        <p:nvCxnSpPr>
          <p:cNvPr id="30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953375" y="3357563"/>
            <a:ext cx="2047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54536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953375" y="5195888"/>
            <a:ext cx="2047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5758B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953375" y="7034213"/>
            <a:ext cx="2047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37B62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4476750" y="3857625"/>
            <a:ext cx="0" cy="8382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D5E4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4476750" y="5695950"/>
            <a:ext cx="0" cy="8382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D5E4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16" name="yes-conflict">
            <a:extLst xmlns:a="http://schemas.openxmlformats.org/drawingml/2006/main">
              <a:ext uri="{FF2B5EF4-FFF2-40B4-BE49-F238E27FC236}">
                <a16:creationId xmlns:a16="http://schemas.microsoft.com/office/drawing/2014/main" id="{2BF0E91E-BC46-49E1-AAF3-15147D19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90850"/>
            <a:ext cx="676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C5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C54536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17" name="yes-gap">
            <a:extLst xmlns:a="http://schemas.openxmlformats.org/drawingml/2006/main">
              <a:ext uri="{FF2B5EF4-FFF2-40B4-BE49-F238E27FC236}">
                <a16:creationId xmlns:a16="http://schemas.microsoft.com/office/drawing/2014/main" id="{5B41A086-57B4-4738-8AB0-E881C738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829175"/>
            <a:ext cx="676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18" name="no-conflict">
            <a:extLst xmlns:a="http://schemas.openxmlformats.org/drawingml/2006/main">
              <a:ext uri="{FF2B5EF4-FFF2-40B4-BE49-F238E27FC236}">
                <a16:creationId xmlns:a16="http://schemas.microsoft.com/office/drawing/2014/main" id="{E921E218-B141-4C00-AA82-54DF1723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24325"/>
            <a:ext cx="600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否</a:t>
            </a:r>
          </a:p>
        </p:txBody>
      </p:sp>
      <p:sp>
        <p:nvSpPr>
          <p:cNvPr id="19" name="no-gap">
            <a:extLst xmlns:a="http://schemas.openxmlformats.org/drawingml/2006/main">
              <a:ext uri="{FF2B5EF4-FFF2-40B4-BE49-F238E27FC236}">
                <a16:creationId xmlns:a16="http://schemas.microsoft.com/office/drawing/2014/main" id="{E0844D2D-A304-4D37-A86E-7EC1BF90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972175"/>
            <a:ext cx="600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否</a:t>
            </a:r>
          </a:p>
        </p:txBody>
      </p:sp>
    </p:spTree>
    <p:extLst>
      <p:ext uri="{BB962C8B-B14F-4D97-AF65-F5344CB8AC3E}">
        <p14:creationId xmlns:p14="http://schemas.microsoft.com/office/powerpoint/2010/main" val="15909235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hapter">
            <a:extLst xmlns:a="http://schemas.openxmlformats.org/drawingml/2006/main">
              <a:ext uri="{FF2B5EF4-FFF2-40B4-BE49-F238E27FC236}">
                <a16:creationId xmlns:a16="http://schemas.microsoft.com/office/drawing/2014/main" id="{2C0209D0-1D9C-4E04-9932-825066A4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"/>
            <a:ext cx="1238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rPr>
              <a:t>03  使用教程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667E64-5518-459F-8DFE-EA535294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76325"/>
            <a:ext cx="136683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步骤 1：准备环境，设置范围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C0FA802-7FB9-41D9-A4C7-A4B88D8D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71675"/>
            <a:ext cx="1360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前提：Python 3.10+，且固件工程能正常编译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7D18606-040E-457A-9259-7C46501D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799147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install-caption">
            <a:extLst xmlns:a="http://schemas.openxmlformats.org/drawingml/2006/main">
              <a:ext uri="{FF2B5EF4-FFF2-40B4-BE49-F238E27FC236}">
                <a16:creationId xmlns:a16="http://schemas.microsoft.com/office/drawing/2014/main" id="{84EF57F3-0151-4B6D-AD9F-4B2AD56D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71775"/>
            <a:ext cx="13449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rPr>
              <a:t>在 ECRA 根目录安装项目依赖</a:t>
            </a:r>
          </a:p>
        </p:txBody>
      </p:sp>
      <p:sp>
        <p:nvSpPr>
          <p:cNvPr id="6" name="install-command">
            <a:extLst xmlns:a="http://schemas.openxmlformats.org/drawingml/2006/main">
              <a:ext uri="{FF2B5EF4-FFF2-40B4-BE49-F238E27FC236}">
                <a16:creationId xmlns:a16="http://schemas.microsoft.com/office/drawing/2014/main" id="{F273938C-7298-4585-BF81-8113C3D1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371850"/>
            <a:ext cx="13430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14263D"/>
                </a:solidFill>
                <a:latin typeface="Consolas"/>
                <a:ea typeface="Consolas"/>
                <a:cs typeface="Consolas"/>
              </a:defRPr>
            </a:pPr>
            <a:r>
              <a:rPr sz="2625" b="0">
                <a:solidFill>
                  <a:srgbClr val="14263D"/>
                </a:solidFill>
                <a:latin typeface="Consolas"/>
                <a:ea typeface="Consolas"/>
                <a:cs typeface="Consolas"/>
              </a:rPr>
              <a:t>py -3.10 -m pip install -r requirements.txt</a:t>
            </a:r>
          </a:p>
        </p:txBody>
      </p:sp>
      <p:sp>
        <p:nvSpPr>
          <p:cNvPr id="7" name="config-file">
            <a:extLst xmlns:a="http://schemas.openxmlformats.org/drawingml/2006/main">
              <a:ext uri="{FF2B5EF4-FFF2-40B4-BE49-F238E27FC236}">
                <a16:creationId xmlns:a16="http://schemas.microsoft.com/office/drawing/2014/main" id="{ECFCD197-7EEC-4CE3-8C7D-E7A0576F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1343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rPr>
              <a:t>编辑 config/semantics.yaml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828675" y="5153025"/>
          <a:ext xmlns:a="http://schemas.openxmlformats.org/drawingml/2006/main" cx="13525500" cy="24384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429250"/>
                <a:gridCol w="8096250"/>
              </a:tblGrid>
              <a:tr h="609600">
                <a:tc>
                  <a:txBody>
                    <a:bodyPr lIns="190500" tIns="133350" rIns="190500" bIns="13335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配置项</a:t>
                      </a:r>
                    </a:p>
                  </a:txBody>
                  <a:tcPr marL="91440" marR="91440" marT="45720" marB="45720" anchor="ctr">
                    <a:solidFill>
                      <a:srgbClr val="14263D"/>
                    </a:solidFill>
                  </a:tcPr>
                </a:tc>
                <a:tc>
                  <a:txBody>
                    <a:bodyPr lIns="190500" tIns="133350" rIns="190500" bIns="13335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填写内容</a:t>
                      </a:r>
                    </a:p>
                  </a:txBody>
                  <a:tcPr marL="91440" marR="91440" marT="45720" marB="45720" anchor="ctr">
                    <a:solidFill>
                      <a:srgbClr val="14263D"/>
                    </a:solidFill>
                  </a:tcPr>
                </a:tc>
              </a:tr>
              <a:tr h="609600">
                <a:tc>
                  <a:txBody>
                    <a:bodyPr lIns="190500" tIns="133350" rIns="190500" bIns="13335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4263D"/>
                          </a:solidFill>
                          <a:latin typeface="Consolas"/>
                          <a:ea typeface="Consolas"/>
                          <a:cs typeface="Consolas"/>
                        </a:rPr>
                        <a:t>project.root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90500" tIns="133350" rIns="190500" bIns="13335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426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固件目录，例如 D:/firmware/MyBoard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190500" tIns="133350" rIns="190500" bIns="13335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4263D"/>
                          </a:solidFill>
                          <a:latin typeface="Consolas"/>
                          <a:ea typeface="Consolas"/>
                          <a:cs typeface="Consolas"/>
                        </a:rPr>
                        <a:t>analysis.include_dirs</a:t>
                      </a:r>
                    </a:p>
                  </a:txBody>
                  <a:tcPr marL="91440" marR="91440" marT="45720" marB="45720" anchor="ctr">
                    <a:solidFill>
                      <a:srgbClr val="F4F7FB"/>
                    </a:solidFill>
                  </a:tcPr>
                </a:tc>
                <a:tc>
                  <a:txBody>
                    <a:bodyPr lIns="190500" tIns="133350" rIns="190500" bIns="13335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426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业务目录，例如 Core/Src、Core/Inc、App</a:t>
                      </a:r>
                    </a:p>
                  </a:txBody>
                  <a:tcPr marL="91440" marR="91440" marT="45720" marB="45720" anchor="ctr">
                    <a:solidFill>
                      <a:srgbClr val="F4F7FB"/>
                    </a:solidFill>
                  </a:tcPr>
                </a:tc>
              </a:tr>
              <a:tr h="609600">
                <a:tc>
                  <a:txBody>
                    <a:bodyPr lIns="190500" tIns="133350" rIns="190500" bIns="13335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4263D"/>
                          </a:solidFill>
                          <a:latin typeface="Consolas"/>
                          <a:ea typeface="Consolas"/>
                          <a:cs typeface="Consolas"/>
                        </a:rPr>
                        <a:t>analysis.cmake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90500" tIns="133350" rIns="190500" bIns="13335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426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与实际固件一致的工具链、宏和构建方式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18889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hapter">
            <a:extLst xmlns:a="http://schemas.openxmlformats.org/drawingml/2006/main">
              <a:ext uri="{FF2B5EF4-FFF2-40B4-BE49-F238E27FC236}">
                <a16:creationId xmlns:a16="http://schemas.microsoft.com/office/drawing/2014/main" id="{A9EB655D-0071-4608-9A6D-311B66F1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"/>
            <a:ext cx="1238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rPr>
              <a:t>03  使用教程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A08C91C-260C-4547-920D-B75FE41A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76325"/>
            <a:ext cx="136683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步骤 2：检查后，执行扫描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9D2A616-428D-4B60-AFF5-AD1EC03C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71675"/>
            <a:ext cx="1360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以下命令均在 ECRA 工具根目录执行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E6C4CD87-31B1-4EB5-9BC9-C0C69F43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799147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doctor-number">
            <a:extLst xmlns:a="http://schemas.openxmlformats.org/drawingml/2006/main">
              <a:ext uri="{FF2B5EF4-FFF2-40B4-BE49-F238E27FC236}">
                <a16:creationId xmlns:a16="http://schemas.microsoft.com/office/drawing/2014/main" id="{802465D9-2DD9-45E9-8E19-9733574A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62275"/>
            <a:ext cx="857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doctor-caption">
            <a:extLst xmlns:a="http://schemas.openxmlformats.org/drawingml/2006/main">
              <a:ext uri="{FF2B5EF4-FFF2-40B4-BE49-F238E27FC236}">
                <a16:creationId xmlns:a16="http://schemas.microsoft.com/office/drawing/2014/main" id="{98F9DC3B-3215-43E5-9F5C-86969800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933700"/>
            <a:ext cx="12192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环境检查</a:t>
            </a:r>
          </a:p>
        </p:txBody>
      </p:sp>
      <p:sp>
        <p:nvSpPr>
          <p:cNvPr id="7" name="doctor-command">
            <a:extLst xmlns:a="http://schemas.openxmlformats.org/drawingml/2006/main">
              <a:ext uri="{FF2B5EF4-FFF2-40B4-BE49-F238E27FC236}">
                <a16:creationId xmlns:a16="http://schemas.microsoft.com/office/drawing/2014/main" id="{713ADB81-5A1E-4A70-8286-F39D1C79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619500"/>
            <a:ext cx="12144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14263D"/>
                </a:solidFill>
                <a:latin typeface="Consolas"/>
                <a:ea typeface="Consolas"/>
                <a:cs typeface="Consolas"/>
              </a:defRPr>
            </a:pPr>
            <a:r>
              <a:rPr sz="3000" b="0">
                <a:solidFill>
                  <a:srgbClr val="14263D"/>
                </a:solidFill>
                <a:latin typeface="Consolas"/>
                <a:ea typeface="Consolas"/>
                <a:cs typeface="Consolas"/>
              </a:rPr>
              <a:t>py -3.10 run_ecra.py doctor</a:t>
            </a:r>
          </a:p>
        </p:txBody>
      </p:sp>
      <p:sp>
        <p:nvSpPr>
          <p:cNvPr id="8" name="scan-number">
            <a:extLst xmlns:a="http://schemas.openxmlformats.org/drawingml/2006/main">
              <a:ext uri="{FF2B5EF4-FFF2-40B4-BE49-F238E27FC236}">
                <a16:creationId xmlns:a16="http://schemas.microsoft.com/office/drawing/2014/main" id="{031866F0-8B89-415F-BC8E-1FE2F7FA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857750"/>
            <a:ext cx="857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scan-caption">
            <a:extLst xmlns:a="http://schemas.openxmlformats.org/drawingml/2006/main">
              <a:ext uri="{FF2B5EF4-FFF2-40B4-BE49-F238E27FC236}">
                <a16:creationId xmlns:a16="http://schemas.microsoft.com/office/drawing/2014/main" id="{DED654F6-34FE-43CE-9603-BAF20E27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829175"/>
            <a:ext cx="12192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本地扫描</a:t>
            </a:r>
          </a:p>
        </p:txBody>
      </p:sp>
      <p:sp>
        <p:nvSpPr>
          <p:cNvPr id="10" name="scan-command">
            <a:extLst xmlns:a="http://schemas.openxmlformats.org/drawingml/2006/main">
              <a:ext uri="{FF2B5EF4-FFF2-40B4-BE49-F238E27FC236}">
                <a16:creationId xmlns:a16="http://schemas.microsoft.com/office/drawing/2014/main" id="{77142424-7BD4-4058-922D-58B9BDB3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514975"/>
            <a:ext cx="12144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215DE0"/>
                </a:solidFill>
                <a:latin typeface="Consolas"/>
                <a:ea typeface="Consolas"/>
                <a:cs typeface="Consolas"/>
              </a:defRPr>
            </a:pPr>
            <a:r>
              <a:rPr sz="3000" b="0">
                <a:solidFill>
                  <a:srgbClr val="215DE0"/>
                </a:solidFill>
                <a:latin typeface="Consolas"/>
                <a:ea typeface="Consolas"/>
                <a:cs typeface="Consolas"/>
              </a:rPr>
              <a:t>py -3.10 run_ecra.py --no-review</a:t>
            </a:r>
          </a:p>
        </p:txBody>
      </p:sp>
      <p:sp>
        <p:nvSpPr>
          <p:cNvPr id="11" name="report-file">
            <a:extLst xmlns:a="http://schemas.openxmlformats.org/drawingml/2006/main">
              <a:ext uri="{FF2B5EF4-FFF2-40B4-BE49-F238E27FC236}">
                <a16:creationId xmlns:a16="http://schemas.microsoft.com/office/drawing/2014/main" id="{1B508F65-3153-456E-8374-9382420A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6886575"/>
            <a:ext cx="1150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63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4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&lt;固件目录&gt;/.ecra/index.html</a:t>
            </a:r>
          </a:p>
        </p:txBody>
      </p:sp>
    </p:spTree>
    <p:extLst>
      <p:ext uri="{BB962C8B-B14F-4D97-AF65-F5344CB8AC3E}">
        <p14:creationId xmlns:p14="http://schemas.microsoft.com/office/powerpoint/2010/main" val="18746525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hapter">
            <a:extLst xmlns:a="http://schemas.openxmlformats.org/drawingml/2006/main">
              <a:ext uri="{FF2B5EF4-FFF2-40B4-BE49-F238E27FC236}">
                <a16:creationId xmlns:a16="http://schemas.microsoft.com/office/drawing/2014/main" id="{132254F6-A119-4572-A76C-A7A22CBC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"/>
            <a:ext cx="1238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rPr>
              <a:t>03  使用教程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2C91F3-FBAC-4012-AECA-5179DAFB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76325"/>
            <a:ext cx="136683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步骤 3：沿报告找到实际访问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78CBC1D-69EC-49D8-80C1-AC327AEC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71675"/>
            <a:ext cx="1360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打开 index.html，先核对范围与解析覆盖，再搜索变量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2A6C5806-BFDD-4CD1-8836-A2CB202C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799147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report-example-label">
            <a:extLst xmlns:a="http://schemas.openxmlformats.org/drawingml/2006/main">
              <a:ext uri="{FF2B5EF4-FFF2-40B4-BE49-F238E27FC236}">
                <a16:creationId xmlns:a16="http://schemas.microsoft.com/office/drawing/2014/main" id="{7B6415E1-A246-4254-94CB-CB678F9E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847975"/>
            <a:ext cx="1323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rPr>
              <a:t>教程示例：pending_events</a:t>
            </a:r>
          </a:p>
        </p:txBody>
      </p:sp>
      <p:sp>
        <p:nvSpPr>
          <p:cNvPr id="6" name="main-entry">
            <a:extLst xmlns:a="http://schemas.openxmlformats.org/drawingml/2006/main">
              <a:ext uri="{FF2B5EF4-FFF2-40B4-BE49-F238E27FC236}">
                <a16:creationId xmlns:a16="http://schemas.microsoft.com/office/drawing/2014/main" id="{007FC156-0D00-47B1-8BBB-7E8B7884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52875"/>
            <a:ext cx="2286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15DE0"/>
                </a:solidFill>
                <a:latin typeface="Consolas"/>
                <a:ea typeface="Consolas"/>
                <a:cs typeface="Consolas"/>
              </a:defRPr>
            </a:pPr>
            <a:r>
              <a:rPr sz="2700" b="1">
                <a:solidFill>
                  <a:srgbClr val="215DE0"/>
                </a:solidFill>
                <a:latin typeface="Consolas"/>
                <a:ea typeface="Consolas"/>
                <a:cs typeface="Consolas"/>
              </a:rPr>
              <a:t>main</a:t>
            </a:r>
          </a:p>
        </p:txBody>
      </p:sp>
      <p:sp>
        <p:nvSpPr>
          <p:cNvPr id="7" name="poll-call">
            <a:extLst xmlns:a="http://schemas.openxmlformats.org/drawingml/2006/main">
              <a:ext uri="{FF2B5EF4-FFF2-40B4-BE49-F238E27FC236}">
                <a16:creationId xmlns:a16="http://schemas.microsoft.com/office/drawing/2014/main" id="{928AAD01-93EB-4F04-9D61-481F25E8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52875"/>
            <a:ext cx="36671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215DE0"/>
                </a:solidFill>
                <a:latin typeface="Consolas"/>
                <a:ea typeface="Consolas"/>
                <a:cs typeface="Consolas"/>
              </a:defRPr>
            </a:pPr>
            <a:r>
              <a:rPr sz="2475" b="1">
                <a:solidFill>
                  <a:srgbClr val="215DE0"/>
                </a:solidFill>
                <a:latin typeface="Consolas"/>
                <a:ea typeface="Consolas"/>
                <a:cs typeface="Consolas"/>
              </a:rPr>
              <a:t>Service_Poll</a:t>
            </a:r>
          </a:p>
        </p:txBody>
      </p:sp>
      <p:sp>
        <p:nvSpPr>
          <p:cNvPr id="8" name="irq-entry">
            <a:extLst xmlns:a="http://schemas.openxmlformats.org/drawingml/2006/main">
              <a:ext uri="{FF2B5EF4-FFF2-40B4-BE49-F238E27FC236}">
                <a16:creationId xmlns:a16="http://schemas.microsoft.com/office/drawing/2014/main" id="{71C74DD0-E9B7-470F-BBBE-3E8CC3D5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34075"/>
            <a:ext cx="2952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15DE0"/>
                </a:solidFill>
                <a:latin typeface="Consolas"/>
                <a:ea typeface="Consolas"/>
                <a:cs typeface="Consolas"/>
              </a:defRPr>
            </a:pPr>
            <a:r>
              <a:rPr sz="2325" b="1">
                <a:solidFill>
                  <a:srgbClr val="215DE0"/>
                </a:solidFill>
                <a:latin typeface="Consolas"/>
                <a:ea typeface="Consolas"/>
                <a:cs typeface="Consolas"/>
              </a:rPr>
              <a:t>TIM2_IRQHandler</a:t>
            </a:r>
          </a:p>
        </p:txBody>
      </p:sp>
      <p:sp>
        <p:nvSpPr>
          <p:cNvPr id="9" name="sample-call">
            <a:extLst xmlns:a="http://schemas.openxmlformats.org/drawingml/2006/main">
              <a:ext uri="{FF2B5EF4-FFF2-40B4-BE49-F238E27FC236}">
                <a16:creationId xmlns:a16="http://schemas.microsoft.com/office/drawing/2014/main" id="{B7412B24-FFE6-41BA-B40C-418E2C2D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934075"/>
            <a:ext cx="36671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215DE0"/>
                </a:solidFill>
                <a:latin typeface="Consolas"/>
                <a:ea typeface="Consolas"/>
                <a:cs typeface="Consolas"/>
              </a:defRPr>
            </a:pPr>
            <a:r>
              <a:rPr sz="2475" b="1">
                <a:solidFill>
                  <a:srgbClr val="215DE0"/>
                </a:solidFill>
                <a:latin typeface="Consolas"/>
                <a:ea typeface="Consolas"/>
                <a:cs typeface="Consolas"/>
              </a:rPr>
              <a:t>Service_Sample</a:t>
            </a:r>
          </a:p>
        </p:txBody>
      </p:sp>
      <p:sp>
        <p:nvSpPr>
          <p:cNvPr id="10" name="evidence-variable">
            <a:extLst xmlns:a="http://schemas.openxmlformats.org/drawingml/2006/main">
              <a:ext uri="{FF2B5EF4-FFF2-40B4-BE49-F238E27FC236}">
                <a16:creationId xmlns:a16="http://schemas.microsoft.com/office/drawing/2014/main" id="{E8FBCFA4-FAD6-4F8E-B858-99BD886B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819650"/>
            <a:ext cx="37147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63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5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pending_events</a:t>
            </a:r>
          </a:p>
        </p:txBody>
      </p:sp>
      <p:cxnSp>
        <p:nvCxnSpPr>
          <p:cNvPr id="28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90875" y="4452938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5DE0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857625" y="6434138"/>
            <a:ext cx="6762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5DE0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7" idx="3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8201025" y="4452938"/>
            <a:ext cx="4181475" cy="366713"/>
          </a:xfrm>
          <a:prstGeom xmlns:a="http://schemas.openxmlformats.org/drawingml/2006/main" prst="bentConnector2">
            <a:avLst/>
          </a:prstGeom>
          <a:ln xmlns:a="http://schemas.openxmlformats.org/drawingml/2006/main" w="28575">
            <a:solidFill>
              <a:srgbClr val="215DE0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9" idx="3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V="1">
            <a:off x="8201025" y="5934075"/>
            <a:ext cx="4181475" cy="500063"/>
          </a:xfrm>
          <a:prstGeom xmlns:a="http://schemas.openxmlformats.org/drawingml/2006/main" prst="bentConnector2">
            <a:avLst/>
          </a:prstGeom>
          <a:ln xmlns:a="http://schemas.openxmlformats.org/drawingml/2006/main" w="28575">
            <a:solidFill>
              <a:srgbClr val="C54536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15" name="poll-access">
            <a:extLst xmlns:a="http://schemas.openxmlformats.org/drawingml/2006/main">
              <a:ext uri="{FF2B5EF4-FFF2-40B4-BE49-F238E27FC236}">
                <a16:creationId xmlns:a16="http://schemas.microsoft.com/office/drawing/2014/main" id="{CFAD84EB-4A69-4E94-84EE-77AD84E6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4807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读快照，再清零</a:t>
            </a:r>
          </a:p>
        </p:txBody>
      </p:sp>
      <p:sp>
        <p:nvSpPr>
          <p:cNvPr id="16" name="sample-access">
            <a:extLst xmlns:a="http://schemas.openxmlformats.org/drawingml/2006/main">
              <a:ext uri="{FF2B5EF4-FFF2-40B4-BE49-F238E27FC236}">
                <a16:creationId xmlns:a16="http://schemas.microsoft.com/office/drawing/2014/main" id="{0D954025-EC96-4BCC-86EF-8C574675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68655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C5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C54536"/>
                </a:solidFill>
                <a:latin typeface="Microsoft YaHei"/>
                <a:ea typeface="Microsoft YaHei"/>
                <a:cs typeface="Microsoft YaHei"/>
              </a:rPr>
              <a:t>设置采样事件位</a:t>
            </a:r>
          </a:p>
        </p:txBody>
      </p:sp>
      <p:sp>
        <p:nvSpPr>
          <p:cNvPr id="17" name="report-action">
            <a:extLst xmlns:a="http://schemas.openxmlformats.org/drawingml/2006/main">
              <a:ext uri="{FF2B5EF4-FFF2-40B4-BE49-F238E27FC236}">
                <a16:creationId xmlns:a16="http://schemas.microsoft.com/office/drawing/2014/main" id="{88F35CF3-5E64-46A0-A9D6-F9688F6E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543800"/>
            <a:ext cx="1295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变量详情重点：访问语句、调用链、保护范围</a:t>
            </a:r>
          </a:p>
        </p:txBody>
      </p:sp>
    </p:spTree>
    <p:extLst>
      <p:ext uri="{BB962C8B-B14F-4D97-AF65-F5344CB8AC3E}">
        <p14:creationId xmlns:p14="http://schemas.microsoft.com/office/powerpoint/2010/main" val="16669859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hapter">
            <a:extLst xmlns:a="http://schemas.openxmlformats.org/drawingml/2006/main">
              <a:ext uri="{FF2B5EF4-FFF2-40B4-BE49-F238E27FC236}">
                <a16:creationId xmlns:a16="http://schemas.microsoft.com/office/drawing/2014/main" id="{82D052E3-F23F-47AA-BF29-25CC27DB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"/>
            <a:ext cx="1238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rPr>
              <a:t>03  使用教程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9152B5-25CA-4D10-9EC9-66B722E5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76325"/>
            <a:ext cx="136683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可选：AI 复核静态疑似项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6DDA787-E320-4683-9773-732FA17C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71675"/>
            <a:ext cx="1360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配置可用的 OpenCode 后，在现有扫描上执行 review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EF50843F-D7BB-45FB-9374-F23D4672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799147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static-input">
            <a:extLst xmlns:a="http://schemas.openxmlformats.org/drawingml/2006/main">
              <a:ext uri="{FF2B5EF4-FFF2-40B4-BE49-F238E27FC236}">
                <a16:creationId xmlns:a16="http://schemas.microsoft.com/office/drawing/2014/main" id="{051D47B1-6F6D-4C9B-A3C6-B1825D0F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086100"/>
            <a:ext cx="3476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rPr>
              <a:t>静态证据与源码</a:t>
            </a:r>
          </a:p>
        </p:txBody>
      </p:sp>
      <p:sp>
        <p:nvSpPr>
          <p:cNvPr id="6" name="context-input">
            <a:extLst xmlns:a="http://schemas.openxmlformats.org/drawingml/2006/main">
              <a:ext uri="{FF2B5EF4-FFF2-40B4-BE49-F238E27FC236}">
                <a16:creationId xmlns:a16="http://schemas.microsoft.com/office/drawing/2014/main" id="{656624F5-EA0C-4E9E-BEFA-B5D12FC3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629150"/>
            <a:ext cx="3476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rPr>
              <a:t>工程补充背景</a:t>
            </a:r>
          </a:p>
        </p:txBody>
      </p:sp>
      <p:sp>
        <p:nvSpPr>
          <p:cNvPr id="7" name="cases-input">
            <a:extLst xmlns:a="http://schemas.openxmlformats.org/drawingml/2006/main">
              <a:ext uri="{FF2B5EF4-FFF2-40B4-BE49-F238E27FC236}">
                <a16:creationId xmlns:a16="http://schemas.microsoft.com/office/drawing/2014/main" id="{1D2EFB83-5C1E-4229-9425-29B4D232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6172200"/>
            <a:ext cx="3476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rPr>
              <a:t>并发案例库</a:t>
            </a:r>
          </a:p>
        </p:txBody>
      </p:sp>
      <p:sp>
        <p:nvSpPr>
          <p:cNvPr id="8" name="model-review">
            <a:extLst xmlns:a="http://schemas.openxmlformats.org/drawingml/2006/main">
              <a:ext uri="{FF2B5EF4-FFF2-40B4-BE49-F238E27FC236}">
                <a16:creationId xmlns:a16="http://schemas.microsoft.com/office/drawing/2014/main" id="{A809F76C-BE05-4F93-901C-562389E4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552950"/>
            <a:ext cx="2857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63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只读复核</a:t>
            </a:r>
          </a:p>
        </p:txBody>
      </p:sp>
      <p:sp>
        <p:nvSpPr>
          <p:cNvPr id="9" name="review-actions">
            <a:extLst xmlns:a="http://schemas.openxmlformats.org/drawingml/2006/main">
              <a:ext uri="{FF2B5EF4-FFF2-40B4-BE49-F238E27FC236}">
                <a16:creationId xmlns:a16="http://schemas.microsoft.com/office/drawing/2014/main" id="{88D8BBA3-E003-4CCA-B3B5-46AC29E6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781425"/>
            <a:ext cx="285750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E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37B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37B62"/>
                </a:solidFill>
                <a:latin typeface="Microsoft YaHei"/>
                <a:ea typeface="Microsoft YaHei"/>
                <a:cs typeface="Microsoft YaHei"/>
              </a:rPr>
              <a:t>确认风险</a:t>
            </a:r>
          </a:p>
          <a:p xmlns:a="http://schemas.openxmlformats.org/drawingml/2006/main">
            <a:pPr algn="ctr">
              <a:defRPr sz="2700" b="1">
                <a:solidFill>
                  <a:srgbClr val="137B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37B62"/>
                </a:solidFill>
                <a:latin typeface="Microsoft YaHei"/>
                <a:ea typeface="Microsoft YaHei"/>
                <a:cs typeface="Microsoft YaHei"/>
              </a:rPr>
              <a:t>排除风险</a:t>
            </a:r>
          </a:p>
          <a:p xmlns:a="http://schemas.openxmlformats.org/drawingml/2006/main">
            <a:pPr algn="ctr">
              <a:defRPr sz="2700" b="1">
                <a:solidFill>
                  <a:srgbClr val="137B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37B62"/>
                </a:solidFill>
                <a:latin typeface="Microsoft YaHei"/>
                <a:ea typeface="Microsoft YaHei"/>
                <a:cs typeface="Microsoft YaHei"/>
              </a:rPr>
              <a:t>补充证据</a:t>
            </a:r>
          </a:p>
        </p:txBody>
      </p: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4343400" y="3505200"/>
            <a:ext cx="3514725" cy="1047750"/>
          </a:xfrm>
          <a:prstGeom xmlns:a="http://schemas.openxmlformats.org/drawingml/2006/main" prst="bentConnector2">
            <a:avLst/>
          </a:prstGeom>
          <a:ln xmlns:a="http://schemas.openxmlformats.org/drawingml/2006/main" w="28575">
            <a:solidFill>
              <a:srgbClr val="215DE0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343400" y="5048250"/>
            <a:ext cx="2085975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5DE0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2"/>
          </p:cNvCxnSpPr>
          <p:nvPr/>
        </p:nvCxnSpPr>
        <p:spPr>
          <a:xfrm xmlns:a="http://schemas.openxmlformats.org/drawingml/2006/main" flipV="1">
            <a:off x="4343400" y="5562600"/>
            <a:ext cx="3514725" cy="1028700"/>
          </a:xfrm>
          <a:prstGeom xmlns:a="http://schemas.openxmlformats.org/drawingml/2006/main" prst="bentConnector2">
            <a:avLst/>
          </a:prstGeom>
          <a:ln xmlns:a="http://schemas.openxmlformats.org/drawingml/2006/main" w="28575">
            <a:solidFill>
              <a:srgbClr val="215DE0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9286875" y="5048250"/>
            <a:ext cx="2000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37B62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14" name="review-command">
            <a:extLst xmlns:a="http://schemas.openxmlformats.org/drawingml/2006/main">
              <a:ext uri="{FF2B5EF4-FFF2-40B4-BE49-F238E27FC236}">
                <a16:creationId xmlns:a16="http://schemas.microsoft.com/office/drawing/2014/main" id="{60D3B56B-91BB-4556-877F-6FD8D2DF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7477125"/>
            <a:ext cx="12715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15DE0"/>
                </a:solidFill>
                <a:latin typeface="Consolas"/>
                <a:ea typeface="Consolas"/>
                <a:cs typeface="Consolas"/>
              </a:defRPr>
            </a:pPr>
            <a:r>
              <a:rPr sz="2625" b="0">
                <a:solidFill>
                  <a:srgbClr val="215DE0"/>
                </a:solidFill>
                <a:latin typeface="Consolas"/>
                <a:ea typeface="Consolas"/>
                <a:cs typeface="Consolas"/>
              </a:rPr>
              <a:t>py -3.10 run_ecra.py review</a:t>
            </a:r>
          </a:p>
        </p:txBody>
      </p:sp>
    </p:spTree>
    <p:extLst>
      <p:ext uri="{BB962C8B-B14F-4D97-AF65-F5344CB8AC3E}">
        <p14:creationId xmlns:p14="http://schemas.microsoft.com/office/powerpoint/2010/main" val="360374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hapter">
            <a:extLst xmlns:a="http://schemas.openxmlformats.org/drawingml/2006/main">
              <a:ext uri="{FF2B5EF4-FFF2-40B4-BE49-F238E27FC236}">
                <a16:creationId xmlns:a16="http://schemas.microsoft.com/office/drawing/2014/main" id="{ADAF4AE9-4E87-4C66-B33B-B5C201EB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"/>
            <a:ext cx="1238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rPr>
              <a:t>03  使用教程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C1F450-8C6F-4DE0-A3C5-C0AA733B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76325"/>
            <a:ext cx="136683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修改之后，怎样复查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C607DFC-88B9-4E4F-A32F-378143A8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71675"/>
            <a:ext cx="1360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在工具根目录执行，命令取决于这次修改的内容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49EC133-2205-45BC-A658-57A45F7C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799147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838200" y="3019425"/>
          <a:ext xmlns:a="http://schemas.openxmlformats.org/drawingml/2006/main" cx="13525500" cy="3238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715000"/>
                <a:gridCol w="7810500"/>
              </a:tblGrid>
              <a:tr h="809625">
                <a:tc>
                  <a:txBody>
                    <a:bodyPr lIns="190500" tIns="133350" rIns="190500" bIns="13335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触发条件</a:t>
                      </a:r>
                    </a:p>
                  </a:txBody>
                  <a:tcPr marL="91440" marR="91440" marT="45720" marB="45720" anchor="ctr">
                    <a:solidFill>
                      <a:srgbClr val="14263D"/>
                    </a:solidFill>
                  </a:tcPr>
                </a:tc>
                <a:tc>
                  <a:txBody>
                    <a:bodyPr lIns="190500" tIns="133350" rIns="190500" bIns="13335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执行命令</a:t>
                      </a:r>
                    </a:p>
                  </a:txBody>
                  <a:tcPr marL="91440" marR="91440" marT="45720" marB="45720" anchor="ctr">
                    <a:solidFill>
                      <a:srgbClr val="14263D"/>
                    </a:solidFill>
                  </a:tcPr>
                </a:tc>
              </a:tr>
              <a:tr h="809625">
                <a:tc>
                  <a:txBody>
                    <a:bodyPr lIns="190500" tIns="133350" rIns="190500" bIns="1333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1426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固件源码、宏或编译参数变化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90500" tIns="133350" rIns="190500" bIns="1333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14263D"/>
                          </a:solidFill>
                          <a:latin typeface="Consolas"/>
                          <a:ea typeface="Consolas"/>
                          <a:cs typeface="Consolas"/>
                        </a:rPr>
                        <a:t>py -3.10 run_ecra.py --no-review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lIns="190500" tIns="133350" rIns="190500" bIns="1333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1426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补充工程背景或更新案例库</a:t>
                      </a:r>
                    </a:p>
                  </a:txBody>
                  <a:tcPr marL="91440" marR="91440" marT="45720" marB="45720" anchor="ctr">
                    <a:solidFill>
                      <a:srgbClr val="F4F7FB"/>
                    </a:solidFill>
                  </a:tcPr>
                </a:tc>
                <a:tc>
                  <a:txBody>
                    <a:bodyPr lIns="190500" tIns="133350" rIns="190500" bIns="1333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14263D"/>
                          </a:solidFill>
                          <a:latin typeface="Consolas"/>
                          <a:ea typeface="Consolas"/>
                          <a:cs typeface="Consolas"/>
                        </a:rPr>
                        <a:t>py -3.10 run_ecra.py review</a:t>
                      </a:r>
                    </a:p>
                  </a:txBody>
                  <a:tcPr marL="91440" marR="91440" marT="45720" marB="45720" anchor="ctr">
                    <a:solidFill>
                      <a:srgbClr val="F4F7FB"/>
                    </a:solidFill>
                  </a:tcPr>
                </a:tc>
              </a:tr>
              <a:tr h="809625">
                <a:tc>
                  <a:txBody>
                    <a:bodyPr lIns="190500" tIns="133350" rIns="190500" bIns="1333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1426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复核发生执行失败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90500" tIns="133350" rIns="190500" bIns="1333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14263D"/>
                          </a:solidFill>
                          <a:latin typeface="Consolas"/>
                          <a:ea typeface="Consolas"/>
                          <a:cs typeface="Consolas"/>
                        </a:rPr>
                        <a:t>py -3.10 run_ecra.py review-failed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issue">
            <a:extLst xmlns:a="http://schemas.openxmlformats.org/drawingml/2006/main">
              <a:ext uri="{FF2B5EF4-FFF2-40B4-BE49-F238E27FC236}">
                <a16:creationId xmlns:a16="http://schemas.microsoft.com/office/drawing/2014/main" id="{3A050FD1-5FCE-46C0-8385-10C8FC45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096125"/>
            <a:ext cx="2628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rPr>
              <a:t>定位交错</a:t>
            </a:r>
          </a:p>
        </p:txBody>
      </p:sp>
      <p:sp>
        <p:nvSpPr>
          <p:cNvPr id="7" name="fix">
            <a:extLst xmlns:a="http://schemas.openxmlformats.org/drawingml/2006/main">
              <a:ext uri="{FF2B5EF4-FFF2-40B4-BE49-F238E27FC236}">
                <a16:creationId xmlns:a16="http://schemas.microsoft.com/office/drawing/2014/main" id="{33543CA7-E5E6-4649-AC4E-F22275FF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7096125"/>
            <a:ext cx="2628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rPr>
              <a:t>修改代码</a:t>
            </a:r>
          </a:p>
        </p:txBody>
      </p:sp>
      <p:sp>
        <p:nvSpPr>
          <p:cNvPr id="8" name="rescan">
            <a:extLst xmlns:a="http://schemas.openxmlformats.org/drawingml/2006/main">
              <a:ext uri="{FF2B5EF4-FFF2-40B4-BE49-F238E27FC236}">
                <a16:creationId xmlns:a16="http://schemas.microsoft.com/office/drawing/2014/main" id="{32D7AEF0-4F6E-446D-9841-8F019D72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096125"/>
            <a:ext cx="2628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DE0"/>
                </a:solidFill>
                <a:latin typeface="Microsoft YaHei"/>
                <a:ea typeface="Microsoft YaHei"/>
                <a:cs typeface="Microsoft YaHei"/>
              </a:rPr>
              <a:t>重新扫描</a:t>
            </a:r>
          </a:p>
        </p:txBody>
      </p:sp>
      <p:sp>
        <p:nvSpPr>
          <p:cNvPr id="9" name="verify">
            <a:extLst xmlns:a="http://schemas.openxmlformats.org/drawingml/2006/main">
              <a:ext uri="{FF2B5EF4-FFF2-40B4-BE49-F238E27FC236}">
                <a16:creationId xmlns:a16="http://schemas.microsoft.com/office/drawing/2014/main" id="{7E47952E-A5A2-44F5-A77B-3868DA4D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7096125"/>
            <a:ext cx="2628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E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37B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37B62"/>
                </a:solidFill>
                <a:latin typeface="Microsoft YaHei"/>
                <a:ea typeface="Microsoft YaHei"/>
                <a:cs typeface="Microsoft YaHei"/>
              </a:rPr>
              <a:t>测试验证</a:t>
            </a:r>
          </a:p>
        </p:txBody>
      </p:sp>
      <p:cxnSp>
        <p:nvCxnSpPr>
          <p:cNvPr id="2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486150" y="7448550"/>
            <a:ext cx="971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5DE0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086600" y="7448550"/>
            <a:ext cx="971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5DE0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2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687050" y="7448550"/>
            <a:ext cx="971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37B62"/>
            </a:solidFill>
            <a:prstDash val="solid"/>
            <a:headEnd type="none" w="sm" len="sm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176183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2026-10-18T11:31:40.4430000Z</dcterms:created>
  <dcterms:modified xsi:type="dcterms:W3CDTF">2026-10-18T11:31:40.4430000Z</dcterms:modified>
</coreProperties>
</file>